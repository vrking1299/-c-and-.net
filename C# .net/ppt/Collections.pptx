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0E03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image" Target="../media/image12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3" Type="http://schemas.openxmlformats.org/officeDocument/2006/relationships/image" Target="../media/image17.wmf"/><Relationship Id="rId12" Type="http://schemas.openxmlformats.org/officeDocument/2006/relationships/image" Target="../media/image16.wmf"/><Relationship Id="rId11" Type="http://schemas.openxmlformats.org/officeDocument/2006/relationships/image" Target="../media/image15.wmf"/><Relationship Id="rId10" Type="http://schemas.openxmlformats.org/officeDocument/2006/relationships/image" Target="../media/image14.wmf"/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71054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79669" y="198650"/>
            <a:ext cx="8409707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624" y="1574538"/>
            <a:ext cx="8001000" cy="1701519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624" y="3602038"/>
            <a:ext cx="8001000" cy="806816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rgbClr val="0070C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78624" y="3602038"/>
            <a:ext cx="800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/>
          <p:cNvSpPr/>
          <p:nvPr/>
        </p:nvSpPr>
        <p:spPr>
          <a:xfrm>
            <a:off x="7968342" y="4876803"/>
            <a:ext cx="2032000" cy="870858"/>
          </a:xfrm>
          <a:custGeom>
            <a:avLst/>
            <a:gdLst>
              <a:gd name="connsiteX0" fmla="*/ 1959429 w 2032000"/>
              <a:gd name="connsiteY0" fmla="*/ 0 h 870858"/>
              <a:gd name="connsiteX1" fmla="*/ 0 w 2032000"/>
              <a:gd name="connsiteY1" fmla="*/ 0 h 870858"/>
              <a:gd name="connsiteX2" fmla="*/ 0 w 2032000"/>
              <a:gd name="connsiteY2" fmla="*/ 870858 h 870858"/>
              <a:gd name="connsiteX3" fmla="*/ 2032000 w 2032000"/>
              <a:gd name="connsiteY3" fmla="*/ 870858 h 8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2000" h="870858">
                <a:moveTo>
                  <a:pt x="1959429" y="0"/>
                </a:moveTo>
                <a:lnTo>
                  <a:pt x="0" y="0"/>
                </a:lnTo>
                <a:lnTo>
                  <a:pt x="0" y="870858"/>
                </a:lnTo>
                <a:lnTo>
                  <a:pt x="2032000" y="870858"/>
                </a:ln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/>
          <p:cNvSpPr/>
          <p:nvPr/>
        </p:nvSpPr>
        <p:spPr>
          <a:xfrm rot="10800000">
            <a:off x="5849258" y="4876803"/>
            <a:ext cx="2032000" cy="870858"/>
          </a:xfrm>
          <a:custGeom>
            <a:avLst/>
            <a:gdLst>
              <a:gd name="connsiteX0" fmla="*/ 1959429 w 2032000"/>
              <a:gd name="connsiteY0" fmla="*/ 0 h 870858"/>
              <a:gd name="connsiteX1" fmla="*/ 0 w 2032000"/>
              <a:gd name="connsiteY1" fmla="*/ 0 h 870858"/>
              <a:gd name="connsiteX2" fmla="*/ 0 w 2032000"/>
              <a:gd name="connsiteY2" fmla="*/ 870858 h 870858"/>
              <a:gd name="connsiteX3" fmla="*/ 2032000 w 2032000"/>
              <a:gd name="connsiteY3" fmla="*/ 870858 h 8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2000" h="870858">
                <a:moveTo>
                  <a:pt x="1959429" y="0"/>
                </a:moveTo>
                <a:lnTo>
                  <a:pt x="0" y="0"/>
                </a:lnTo>
                <a:lnTo>
                  <a:pt x="0" y="870858"/>
                </a:lnTo>
                <a:lnTo>
                  <a:pt x="2032000" y="870858"/>
                </a:ln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376" y="2661172"/>
            <a:ext cx="2576683" cy="8881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78160"/>
            <a:ext cx="9438716" cy="79760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667" y="1207045"/>
            <a:ext cx="11353020" cy="492681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161947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71054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79669" y="198650"/>
            <a:ext cx="8409707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4686" y="1709739"/>
            <a:ext cx="7602764" cy="1892300"/>
          </a:xfrm>
        </p:spPr>
        <p:txBody>
          <a:bodyPr anchor="ctr"/>
          <a:lstStyle>
            <a:lvl1pPr algn="ctr">
              <a:defRPr sz="4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4686" y="3649066"/>
            <a:ext cx="7602764" cy="98099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rgbClr val="0070C0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3778624" y="3602038"/>
            <a:ext cx="800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060" y="2655889"/>
            <a:ext cx="2576683" cy="8881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71714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3642" y="252658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3642" y="252658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3642" y="252658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3642" y="252658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3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Relationship Id="rId30" Type="http://schemas.openxmlformats.org/officeDocument/2006/relationships/vmlDrawing" Target="../drawings/vmlDrawing1.vml"/><Relationship Id="rId3" Type="http://schemas.openxmlformats.org/officeDocument/2006/relationships/oleObject" Target="../embeddings/oleObject1.bin"/><Relationship Id="rId29" Type="http://schemas.openxmlformats.org/officeDocument/2006/relationships/slideLayout" Target="../slideLayouts/slideLayout2.xml"/><Relationship Id="rId28" Type="http://schemas.openxmlformats.org/officeDocument/2006/relationships/image" Target="../media/image17.wmf"/><Relationship Id="rId27" Type="http://schemas.openxmlformats.org/officeDocument/2006/relationships/oleObject" Target="../embeddings/oleObject13.bin"/><Relationship Id="rId26" Type="http://schemas.openxmlformats.org/officeDocument/2006/relationships/image" Target="../media/image16.wmf"/><Relationship Id="rId25" Type="http://schemas.openxmlformats.org/officeDocument/2006/relationships/oleObject" Target="../embeddings/oleObject12.bin"/><Relationship Id="rId24" Type="http://schemas.openxmlformats.org/officeDocument/2006/relationships/image" Target="../media/image15.wmf"/><Relationship Id="rId23" Type="http://schemas.openxmlformats.org/officeDocument/2006/relationships/oleObject" Target="../embeddings/oleObject11.bin"/><Relationship Id="rId22" Type="http://schemas.openxmlformats.org/officeDocument/2006/relationships/image" Target="../media/image14.wmf"/><Relationship Id="rId21" Type="http://schemas.openxmlformats.org/officeDocument/2006/relationships/oleObject" Target="../embeddings/oleObject10.bin"/><Relationship Id="rId20" Type="http://schemas.openxmlformats.org/officeDocument/2006/relationships/image" Target="../media/image13.wmf"/><Relationship Id="rId2" Type="http://schemas.openxmlformats.org/officeDocument/2006/relationships/image" Target="../media/image4.png"/><Relationship Id="rId19" Type="http://schemas.openxmlformats.org/officeDocument/2006/relationships/oleObject" Target="../embeddings/oleObject9.bin"/><Relationship Id="rId18" Type="http://schemas.openxmlformats.org/officeDocument/2006/relationships/image" Target="../media/image12.wmf"/><Relationship Id="rId17" Type="http://schemas.openxmlformats.org/officeDocument/2006/relationships/oleObject" Target="../embeddings/oleObject8.bin"/><Relationship Id="rId16" Type="http://schemas.openxmlformats.org/officeDocument/2006/relationships/image" Target="../media/image11.wmf"/><Relationship Id="rId15" Type="http://schemas.openxmlformats.org/officeDocument/2006/relationships/oleObject" Target="../embeddings/oleObject7.bin"/><Relationship Id="rId14" Type="http://schemas.openxmlformats.org/officeDocument/2006/relationships/image" Target="../media/image10.wmf"/><Relationship Id="rId13" Type="http://schemas.openxmlformats.org/officeDocument/2006/relationships/oleObject" Target="../embeddings/oleObject6.bin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5.bin"/><Relationship Id="rId10" Type="http://schemas.openxmlformats.org/officeDocument/2006/relationships/image" Target="../media/image8.wmf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Collections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Sunita Jain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95251" y="4576880"/>
            <a:ext cx="5167745" cy="1413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7767361" y="5815834"/>
            <a:ext cx="3332664" cy="4639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Introducing Collection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726724" y="1253331"/>
            <a:ext cx="6225405" cy="3221738"/>
          </a:xfrm>
        </p:spPr>
        <p:txBody>
          <a:bodyPr>
            <a:normAutofit/>
          </a:bodyPr>
          <a:lstStyle/>
          <a:p>
            <a:r>
              <a:rPr lang="en-US" dirty="0"/>
              <a:t>Collections are the standard-way to store and manipulate group of elements(primitive values or objects)</a:t>
            </a:r>
            <a:endParaRPr lang="en-US" dirty="0"/>
          </a:p>
          <a:p>
            <a:r>
              <a:rPr lang="en-US" dirty="0"/>
              <a:t>Collections are internally objects of specific ‘collection classes’ such as List, Dictionary, </a:t>
            </a:r>
            <a:r>
              <a:rPr lang="en-US" dirty="0" err="1"/>
              <a:t>SortedList</a:t>
            </a:r>
            <a:r>
              <a:rPr lang="en-US" dirty="0"/>
              <a:t> etc.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76877" y="5294085"/>
            <a:ext cx="8713753" cy="77087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>
                <a:latin typeface="Trebuchet MS" panose="020B0603020202020204" pitchFamily="34" charset="0"/>
              </a:rPr>
              <a:t>List &lt;type&gt; referneceVariable=new List&lt;type&gt;();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76877" y="4860813"/>
            <a:ext cx="8713753" cy="40400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rebuchet MS" panose="020B0603020202020204" pitchFamily="34" charset="0"/>
              </a:rPr>
              <a:t>List Collection- Example</a:t>
            </a:r>
            <a:endParaRPr lang="en-IN" sz="2800" dirty="0">
              <a:latin typeface="Trebuchet MS" panose="020B06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97045" y="1148628"/>
            <a:ext cx="2084294" cy="363932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>
            <a:off x="7397045" y="1772504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397045" y="2530021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97045" y="3283057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397045" y="4009199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736976" y="1253331"/>
            <a:ext cx="539045" cy="31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[0]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11742" y="1979007"/>
            <a:ext cx="551991" cy="295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[1]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737555" y="2674634"/>
            <a:ext cx="539045" cy="31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[2]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711742" y="3536517"/>
            <a:ext cx="539045" cy="31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[3]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53245" y="4230130"/>
            <a:ext cx="539045" cy="31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[4]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7611035" y="685800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Collection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7659262" y="1270656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Value0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Rectangle: Rounded Corners 29"/>
          <p:cNvSpPr/>
          <p:nvPr/>
        </p:nvSpPr>
        <p:spPr>
          <a:xfrm>
            <a:off x="7690673" y="1979007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Value1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1" name="Rectangle: Rounded Corners 30"/>
          <p:cNvSpPr/>
          <p:nvPr/>
        </p:nvSpPr>
        <p:spPr>
          <a:xfrm>
            <a:off x="7690672" y="2683230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Value2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3" name="Rectangle: Rounded Corners 32"/>
          <p:cNvSpPr/>
          <p:nvPr/>
        </p:nvSpPr>
        <p:spPr>
          <a:xfrm>
            <a:off x="7690672" y="3457482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Value3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4" name="Rectangle: Rounded Corners 33"/>
          <p:cNvSpPr/>
          <p:nvPr/>
        </p:nvSpPr>
        <p:spPr>
          <a:xfrm>
            <a:off x="7672709" y="4246099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Value4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Understanding Collections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Collections can store unlimited elements.</a:t>
            </a:r>
            <a:endParaRPr lang="en-IN" dirty="0"/>
          </a:p>
          <a:p>
            <a:r>
              <a:rPr lang="en-IN" dirty="0"/>
              <a:t>You can add/remove elements any time</a:t>
            </a:r>
            <a:endParaRPr lang="en-IN" dirty="0"/>
          </a:p>
          <a:p>
            <a:r>
              <a:rPr lang="en-IN" dirty="0"/>
              <a:t>You need not specify the size while creating collections.</a:t>
            </a:r>
            <a:endParaRPr lang="en-IN" dirty="0"/>
          </a:p>
          <a:p>
            <a:r>
              <a:rPr lang="en-IN" dirty="0"/>
              <a:t>You can </a:t>
            </a:r>
            <a:r>
              <a:rPr lang="en-IN" dirty="0" err="1"/>
              <a:t>search,sort,copy</a:t>
            </a:r>
            <a:r>
              <a:rPr lang="en-IN" dirty="0"/>
              <a:t> collections using various built-in methods.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List Collection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53566" y="1253331"/>
            <a:ext cx="6490988" cy="3237376"/>
          </a:xfrm>
        </p:spPr>
        <p:txBody>
          <a:bodyPr/>
          <a:lstStyle/>
          <a:p>
            <a:r>
              <a:rPr lang="en-IN" dirty="0"/>
              <a:t>List collection contains a group of elements of same type</a:t>
            </a:r>
            <a:endParaRPr lang="en-IN" dirty="0"/>
          </a:p>
          <a:p>
            <a:r>
              <a:rPr lang="en-IN" dirty="0"/>
              <a:t>Full path: </a:t>
            </a:r>
            <a:r>
              <a:rPr lang="en-IN" dirty="0" err="1"/>
              <a:t>System.Collection.Generic.List</a:t>
            </a:r>
            <a:r>
              <a:rPr lang="en-IN" dirty="0"/>
              <a:t>;</a:t>
            </a:r>
            <a:endParaRPr lang="en-IN" dirty="0"/>
          </a:p>
          <a:p>
            <a:r>
              <a:rPr lang="en-IN" dirty="0"/>
              <a:t>The “List” is a Generic collection class; so you need to specify data type of value while creating object.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2958353" y="3805518"/>
            <a:ext cx="2850776" cy="32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7397045" y="1148628"/>
            <a:ext cx="2084294" cy="363932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7397045" y="1772504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397045" y="2530021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97045" y="3283057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7397045" y="4009199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736976" y="1253331"/>
            <a:ext cx="539045" cy="31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[0]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737555" y="2674634"/>
            <a:ext cx="539045" cy="31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[2]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11742" y="3536517"/>
            <a:ext cx="539045" cy="31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[3]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753245" y="4230130"/>
            <a:ext cx="539045" cy="31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[4]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/>
          <p:cNvSpPr/>
          <p:nvPr/>
        </p:nvSpPr>
        <p:spPr>
          <a:xfrm>
            <a:off x="7611035" y="685800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Collection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4" name="Rectangle: Rounded Corners 33"/>
          <p:cNvSpPr/>
          <p:nvPr/>
        </p:nvSpPr>
        <p:spPr>
          <a:xfrm>
            <a:off x="7659262" y="1270656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Value0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5" name="Rectangle: Rounded Corners 34"/>
          <p:cNvSpPr/>
          <p:nvPr/>
        </p:nvSpPr>
        <p:spPr>
          <a:xfrm>
            <a:off x="7690673" y="1979007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Value1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7690672" y="2683230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Value2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7" name="Rectangle: Rounded Corners 36"/>
          <p:cNvSpPr/>
          <p:nvPr/>
        </p:nvSpPr>
        <p:spPr>
          <a:xfrm>
            <a:off x="7690672" y="3457482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Value3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8" name="Rectangle: Rounded Corners 37"/>
          <p:cNvSpPr/>
          <p:nvPr/>
        </p:nvSpPr>
        <p:spPr>
          <a:xfrm>
            <a:off x="7672709" y="4246099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Value4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711742" y="1979007"/>
            <a:ext cx="551991" cy="295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[1]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76877" y="5294085"/>
            <a:ext cx="8713753" cy="77087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>
                <a:latin typeface="Trebuchet MS" panose="020B0603020202020204" pitchFamily="34" charset="0"/>
              </a:rPr>
              <a:t>List &lt;type&gt; referneceVariable=new List&lt;type&gt;();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76877" y="4874260"/>
            <a:ext cx="8713753" cy="40400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rebuchet MS" panose="020B0603020202020204" pitchFamily="34" charset="0"/>
              </a:rPr>
              <a:t>List Collection- Example</a:t>
            </a:r>
            <a:endParaRPr lang="en-IN" sz="28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	</a:t>
            </a:r>
            <a:r>
              <a:rPr lang="en-IN" b="1" dirty="0"/>
              <a:t> List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3"/>
            <a:ext cx="10958770" cy="4784398"/>
          </a:xfrm>
        </p:spPr>
        <p:txBody>
          <a:bodyPr>
            <a:normAutofit/>
          </a:bodyPr>
          <a:lstStyle/>
          <a:p>
            <a:r>
              <a:rPr lang="en-US" dirty="0"/>
              <a:t>It is dynamically sized. You can add, remove elements at any time.</a:t>
            </a:r>
            <a:endParaRPr lang="en-US" dirty="0"/>
          </a:p>
          <a:p>
            <a:r>
              <a:rPr lang="en-US" dirty="0"/>
              <a:t>It allows duplicate values.</a:t>
            </a:r>
            <a:endParaRPr lang="en-US" dirty="0"/>
          </a:p>
          <a:p>
            <a:r>
              <a:rPr lang="en-US" dirty="0"/>
              <a:t>It is Index-based. You need to access elements by using zero-based Index.</a:t>
            </a:r>
            <a:endParaRPr lang="en-US" dirty="0"/>
          </a:p>
          <a:p>
            <a:r>
              <a:rPr lang="en-US" dirty="0"/>
              <a:t>It is not sorted by default. The elements are sorted in same order how they are initialized.</a:t>
            </a:r>
            <a:endParaRPr lang="en-US" dirty="0"/>
          </a:p>
          <a:p>
            <a:r>
              <a:rPr lang="en-US" dirty="0"/>
              <a:t>It used array internally; that means, recreates array when the elements are added or removed.</a:t>
            </a:r>
            <a:endParaRPr lang="en-US" dirty="0"/>
          </a:p>
          <a:p>
            <a:r>
              <a:rPr lang="en-US" dirty="0"/>
              <a:t>The ‘Capacity’ property holds the number of elements that can be stored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 the internal array of the list. If you add more elements, the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internal array will be resized to the ‘count’ of elements.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37819"/>
            <a:ext cx="9438716" cy="797605"/>
          </a:xfrm>
        </p:spPr>
        <p:txBody>
          <a:bodyPr>
            <a:normAutofit/>
          </a:bodyPr>
          <a:lstStyle/>
          <a:p>
            <a:r>
              <a:rPr lang="en-US" b="1" dirty="0"/>
              <a:t>Properties &amp; Methods of List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2"/>
            <a:ext cx="11039452" cy="4797845"/>
          </a:xfrm>
        </p:spPr>
        <p:txBody>
          <a:bodyPr>
            <a:normAutofit/>
          </a:bodyPr>
          <a:lstStyle/>
          <a:p>
            <a:r>
              <a:rPr lang="en-IN" dirty="0"/>
              <a:t>Properties:</a:t>
            </a:r>
            <a:endParaRPr lang="en-IN" dirty="0"/>
          </a:p>
          <a:p>
            <a:pPr lvl="1"/>
            <a:r>
              <a:rPr lang="en-IN" dirty="0"/>
              <a:t>Count </a:t>
            </a:r>
            <a:endParaRPr lang="en-IN" dirty="0"/>
          </a:p>
          <a:p>
            <a:pPr lvl="1"/>
            <a:r>
              <a:rPr lang="en-IN" dirty="0"/>
              <a:t>Capacity</a:t>
            </a:r>
            <a:endParaRPr lang="en-IN" dirty="0"/>
          </a:p>
          <a:p>
            <a:r>
              <a:rPr lang="en-IN" dirty="0"/>
              <a:t>Methods</a:t>
            </a:r>
            <a:endParaRPr lang="en-IN" dirty="0"/>
          </a:p>
          <a:p>
            <a:pPr lvl="1"/>
            <a:r>
              <a:rPr lang="en-IN" dirty="0"/>
              <a:t>Add(T)					</a:t>
            </a:r>
            <a:endParaRPr lang="en-IN" dirty="0"/>
          </a:p>
          <a:p>
            <a:pPr lvl="1"/>
            <a:r>
              <a:rPr lang="en-IN" dirty="0" err="1"/>
              <a:t>AddRange</a:t>
            </a:r>
            <a:r>
              <a:rPr lang="en-IN" dirty="0"/>
              <a:t>(</a:t>
            </a:r>
            <a:r>
              <a:rPr lang="en-IN" dirty="0" err="1"/>
              <a:t>IEnuberable</a:t>
            </a:r>
            <a:r>
              <a:rPr lang="en-IN" dirty="0"/>
              <a:t>&lt;T&gt;)</a:t>
            </a:r>
            <a:endParaRPr lang="en-IN" dirty="0"/>
          </a:p>
          <a:p>
            <a:pPr lvl="1"/>
            <a:r>
              <a:rPr lang="en-IN" dirty="0"/>
              <a:t>Insert(</a:t>
            </a:r>
            <a:r>
              <a:rPr lang="en-IN" dirty="0" err="1"/>
              <a:t>int,T</a:t>
            </a:r>
            <a:r>
              <a:rPr lang="en-IN" dirty="0"/>
              <a:t>)</a:t>
            </a:r>
            <a:endParaRPr lang="en-IN" dirty="0"/>
          </a:p>
          <a:p>
            <a:pPr lvl="1"/>
            <a:r>
              <a:rPr lang="en-IN" dirty="0" err="1"/>
              <a:t>InsertRange</a:t>
            </a:r>
            <a:r>
              <a:rPr lang="en-IN" dirty="0"/>
              <a:t>(int, </a:t>
            </a:r>
            <a:r>
              <a:rPr lang="en-IN" dirty="0" err="1"/>
              <a:t>IEnuberable</a:t>
            </a:r>
            <a:r>
              <a:rPr lang="en-IN" dirty="0"/>
              <a:t>&lt;T&gt;)</a:t>
            </a:r>
            <a:endParaRPr lang="en-IN" dirty="0"/>
          </a:p>
          <a:p>
            <a:pPr lvl="1"/>
            <a:r>
              <a:rPr lang="en-IN" dirty="0"/>
              <a:t>Remove(int)</a:t>
            </a:r>
            <a:endParaRPr lang="en-IN" dirty="0"/>
          </a:p>
          <a:p>
            <a:pPr lvl="1"/>
            <a:r>
              <a:rPr lang="en-IN" dirty="0" err="1"/>
              <a:t>RemoveAt</a:t>
            </a:r>
            <a:r>
              <a:rPr lang="en-IN" dirty="0"/>
              <a:t>(int)</a:t>
            </a:r>
            <a:endParaRPr lang="en-IN" dirty="0"/>
          </a:p>
          <a:p>
            <a:pPr lvl="1"/>
            <a:r>
              <a:rPr lang="en-IN" dirty="0" err="1"/>
              <a:t>RemoveRange</a:t>
            </a:r>
            <a:r>
              <a:rPr lang="en-IN" dirty="0"/>
              <a:t>(</a:t>
            </a:r>
            <a:r>
              <a:rPr lang="en-IN" dirty="0" err="1"/>
              <a:t>int,int</a:t>
            </a:r>
            <a:r>
              <a:rPr lang="en-IN" dirty="0"/>
              <a:t>)</a:t>
            </a:r>
            <a:endParaRPr lang="en-IN" dirty="0"/>
          </a:p>
          <a:p>
            <a:pPr lvl="1"/>
            <a:r>
              <a:rPr lang="en-IN" dirty="0" err="1"/>
              <a:t>RemoveAll</a:t>
            </a:r>
            <a:r>
              <a:rPr lang="en-IN" dirty="0"/>
              <a:t>(Predicate&lt;T&gt;)</a:t>
            </a:r>
            <a:endParaRPr lang="en-IN" dirty="0"/>
          </a:p>
          <a:p>
            <a:pPr lvl="1"/>
            <a:r>
              <a:rPr lang="en-IN" dirty="0"/>
              <a:t>Clear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37819"/>
            <a:ext cx="9438716" cy="797605"/>
          </a:xfrm>
        </p:spPr>
        <p:txBody>
          <a:bodyPr>
            <a:normAutofit/>
          </a:bodyPr>
          <a:lstStyle/>
          <a:p>
            <a:r>
              <a:rPr lang="en-US" b="1" dirty="0"/>
              <a:t>Properties &amp; Methods of List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2"/>
            <a:ext cx="11039452" cy="5013039"/>
          </a:xfrm>
        </p:spPr>
        <p:txBody>
          <a:bodyPr>
            <a:normAutofit/>
          </a:bodyPr>
          <a:lstStyle/>
          <a:p>
            <a:r>
              <a:rPr lang="en-IN" dirty="0"/>
              <a:t>Sort()</a:t>
            </a:r>
            <a:endParaRPr lang="en-IN" dirty="0"/>
          </a:p>
          <a:p>
            <a:r>
              <a:rPr lang="en-IN" dirty="0"/>
              <a:t>Reverse()</a:t>
            </a:r>
            <a:endParaRPr lang="en-IN" dirty="0"/>
          </a:p>
          <a:p>
            <a:r>
              <a:rPr lang="en-IN" dirty="0" err="1"/>
              <a:t>ToArray</a:t>
            </a:r>
            <a:r>
              <a:rPr lang="en-IN" dirty="0"/>
              <a:t>()</a:t>
            </a:r>
            <a:endParaRPr lang="en-IN" dirty="0"/>
          </a:p>
          <a:p>
            <a:r>
              <a:rPr lang="en-IN" dirty="0" err="1"/>
              <a:t>ForEach</a:t>
            </a:r>
            <a:r>
              <a:rPr lang="en-IN" dirty="0"/>
              <a:t>(Action &lt;T&gt;)</a:t>
            </a:r>
            <a:endParaRPr lang="en-IN" dirty="0"/>
          </a:p>
          <a:p>
            <a:r>
              <a:rPr lang="en-IN" dirty="0"/>
              <a:t>Exists(Predicate&lt;T&gt;)</a:t>
            </a:r>
            <a:endParaRPr lang="en-IN" dirty="0"/>
          </a:p>
          <a:p>
            <a:r>
              <a:rPr lang="en-IN" dirty="0"/>
              <a:t>Find(Predicate&lt;T&gt;)</a:t>
            </a:r>
            <a:endParaRPr lang="en-IN" dirty="0"/>
          </a:p>
          <a:p>
            <a:r>
              <a:rPr lang="en-IN" dirty="0" err="1"/>
              <a:t>FindIndex</a:t>
            </a:r>
            <a:r>
              <a:rPr lang="en-IN" dirty="0"/>
              <a:t>(Predicate&lt;T&gt;)</a:t>
            </a:r>
            <a:endParaRPr lang="en-IN" dirty="0"/>
          </a:p>
          <a:p>
            <a:r>
              <a:rPr lang="en-IN" dirty="0" err="1"/>
              <a:t>FindLast</a:t>
            </a:r>
            <a:r>
              <a:rPr lang="en-IN" dirty="0"/>
              <a:t>(Predicate&lt;T&gt;)</a:t>
            </a:r>
            <a:endParaRPr lang="en-IN" dirty="0"/>
          </a:p>
          <a:p>
            <a:r>
              <a:rPr lang="en-IN" dirty="0" err="1"/>
              <a:t>FindLastIndex</a:t>
            </a:r>
            <a:r>
              <a:rPr lang="en-IN" dirty="0"/>
              <a:t>(Predicate&lt;T&gt;)</a:t>
            </a:r>
            <a:endParaRPr lang="en-IN" dirty="0"/>
          </a:p>
          <a:p>
            <a:r>
              <a:rPr lang="en-IN" dirty="0" err="1"/>
              <a:t>FindAll</a:t>
            </a:r>
            <a:r>
              <a:rPr lang="en-IN" dirty="0"/>
              <a:t>(Predicate&lt;T&gt;)</a:t>
            </a:r>
            <a:endParaRPr lang="en-IN" dirty="0"/>
          </a:p>
          <a:p>
            <a:r>
              <a:rPr lang="en-IN" dirty="0" err="1"/>
              <a:t>ConvertAll</a:t>
            </a:r>
            <a:r>
              <a:rPr lang="en-IN" dirty="0"/>
              <a:t>(T)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7767361" y="5815834"/>
            <a:ext cx="3332664" cy="4639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Dictionary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726724" y="1253331"/>
            <a:ext cx="6225405" cy="32217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Dictionary collection contains a group of elements of key/value pairs.</a:t>
            </a:r>
            <a:endParaRPr lang="en-US" dirty="0"/>
          </a:p>
          <a:p>
            <a:r>
              <a:rPr lang="en-US" dirty="0"/>
              <a:t>The "Dictionary" class is a generic class; so you need to specify data type of the key and data type of the value while creating object</a:t>
            </a:r>
            <a:endParaRPr lang="en-US" dirty="0"/>
          </a:p>
          <a:p>
            <a:r>
              <a:rPr lang="en-US" dirty="0"/>
              <a:t>You can set / get the value based on the key</a:t>
            </a:r>
            <a:endParaRPr lang="en-US" dirty="0"/>
          </a:p>
          <a:p>
            <a:r>
              <a:rPr lang="en-US" dirty="0"/>
              <a:t>The key can't be null or duplicate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76877" y="5294085"/>
            <a:ext cx="8713753" cy="77087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sz="2000" dirty="0"/>
              <a:t>Dictionary&lt;</a:t>
            </a:r>
            <a:r>
              <a:rPr lang="en-IN" sz="2000" dirty="0" err="1"/>
              <a:t>Tkey,Tvalue</a:t>
            </a:r>
            <a:r>
              <a:rPr lang="en-IN" sz="2000" dirty="0"/>
              <a:t>&gt; </a:t>
            </a:r>
            <a:r>
              <a:rPr lang="en-IN" sz="2000" dirty="0" err="1"/>
              <a:t>referenceVariable</a:t>
            </a:r>
            <a:r>
              <a:rPr lang="en-IN" sz="2000" dirty="0"/>
              <a:t> = new Dictionary &lt;</a:t>
            </a:r>
            <a:r>
              <a:rPr lang="en-IN" sz="2000" dirty="0" err="1"/>
              <a:t>Tkey,Tvalue</a:t>
            </a:r>
            <a:r>
              <a:rPr lang="en-IN" sz="2000" dirty="0"/>
              <a:t>&gt;( );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76877" y="4860813"/>
            <a:ext cx="8713753" cy="40400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2800" dirty="0"/>
              <a:t>Dictionary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Collection- Example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97045" y="1148628"/>
            <a:ext cx="2084294" cy="363932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7397045" y="1772504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397045" y="2530021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97045" y="3283057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397045" y="4009199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548718" y="1306886"/>
            <a:ext cx="1051186" cy="337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[Key 0]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11742" y="1979007"/>
            <a:ext cx="551991" cy="295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737555" y="2674634"/>
            <a:ext cx="539045" cy="31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89129" y="3533950"/>
            <a:ext cx="870735" cy="2578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[Key 3]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586240" y="4335657"/>
            <a:ext cx="906017" cy="25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[Key 4]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7611035" y="685800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Collection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7659262" y="1270656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Value0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0" name="Rectangle: Rounded Corners 29"/>
          <p:cNvSpPr/>
          <p:nvPr/>
        </p:nvSpPr>
        <p:spPr>
          <a:xfrm>
            <a:off x="7690673" y="1979007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Value1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1" name="Rectangle: Rounded Corners 30"/>
          <p:cNvSpPr/>
          <p:nvPr/>
        </p:nvSpPr>
        <p:spPr>
          <a:xfrm>
            <a:off x="7690672" y="2683230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Value2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/>
          <p:cNvSpPr/>
          <p:nvPr/>
        </p:nvSpPr>
        <p:spPr>
          <a:xfrm>
            <a:off x="7690672" y="3457482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Value3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/>
          <p:cNvSpPr/>
          <p:nvPr/>
        </p:nvSpPr>
        <p:spPr>
          <a:xfrm>
            <a:off x="7672709" y="4246099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Value4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31291" y="1995047"/>
            <a:ext cx="1051186" cy="337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[Key 1]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92673" y="2907554"/>
            <a:ext cx="1051186" cy="337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[Key 2]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Dictionary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3"/>
            <a:ext cx="11039452" cy="5053380"/>
          </a:xfrm>
        </p:spPr>
        <p:txBody>
          <a:bodyPr/>
          <a:lstStyle/>
          <a:p>
            <a:r>
              <a:rPr lang="en-US" dirty="0"/>
              <a:t>It is dynamically sized. You can add, remove elements (key/value pairs) at any time</a:t>
            </a:r>
            <a:endParaRPr lang="en-US" dirty="0"/>
          </a:p>
          <a:p>
            <a:r>
              <a:rPr lang="en-US" dirty="0"/>
              <a:t>Key can't be null or duplicate; but value can be null or duplicate.</a:t>
            </a:r>
            <a:endParaRPr lang="en-US" dirty="0"/>
          </a:p>
          <a:p>
            <a:r>
              <a:rPr lang="en-US" dirty="0"/>
              <a:t>It is not index-based. You need to access elements by using key.</a:t>
            </a:r>
            <a:endParaRPr lang="en-US" dirty="0"/>
          </a:p>
          <a:p>
            <a:r>
              <a:rPr lang="en-US" dirty="0"/>
              <a:t>It is not sorted by default. The elements are stored in the same order, how they are initialized.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37819"/>
            <a:ext cx="9438716" cy="797605"/>
          </a:xfrm>
        </p:spPr>
        <p:txBody>
          <a:bodyPr>
            <a:normAutofit/>
          </a:bodyPr>
          <a:lstStyle/>
          <a:p>
            <a:r>
              <a:rPr lang="en-US" b="1" dirty="0"/>
              <a:t>Properties &amp; Methods of </a:t>
            </a:r>
            <a:r>
              <a:rPr lang="en-IN" dirty="0"/>
              <a:t>Dictionary</a:t>
            </a:r>
            <a:r>
              <a:rPr lang="en-US" b="1" dirty="0"/>
              <a:t>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2"/>
            <a:ext cx="11039452" cy="4797845"/>
          </a:xfrm>
        </p:spPr>
        <p:txBody>
          <a:bodyPr>
            <a:normAutofit/>
          </a:bodyPr>
          <a:lstStyle/>
          <a:p>
            <a:r>
              <a:rPr lang="en-IN" dirty="0"/>
              <a:t>Properties:</a:t>
            </a:r>
            <a:endParaRPr lang="en-IN" dirty="0"/>
          </a:p>
          <a:p>
            <a:pPr lvl="1"/>
            <a:r>
              <a:rPr lang="en-IN" dirty="0"/>
              <a:t>Count :Returns count of elements</a:t>
            </a:r>
            <a:endParaRPr lang="en-IN" dirty="0"/>
          </a:p>
          <a:p>
            <a:pPr lvl="1"/>
            <a:r>
              <a:rPr lang="en-IN" dirty="0"/>
              <a:t>[</a:t>
            </a:r>
            <a:r>
              <a:rPr lang="en-IN" dirty="0" err="1"/>
              <a:t>TKey</a:t>
            </a:r>
            <a:r>
              <a:rPr lang="en-IN" dirty="0"/>
              <a:t>] : </a:t>
            </a:r>
            <a:r>
              <a:rPr lang="en-US" dirty="0"/>
              <a:t>Returns value based on specified key</a:t>
            </a:r>
            <a:endParaRPr lang="en-US" dirty="0"/>
          </a:p>
          <a:p>
            <a:pPr lvl="1"/>
            <a:r>
              <a:rPr lang="en-IN" dirty="0"/>
              <a:t>Keys : </a:t>
            </a:r>
            <a:r>
              <a:rPr lang="en-US" dirty="0"/>
              <a:t>Returns a collection of key (without values)</a:t>
            </a:r>
            <a:endParaRPr lang="en-US" dirty="0"/>
          </a:p>
          <a:p>
            <a:pPr lvl="1"/>
            <a:r>
              <a:rPr lang="en-IN" dirty="0"/>
              <a:t>Values : </a:t>
            </a:r>
            <a:r>
              <a:rPr lang="en-US" dirty="0"/>
              <a:t>Returns a collection of values (without keys)</a:t>
            </a:r>
            <a:endParaRPr lang="en-IN" dirty="0"/>
          </a:p>
          <a:p>
            <a:r>
              <a:rPr lang="en-IN" dirty="0"/>
              <a:t>Methods</a:t>
            </a:r>
            <a:endParaRPr lang="en-IN" dirty="0"/>
          </a:p>
          <a:p>
            <a:pPr lvl="1"/>
            <a:r>
              <a:rPr lang="en-IN" dirty="0"/>
              <a:t>void Add(</a:t>
            </a:r>
            <a:r>
              <a:rPr lang="en-IN" dirty="0" err="1"/>
              <a:t>TKey</a:t>
            </a:r>
            <a:r>
              <a:rPr lang="en-IN" dirty="0"/>
              <a:t>, TValue): </a:t>
            </a:r>
            <a:r>
              <a:rPr lang="en-US" dirty="0"/>
              <a:t>Adds an element (key/value pair).</a:t>
            </a:r>
            <a:endParaRPr lang="en-US" dirty="0"/>
          </a:p>
          <a:p>
            <a:pPr lvl="1"/>
            <a:r>
              <a:rPr lang="en-IN" dirty="0"/>
              <a:t>bool Remove(</a:t>
            </a:r>
            <a:r>
              <a:rPr lang="en-IN" dirty="0" err="1"/>
              <a:t>TKey</a:t>
            </a:r>
            <a:r>
              <a:rPr lang="en-IN" dirty="0"/>
              <a:t>) : </a:t>
            </a:r>
            <a:r>
              <a:rPr lang="en-US" dirty="0"/>
              <a:t>Removes an element based on specified key</a:t>
            </a:r>
            <a:endParaRPr lang="en-US" dirty="0"/>
          </a:p>
          <a:p>
            <a:pPr lvl="1"/>
            <a:r>
              <a:rPr lang="en-IN" dirty="0"/>
              <a:t>bool </a:t>
            </a:r>
            <a:r>
              <a:rPr lang="en-IN" dirty="0" err="1"/>
              <a:t>ContainsKey</a:t>
            </a:r>
            <a:r>
              <a:rPr lang="en-IN" dirty="0"/>
              <a:t>(</a:t>
            </a:r>
            <a:r>
              <a:rPr lang="en-IN" dirty="0" err="1"/>
              <a:t>Tkey</a:t>
            </a:r>
            <a:r>
              <a:rPr lang="en-IN" dirty="0"/>
              <a:t>):</a:t>
            </a:r>
            <a:r>
              <a:rPr lang="en-US" dirty="0"/>
              <a:t>Determines whether the specified key exists.</a:t>
            </a:r>
            <a:endParaRPr lang="en-US" dirty="0"/>
          </a:p>
          <a:p>
            <a:pPr lvl="1"/>
            <a:r>
              <a:rPr lang="en-IN" dirty="0"/>
              <a:t>bool </a:t>
            </a:r>
            <a:r>
              <a:rPr lang="en-IN" dirty="0" err="1"/>
              <a:t>ContainsValue</a:t>
            </a:r>
            <a:r>
              <a:rPr lang="en-IN" dirty="0"/>
              <a:t>(TValue):</a:t>
            </a:r>
            <a:r>
              <a:rPr lang="en-US" dirty="0"/>
              <a:t>Determines whether the specified value exists.</a:t>
            </a:r>
            <a:endParaRPr lang="en-US" dirty="0"/>
          </a:p>
          <a:p>
            <a:pPr lvl="1"/>
            <a:r>
              <a:rPr lang="en-IN" dirty="0"/>
              <a:t>void Clear():Removes all elements.</a:t>
            </a:r>
            <a:endParaRPr lang="en-IN" dirty="0"/>
          </a:p>
          <a:p>
            <a:pPr lvl="1"/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7767361" y="5815834"/>
            <a:ext cx="3332664" cy="4639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SortedList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726724" y="1253331"/>
            <a:ext cx="6225405" cy="32217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SortedList</a:t>
            </a:r>
            <a:r>
              <a:rPr lang="en-US" dirty="0"/>
              <a:t> collection contains a group of elements of key/value pairs.</a:t>
            </a:r>
            <a:endParaRPr lang="en-US" dirty="0"/>
          </a:p>
          <a:p>
            <a:r>
              <a:rPr lang="en-US" dirty="0"/>
              <a:t>The "</a:t>
            </a:r>
            <a:r>
              <a:rPr lang="en-US" dirty="0" err="1"/>
              <a:t>SortedList</a:t>
            </a:r>
            <a:r>
              <a:rPr lang="en-US" dirty="0"/>
              <a:t>" class is a generic class; so you need to specify data type of the key and data type of the value while creating object.</a:t>
            </a:r>
            <a:endParaRPr lang="en-US" dirty="0"/>
          </a:p>
          <a:p>
            <a:r>
              <a:rPr lang="en-US" dirty="0"/>
              <a:t>You can set / get the value based on the key</a:t>
            </a:r>
            <a:endParaRPr lang="en-US" dirty="0"/>
          </a:p>
          <a:p>
            <a:r>
              <a:rPr lang="en-US" dirty="0"/>
              <a:t>The key can't be null or duplicate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76877" y="5294085"/>
            <a:ext cx="8713753" cy="77087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sz="2000" dirty="0" err="1"/>
              <a:t>SortedList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Tkey,Tvalue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referenceVariable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new </a:t>
            </a:r>
            <a:r>
              <a:rPr lang="en-IN" sz="2000" dirty="0" err="1"/>
              <a:t>SortedList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Tkey,Tvalue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&gt;( );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76877" y="4860813"/>
            <a:ext cx="8713753" cy="40400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sz="2800" dirty="0" err="1">
                <a:solidFill>
                  <a:prstClr val="white"/>
                </a:solidFill>
                <a:latin typeface="Calibri" panose="020F0502020204030204"/>
              </a:rPr>
              <a:t>SortedList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Collection- Example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97045" y="1148628"/>
            <a:ext cx="2084294" cy="363932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7397045" y="1772504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397045" y="2530021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97045" y="3283057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397045" y="4009199"/>
            <a:ext cx="2084294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548718" y="1306886"/>
            <a:ext cx="1051186" cy="337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[Key 0]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11742" y="1979007"/>
            <a:ext cx="551991" cy="295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737555" y="2674634"/>
            <a:ext cx="539045" cy="3178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89129" y="3533950"/>
            <a:ext cx="870735" cy="2578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[Key 3]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586240" y="4335657"/>
            <a:ext cx="906017" cy="25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[Key 4]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7611035" y="685800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Collection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7659262" y="1270656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Value0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0" name="Rectangle: Rounded Corners 29"/>
          <p:cNvSpPr/>
          <p:nvPr/>
        </p:nvSpPr>
        <p:spPr>
          <a:xfrm>
            <a:off x="7690673" y="1979007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Value1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1" name="Rectangle: Rounded Corners 30"/>
          <p:cNvSpPr/>
          <p:nvPr/>
        </p:nvSpPr>
        <p:spPr>
          <a:xfrm>
            <a:off x="7690672" y="2683230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Value2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/>
          <p:cNvSpPr/>
          <p:nvPr/>
        </p:nvSpPr>
        <p:spPr>
          <a:xfrm>
            <a:off x="7690672" y="3457482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Value3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/>
          <p:cNvSpPr/>
          <p:nvPr/>
        </p:nvSpPr>
        <p:spPr>
          <a:xfrm>
            <a:off x="7672709" y="4246099"/>
            <a:ext cx="1559859" cy="3605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Value4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31291" y="2155067"/>
            <a:ext cx="1051186" cy="337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[Key 1]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92673" y="2907554"/>
            <a:ext cx="1051186" cy="337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[Key 2]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SortedList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3"/>
            <a:ext cx="11039452" cy="5053380"/>
          </a:xfrm>
        </p:spPr>
        <p:txBody>
          <a:bodyPr/>
          <a:lstStyle/>
          <a:p>
            <a:r>
              <a:rPr lang="en-US" dirty="0"/>
              <a:t>It is dynamically sized. You can add, remove elements (key/value pairs) at any time.</a:t>
            </a:r>
            <a:endParaRPr lang="en-US" dirty="0"/>
          </a:p>
          <a:p>
            <a:r>
              <a:rPr lang="en-US" dirty="0"/>
              <a:t>Key can't be null or duplicate; but value can be null or duplicate.</a:t>
            </a:r>
            <a:endParaRPr lang="en-US" dirty="0"/>
          </a:p>
          <a:p>
            <a:r>
              <a:rPr lang="en-US" dirty="0"/>
              <a:t>It is not index-based. You need to access elements by using key.</a:t>
            </a:r>
            <a:endParaRPr lang="en-US" dirty="0"/>
          </a:p>
          <a:p>
            <a:r>
              <a:rPr lang="en-US" dirty="0"/>
              <a:t>It is sorted by default. The elements are stored in the sorted ascending order, according to the key.</a:t>
            </a:r>
            <a:endParaRPr lang="en-US" dirty="0"/>
          </a:p>
          <a:p>
            <a:r>
              <a:rPr lang="en-US" dirty="0"/>
              <a:t>Each operation of adding element, removing element or any other operation might be slower than Dictionary, because internally it resorts the data based on key.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37819"/>
            <a:ext cx="9438716" cy="797605"/>
          </a:xfrm>
        </p:spPr>
        <p:txBody>
          <a:bodyPr>
            <a:normAutofit/>
          </a:bodyPr>
          <a:lstStyle/>
          <a:p>
            <a:r>
              <a:rPr lang="en-US" b="1" dirty="0"/>
              <a:t>Properties &amp; Methods of </a:t>
            </a:r>
            <a:r>
              <a:rPr lang="en-IN" b="1" dirty="0" err="1"/>
              <a:t>SortedList</a:t>
            </a:r>
            <a:r>
              <a:rPr lang="en-US" b="1" dirty="0"/>
              <a:t>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2"/>
            <a:ext cx="11039452" cy="4797845"/>
          </a:xfrm>
        </p:spPr>
        <p:txBody>
          <a:bodyPr>
            <a:normAutofit/>
          </a:bodyPr>
          <a:lstStyle/>
          <a:p>
            <a:r>
              <a:rPr lang="en-IN" dirty="0"/>
              <a:t>Properties:</a:t>
            </a:r>
            <a:endParaRPr lang="en-IN" dirty="0"/>
          </a:p>
          <a:p>
            <a:pPr lvl="1"/>
            <a:r>
              <a:rPr lang="en-IN" dirty="0"/>
              <a:t>Count :Returns count of elements</a:t>
            </a:r>
            <a:endParaRPr lang="en-IN" dirty="0"/>
          </a:p>
          <a:p>
            <a:pPr lvl="1"/>
            <a:r>
              <a:rPr lang="en-IN" dirty="0"/>
              <a:t>[</a:t>
            </a:r>
            <a:r>
              <a:rPr lang="en-IN" dirty="0" err="1"/>
              <a:t>TKey</a:t>
            </a:r>
            <a:r>
              <a:rPr lang="en-IN" dirty="0"/>
              <a:t>] : </a:t>
            </a:r>
            <a:r>
              <a:rPr lang="en-US" dirty="0"/>
              <a:t>Returns value based on specified key</a:t>
            </a:r>
            <a:endParaRPr lang="en-US" dirty="0"/>
          </a:p>
          <a:p>
            <a:pPr lvl="1"/>
            <a:r>
              <a:rPr lang="en-IN" dirty="0"/>
              <a:t>Keys : </a:t>
            </a:r>
            <a:r>
              <a:rPr lang="en-US" dirty="0"/>
              <a:t>Returns a collection of key (without values)</a:t>
            </a:r>
            <a:endParaRPr lang="en-US" dirty="0"/>
          </a:p>
          <a:p>
            <a:pPr lvl="1"/>
            <a:r>
              <a:rPr lang="en-IN" dirty="0"/>
              <a:t>Values : </a:t>
            </a:r>
            <a:r>
              <a:rPr lang="en-US" dirty="0"/>
              <a:t>Returns a collection of values (without keys)</a:t>
            </a:r>
            <a:endParaRPr lang="en-IN" dirty="0"/>
          </a:p>
          <a:p>
            <a:r>
              <a:rPr lang="en-IN" dirty="0"/>
              <a:t>Methods</a:t>
            </a:r>
            <a:endParaRPr lang="en-IN" dirty="0"/>
          </a:p>
          <a:p>
            <a:pPr lvl="1"/>
            <a:r>
              <a:rPr lang="en-IN" dirty="0"/>
              <a:t>void Add(</a:t>
            </a:r>
            <a:r>
              <a:rPr lang="en-IN" dirty="0" err="1"/>
              <a:t>TKey</a:t>
            </a:r>
            <a:r>
              <a:rPr lang="en-IN" dirty="0"/>
              <a:t>, TValue): </a:t>
            </a:r>
            <a:r>
              <a:rPr lang="en-US" dirty="0"/>
              <a:t>Adds an element (key/value pair).</a:t>
            </a:r>
            <a:endParaRPr lang="en-US" dirty="0"/>
          </a:p>
          <a:p>
            <a:pPr lvl="1"/>
            <a:r>
              <a:rPr lang="en-IN" dirty="0"/>
              <a:t>bool Remove(</a:t>
            </a:r>
            <a:r>
              <a:rPr lang="en-IN" dirty="0" err="1"/>
              <a:t>TKey</a:t>
            </a:r>
            <a:r>
              <a:rPr lang="en-IN" dirty="0"/>
              <a:t>) : </a:t>
            </a:r>
            <a:r>
              <a:rPr lang="en-US" dirty="0"/>
              <a:t>Removes an element based on specified key</a:t>
            </a:r>
            <a:endParaRPr lang="en-US" dirty="0"/>
          </a:p>
          <a:p>
            <a:pPr lvl="1"/>
            <a:r>
              <a:rPr lang="en-IN" dirty="0"/>
              <a:t>bool </a:t>
            </a:r>
            <a:r>
              <a:rPr lang="en-IN" dirty="0" err="1"/>
              <a:t>ContainsKey</a:t>
            </a:r>
            <a:r>
              <a:rPr lang="en-IN" dirty="0"/>
              <a:t>(</a:t>
            </a:r>
            <a:r>
              <a:rPr lang="en-IN" dirty="0" err="1"/>
              <a:t>Tkey</a:t>
            </a:r>
            <a:r>
              <a:rPr lang="en-IN" dirty="0"/>
              <a:t>):</a:t>
            </a:r>
            <a:r>
              <a:rPr lang="en-US" dirty="0"/>
              <a:t>Determines whether the specified key exists.</a:t>
            </a:r>
            <a:endParaRPr lang="en-US" dirty="0"/>
          </a:p>
          <a:p>
            <a:pPr lvl="1"/>
            <a:r>
              <a:rPr lang="en-IN" dirty="0"/>
              <a:t>bool </a:t>
            </a:r>
            <a:r>
              <a:rPr lang="en-IN" dirty="0" err="1"/>
              <a:t>ContainsValue</a:t>
            </a:r>
            <a:r>
              <a:rPr lang="en-IN" dirty="0"/>
              <a:t>(TValue):</a:t>
            </a:r>
            <a:r>
              <a:rPr lang="en-US" dirty="0"/>
              <a:t>Determines whether the specified value exists.</a:t>
            </a:r>
            <a:endParaRPr lang="en-US" dirty="0"/>
          </a:p>
          <a:p>
            <a:pPr lvl="1"/>
            <a:r>
              <a:rPr lang="en-IN" dirty="0"/>
              <a:t>void Clear():Removes all elements.</a:t>
            </a:r>
            <a:endParaRPr lang="en-IN" dirty="0"/>
          </a:p>
          <a:p>
            <a:pPr lvl="1"/>
            <a:r>
              <a:rPr lang="en-IN" dirty="0"/>
              <a:t>int </a:t>
            </a:r>
            <a:r>
              <a:rPr lang="en-IN" dirty="0" err="1"/>
              <a:t>IndexOfKey</a:t>
            </a:r>
            <a:r>
              <a:rPr lang="en-IN" dirty="0"/>
              <a:t>(</a:t>
            </a:r>
            <a:r>
              <a:rPr lang="en-IN" dirty="0" err="1"/>
              <a:t>TKey</a:t>
            </a:r>
            <a:r>
              <a:rPr lang="en-IN" dirty="0"/>
              <a:t>):</a:t>
            </a:r>
            <a:r>
              <a:rPr lang="en-US" dirty="0"/>
              <a:t>Returns index of the specified key.</a:t>
            </a:r>
            <a:endParaRPr lang="en-US" dirty="0"/>
          </a:p>
          <a:p>
            <a:pPr lvl="1"/>
            <a:r>
              <a:rPr lang="en-IN" dirty="0"/>
              <a:t>int </a:t>
            </a:r>
            <a:r>
              <a:rPr lang="en-IN" dirty="0" err="1"/>
              <a:t>IndexOfValue</a:t>
            </a:r>
            <a:r>
              <a:rPr lang="en-IN" dirty="0"/>
              <a:t>(TValue):</a:t>
            </a:r>
            <a:r>
              <a:rPr lang="en-US" dirty="0"/>
              <a:t>Returns index of the specified value.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697" y="4475069"/>
            <a:ext cx="1619250" cy="18316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37819"/>
            <a:ext cx="9438716" cy="797605"/>
          </a:xfrm>
        </p:spPr>
        <p:txBody>
          <a:bodyPr>
            <a:normAutofit/>
          </a:bodyPr>
          <a:lstStyle/>
          <a:p>
            <a:r>
              <a:rPr lang="en-US" b="1" dirty="0"/>
              <a:t>Collection Hierarchy</a:t>
            </a:r>
            <a:endParaRPr lang="en-IN" dirty="0"/>
          </a:p>
        </p:txBody>
      </p:sp>
      <p:grpSp>
        <p:nvGrpSpPr>
          <p:cNvPr id="12" name="docshapegroup68"/>
          <p:cNvGrpSpPr/>
          <p:nvPr/>
        </p:nvGrpSpPr>
        <p:grpSpPr bwMode="auto">
          <a:xfrm>
            <a:off x="585901" y="1256986"/>
            <a:ext cx="3213100" cy="446088"/>
            <a:chOff x="0" y="0"/>
            <a:chExt cx="5060" cy="701"/>
          </a:xfrm>
        </p:grpSpPr>
        <p:sp>
          <p:nvSpPr>
            <p:cNvPr id="13" name="docshape69"/>
            <p:cNvSpPr/>
            <p:nvPr/>
          </p:nvSpPr>
          <p:spPr bwMode="auto">
            <a:xfrm>
              <a:off x="0" y="0"/>
              <a:ext cx="5060" cy="701"/>
            </a:xfrm>
            <a:custGeom>
              <a:avLst/>
              <a:gdLst>
                <a:gd name="T0" fmla="*/ 4942 w 5060"/>
                <a:gd name="T1" fmla="*/ 0 h 701"/>
                <a:gd name="T2" fmla="*/ 117 w 5060"/>
                <a:gd name="T3" fmla="*/ 0 h 701"/>
                <a:gd name="T4" fmla="*/ 71 w 5060"/>
                <a:gd name="T5" fmla="*/ 9 h 701"/>
                <a:gd name="T6" fmla="*/ 34 w 5060"/>
                <a:gd name="T7" fmla="*/ 34 h 701"/>
                <a:gd name="T8" fmla="*/ 9 w 5060"/>
                <a:gd name="T9" fmla="*/ 71 h 701"/>
                <a:gd name="T10" fmla="*/ 0 w 5060"/>
                <a:gd name="T11" fmla="*/ 117 h 701"/>
                <a:gd name="T12" fmla="*/ 0 w 5060"/>
                <a:gd name="T13" fmla="*/ 584 h 701"/>
                <a:gd name="T14" fmla="*/ 9 w 5060"/>
                <a:gd name="T15" fmla="*/ 629 h 701"/>
                <a:gd name="T16" fmla="*/ 34 w 5060"/>
                <a:gd name="T17" fmla="*/ 667 h 701"/>
                <a:gd name="T18" fmla="*/ 71 w 5060"/>
                <a:gd name="T19" fmla="*/ 692 h 701"/>
                <a:gd name="T20" fmla="*/ 117 w 5060"/>
                <a:gd name="T21" fmla="*/ 701 h 701"/>
                <a:gd name="T22" fmla="*/ 4942 w 5060"/>
                <a:gd name="T23" fmla="*/ 701 h 701"/>
                <a:gd name="T24" fmla="*/ 4988 w 5060"/>
                <a:gd name="T25" fmla="*/ 692 h 701"/>
                <a:gd name="T26" fmla="*/ 5025 w 5060"/>
                <a:gd name="T27" fmla="*/ 667 h 701"/>
                <a:gd name="T28" fmla="*/ 5050 w 5060"/>
                <a:gd name="T29" fmla="*/ 629 h 701"/>
                <a:gd name="T30" fmla="*/ 5059 w 5060"/>
                <a:gd name="T31" fmla="*/ 584 h 701"/>
                <a:gd name="T32" fmla="*/ 5059 w 5060"/>
                <a:gd name="T33" fmla="*/ 117 h 701"/>
                <a:gd name="T34" fmla="*/ 5050 w 5060"/>
                <a:gd name="T35" fmla="*/ 71 h 701"/>
                <a:gd name="T36" fmla="*/ 5025 w 5060"/>
                <a:gd name="T37" fmla="*/ 34 h 701"/>
                <a:gd name="T38" fmla="*/ 4988 w 5060"/>
                <a:gd name="T39" fmla="*/ 9 h 701"/>
                <a:gd name="T40" fmla="*/ 4942 w 5060"/>
                <a:gd name="T41" fmla="*/ 0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60" h="701">
                  <a:moveTo>
                    <a:pt x="4942" y="0"/>
                  </a:moveTo>
                  <a:lnTo>
                    <a:pt x="117" y="0"/>
                  </a:lnTo>
                  <a:lnTo>
                    <a:pt x="71" y="9"/>
                  </a:lnTo>
                  <a:lnTo>
                    <a:pt x="34" y="34"/>
                  </a:lnTo>
                  <a:lnTo>
                    <a:pt x="9" y="71"/>
                  </a:lnTo>
                  <a:lnTo>
                    <a:pt x="0" y="117"/>
                  </a:lnTo>
                  <a:lnTo>
                    <a:pt x="0" y="584"/>
                  </a:lnTo>
                  <a:lnTo>
                    <a:pt x="9" y="629"/>
                  </a:lnTo>
                  <a:lnTo>
                    <a:pt x="34" y="667"/>
                  </a:lnTo>
                  <a:lnTo>
                    <a:pt x="71" y="692"/>
                  </a:lnTo>
                  <a:lnTo>
                    <a:pt x="117" y="701"/>
                  </a:lnTo>
                  <a:lnTo>
                    <a:pt x="4942" y="701"/>
                  </a:lnTo>
                  <a:lnTo>
                    <a:pt x="4988" y="692"/>
                  </a:lnTo>
                  <a:lnTo>
                    <a:pt x="5025" y="667"/>
                  </a:lnTo>
                  <a:lnTo>
                    <a:pt x="5050" y="629"/>
                  </a:lnTo>
                  <a:lnTo>
                    <a:pt x="5059" y="584"/>
                  </a:lnTo>
                  <a:lnTo>
                    <a:pt x="5059" y="117"/>
                  </a:lnTo>
                  <a:lnTo>
                    <a:pt x="5050" y="71"/>
                  </a:lnTo>
                  <a:lnTo>
                    <a:pt x="5025" y="34"/>
                  </a:lnTo>
                  <a:lnTo>
                    <a:pt x="4988" y="9"/>
                  </a:lnTo>
                  <a:lnTo>
                    <a:pt x="4942" y="0"/>
                  </a:lnTo>
                  <a:close/>
                </a:path>
              </a:pathLst>
            </a:custGeom>
            <a:solidFill>
              <a:srgbClr val="A6B7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/>
            </a:p>
          </p:txBody>
        </p:sp>
        <p:sp>
          <p:nvSpPr>
            <p:cNvPr id="14" name="docshape70"/>
            <p:cNvSpPr txBox="1">
              <a:spLocks noChangeArrowheads="1"/>
            </p:cNvSpPr>
            <p:nvPr/>
          </p:nvSpPr>
          <p:spPr bwMode="auto">
            <a:xfrm>
              <a:off x="0" y="0"/>
              <a:ext cx="5060" cy="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515"/>
                </a:spcBef>
                <a:spcAft>
                  <a:spcPts val="800"/>
                </a:spcAft>
                <a:buClrTx/>
                <a:buSzTx/>
                <a:buFontTx/>
                <a:buNone/>
              </a:pPr>
              <a:r>
                <a:rPr kumimoji="0" lang="en-IN" altLang="en-US" sz="18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Calibri" panose="020F0502020204030204" pitchFamily="34" charset="0"/>
                </a:rPr>
                <a:t>interface IEnumerator&lt;T&gt;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349" y="1209165"/>
            <a:ext cx="3228571" cy="466667"/>
          </a:xfrm>
          <a:prstGeom prst="rect">
            <a:avLst/>
          </a:prstGeom>
        </p:spPr>
      </p:pic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4491596" y="1889914"/>
          <a:ext cx="28860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" name="Bitmap Image" r:id="rId3" imgW="2886075" imgH="552450" progId="Paint.Picture">
                  <p:embed/>
                </p:oleObj>
              </mc:Choice>
              <mc:Fallback>
                <p:oleObj name="Bitmap Image" r:id="rId3" imgW="2886075" imgH="552450" progId="Paint.Picture">
                  <p:embed/>
                  <p:pic>
                    <p:nvPicPr>
                      <p:cNvPr id="0" name="Picture 12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1596" y="1889914"/>
                        <a:ext cx="2886075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Straight Connector 24"/>
          <p:cNvCxnSpPr/>
          <p:nvPr/>
        </p:nvCxnSpPr>
        <p:spPr>
          <a:xfrm>
            <a:off x="5755341" y="2442364"/>
            <a:ext cx="0" cy="179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3361765" y="2532270"/>
            <a:ext cx="6884894" cy="89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361765" y="2622176"/>
            <a:ext cx="0" cy="255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2192451" y="2881584"/>
          <a:ext cx="27908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" name="Bitmap Image" r:id="rId5" imgW="2790825" imgH="762000" progId="Paint.Picture">
                  <p:embed/>
                </p:oleObj>
              </mc:Choice>
              <mc:Fallback>
                <p:oleObj name="Bitmap Image" r:id="rId5" imgW="2790825" imgH="762000" progId="Paint.Picture">
                  <p:embed/>
                  <p:pic>
                    <p:nvPicPr>
                      <p:cNvPr id="0" name="Picture 12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92451" y="2881584"/>
                        <a:ext cx="2790825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Straight Connector 33"/>
          <p:cNvCxnSpPr/>
          <p:nvPr/>
        </p:nvCxnSpPr>
        <p:spPr>
          <a:xfrm>
            <a:off x="3267635" y="3643584"/>
            <a:ext cx="0" cy="1484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710193" y="3792071"/>
            <a:ext cx="5065319" cy="47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53035" y="3838217"/>
            <a:ext cx="0" cy="255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Object 39"/>
          <p:cNvGraphicFramePr>
            <a:graphicFrameLocks noChangeAspect="1"/>
          </p:cNvGraphicFramePr>
          <p:nvPr/>
        </p:nvGraphicFramePr>
        <p:xfrm>
          <a:off x="353565" y="4107150"/>
          <a:ext cx="22955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" name="Bitmap Image" r:id="rId7" imgW="2295525" imgH="752475" progId="Paint.Picture">
                  <p:embed/>
                </p:oleObj>
              </mc:Choice>
              <mc:Fallback>
                <p:oleObj name="Bitmap Image" r:id="rId7" imgW="2295525" imgH="752475" progId="Paint.Picture">
                  <p:embed/>
                  <p:pic>
                    <p:nvPicPr>
                      <p:cNvPr id="0" name="Picture 12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3565" y="4107150"/>
                        <a:ext cx="2295525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Straight Connector 40"/>
          <p:cNvCxnSpPr/>
          <p:nvPr/>
        </p:nvCxnSpPr>
        <p:spPr>
          <a:xfrm>
            <a:off x="3242852" y="3792071"/>
            <a:ext cx="0" cy="255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759823" y="3792070"/>
            <a:ext cx="0" cy="255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Object 42"/>
          <p:cNvGraphicFramePr>
            <a:graphicFrameLocks noChangeAspect="1"/>
          </p:cNvGraphicFramePr>
          <p:nvPr/>
        </p:nvGraphicFramePr>
        <p:xfrm>
          <a:off x="2904004" y="4038871"/>
          <a:ext cx="16097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" name="Bitmap Image" r:id="rId9" imgW="1609725" imgH="733425" progId="Paint.Picture">
                  <p:embed/>
                </p:oleObj>
              </mc:Choice>
              <mc:Fallback>
                <p:oleObj name="Bitmap Image" r:id="rId9" imgW="1609725" imgH="733425" progId="Paint.Picture">
                  <p:embed/>
                  <p:pic>
                    <p:nvPicPr>
                      <p:cNvPr id="0" name="Picture 129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04004" y="4038871"/>
                        <a:ext cx="1609725" cy="733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/>
          <p:cNvGraphicFramePr>
            <a:graphicFrameLocks noChangeAspect="1"/>
          </p:cNvGraphicFramePr>
          <p:nvPr/>
        </p:nvGraphicFramePr>
        <p:xfrm>
          <a:off x="5107101" y="4047565"/>
          <a:ext cx="15906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" name="Bitmap Image" r:id="rId11" imgW="1590675" imgH="752475" progId="Paint.Picture">
                  <p:embed/>
                </p:oleObj>
              </mc:Choice>
              <mc:Fallback>
                <p:oleObj name="Bitmap Image" r:id="rId11" imgW="1590675" imgH="752475" progId="Paint.Picture">
                  <p:embed/>
                  <p:pic>
                    <p:nvPicPr>
                      <p:cNvPr id="0" name="Picture 129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07101" y="4047565"/>
                        <a:ext cx="1590675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4"/>
          <p:cNvGraphicFramePr>
            <a:graphicFrameLocks noChangeAspect="1"/>
          </p:cNvGraphicFramePr>
          <p:nvPr/>
        </p:nvGraphicFramePr>
        <p:xfrm>
          <a:off x="9375121" y="2758069"/>
          <a:ext cx="174307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" name="Bitmap Image" r:id="rId13" imgW="1743075" imgH="809625" progId="Paint.Picture">
                  <p:embed/>
                </p:oleObj>
              </mc:Choice>
              <mc:Fallback>
                <p:oleObj name="Bitmap Image" r:id="rId13" imgW="1743075" imgH="809625" progId="Paint.Picture">
                  <p:embed/>
                  <p:pic>
                    <p:nvPicPr>
                      <p:cNvPr id="0" name="Picture 130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375121" y="2758069"/>
                        <a:ext cx="1743075" cy="809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Straight Connector 46"/>
          <p:cNvCxnSpPr/>
          <p:nvPr/>
        </p:nvCxnSpPr>
        <p:spPr>
          <a:xfrm>
            <a:off x="10246659" y="2532270"/>
            <a:ext cx="0" cy="255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Object 47"/>
          <p:cNvGraphicFramePr>
            <a:graphicFrameLocks noChangeAspect="1"/>
          </p:cNvGraphicFramePr>
          <p:nvPr/>
        </p:nvGraphicFramePr>
        <p:xfrm>
          <a:off x="8399910" y="3376883"/>
          <a:ext cx="3438525" cy="279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" name="Bitmap Image" r:id="rId15" imgW="3438525" imgH="2790825" progId="Paint.Picture">
                  <p:embed/>
                </p:oleObj>
              </mc:Choice>
              <mc:Fallback>
                <p:oleObj name="Bitmap Image" r:id="rId15" imgW="3438525" imgH="2790825" progId="Paint.Picture">
                  <p:embed/>
                  <p:pic>
                    <p:nvPicPr>
                      <p:cNvPr id="0" name="Picture 130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99910" y="3376883"/>
                        <a:ext cx="3438525" cy="2790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Straight Connector 50"/>
          <p:cNvCxnSpPr/>
          <p:nvPr/>
        </p:nvCxnSpPr>
        <p:spPr>
          <a:xfrm>
            <a:off x="1960115" y="4800040"/>
            <a:ext cx="0" cy="3232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53565" y="5123329"/>
            <a:ext cx="62220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353565" y="5123329"/>
            <a:ext cx="0" cy="267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Object 56"/>
          <p:cNvGraphicFramePr>
            <a:graphicFrameLocks noChangeAspect="1"/>
          </p:cNvGraphicFramePr>
          <p:nvPr/>
        </p:nvGraphicFramePr>
        <p:xfrm>
          <a:off x="234502" y="5348032"/>
          <a:ext cx="12668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" name="Bitmap Image" r:id="rId17" imgW="1266825" imgH="581025" progId="Paint.Picture">
                  <p:embed/>
                </p:oleObj>
              </mc:Choice>
              <mc:Fallback>
                <p:oleObj name="Bitmap Image" r:id="rId17" imgW="1266825" imgH="581025" progId="Paint.Picture">
                  <p:embed/>
                  <p:pic>
                    <p:nvPicPr>
                      <p:cNvPr id="0" name="Picture 130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4502" y="5348032"/>
                        <a:ext cx="1266825" cy="58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9" name="Straight Connector 58"/>
          <p:cNvCxnSpPr/>
          <p:nvPr/>
        </p:nvCxnSpPr>
        <p:spPr>
          <a:xfrm>
            <a:off x="710193" y="5902163"/>
            <a:ext cx="0" cy="2386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Object 60"/>
          <p:cNvGraphicFramePr>
            <a:graphicFrameLocks noChangeAspect="1"/>
          </p:cNvGraphicFramePr>
          <p:nvPr/>
        </p:nvGraphicFramePr>
        <p:xfrm>
          <a:off x="268670" y="6148093"/>
          <a:ext cx="15049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" name="Bitmap Image" r:id="rId19" imgW="1504950" imgH="428625" progId="Paint.Picture">
                  <p:embed/>
                </p:oleObj>
              </mc:Choice>
              <mc:Fallback>
                <p:oleObj name="Bitmap Image" r:id="rId19" imgW="1504950" imgH="428625" progId="Paint.Picture">
                  <p:embed/>
                  <p:pic>
                    <p:nvPicPr>
                      <p:cNvPr id="0" name="Picture 130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8670" y="6148093"/>
                        <a:ext cx="1504950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Connector 62"/>
          <p:cNvCxnSpPr/>
          <p:nvPr/>
        </p:nvCxnSpPr>
        <p:spPr>
          <a:xfrm>
            <a:off x="2084294" y="5123329"/>
            <a:ext cx="0" cy="224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Object 68"/>
          <p:cNvGraphicFramePr>
            <a:graphicFrameLocks noChangeAspect="1"/>
          </p:cNvGraphicFramePr>
          <p:nvPr/>
        </p:nvGraphicFramePr>
        <p:xfrm>
          <a:off x="1528221" y="5293838"/>
          <a:ext cx="36957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" name="Bitmap Image" r:id="rId21" imgW="3695700" imgH="590550" progId="Paint.Picture">
                  <p:embed/>
                </p:oleObj>
              </mc:Choice>
              <mc:Fallback>
                <p:oleObj name="Bitmap Image" r:id="rId21" imgW="3695700" imgH="590550" progId="Paint.Picture">
                  <p:embed/>
                  <p:pic>
                    <p:nvPicPr>
                      <p:cNvPr id="0" name="Picture 130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28221" y="5293838"/>
                        <a:ext cx="3695700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1" name="Straight Connector 70"/>
          <p:cNvCxnSpPr/>
          <p:nvPr/>
        </p:nvCxnSpPr>
        <p:spPr>
          <a:xfrm>
            <a:off x="2649090" y="5884388"/>
            <a:ext cx="0" cy="692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2649090" y="6576718"/>
            <a:ext cx="7090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49090" y="6140814"/>
            <a:ext cx="815498" cy="26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Object 76"/>
          <p:cNvGraphicFramePr>
            <a:graphicFrameLocks noChangeAspect="1"/>
          </p:cNvGraphicFramePr>
          <p:nvPr/>
        </p:nvGraphicFramePr>
        <p:xfrm>
          <a:off x="3310487" y="5910893"/>
          <a:ext cx="36195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6" name="Bitmap Image" r:id="rId23" imgW="3619500" imgH="514350" progId="Paint.Picture">
                  <p:embed/>
                </p:oleObj>
              </mc:Choice>
              <mc:Fallback>
                <p:oleObj name="Bitmap Image" r:id="rId23" imgW="3619500" imgH="514350" progId="Paint.Picture">
                  <p:embed/>
                  <p:pic>
                    <p:nvPicPr>
                      <p:cNvPr id="0" name="Picture 130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10487" y="5910893"/>
                        <a:ext cx="36195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/>
          <p:cNvGraphicFramePr>
            <a:graphicFrameLocks noChangeAspect="1"/>
          </p:cNvGraphicFramePr>
          <p:nvPr/>
        </p:nvGraphicFramePr>
        <p:xfrm>
          <a:off x="3358112" y="6386232"/>
          <a:ext cx="35718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" name="Bitmap Image" r:id="rId25" imgW="3571875" imgH="466725" progId="Paint.Picture">
                  <p:embed/>
                </p:oleObj>
              </mc:Choice>
              <mc:Fallback>
                <p:oleObj name="Bitmap Image" r:id="rId25" imgW="3571875" imgH="466725" progId="Paint.Picture">
                  <p:embed/>
                  <p:pic>
                    <p:nvPicPr>
                      <p:cNvPr id="0" name="Picture 130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358112" y="6386232"/>
                        <a:ext cx="3571875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3" name="Straight Connector 82"/>
          <p:cNvCxnSpPr/>
          <p:nvPr/>
        </p:nvCxnSpPr>
        <p:spPr>
          <a:xfrm>
            <a:off x="6575612" y="5123329"/>
            <a:ext cx="8020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377671" y="5123329"/>
            <a:ext cx="0" cy="224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6" name="Object 85"/>
          <p:cNvGraphicFramePr>
            <a:graphicFrameLocks noChangeAspect="1"/>
          </p:cNvGraphicFramePr>
          <p:nvPr/>
        </p:nvGraphicFramePr>
        <p:xfrm>
          <a:off x="6252021" y="5268697"/>
          <a:ext cx="20002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8" name="Bitmap Image" r:id="rId27" imgW="2000250" imgH="514350" progId="Paint.Picture">
                  <p:embed/>
                </p:oleObj>
              </mc:Choice>
              <mc:Fallback>
                <p:oleObj name="Bitmap Image" r:id="rId27" imgW="2000250" imgH="514350" progId="Paint.Picture">
                  <p:embed/>
                  <p:pic>
                    <p:nvPicPr>
                      <p:cNvPr id="0" name="Picture 130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252021" y="5268697"/>
                        <a:ext cx="20002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57" y="3716709"/>
            <a:ext cx="7571428" cy="18476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37920" y="4612340"/>
            <a:ext cx="2017059" cy="416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37819"/>
            <a:ext cx="9438716" cy="797605"/>
          </a:xfrm>
        </p:spPr>
        <p:txBody>
          <a:bodyPr>
            <a:normAutofit/>
          </a:bodyPr>
          <a:lstStyle/>
          <a:p>
            <a:r>
              <a:rPr lang="en-US" b="1" dirty="0" err="1"/>
              <a:t>IEnumerable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2"/>
            <a:ext cx="11039452" cy="2000857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IEnumerable</a:t>
            </a:r>
            <a:r>
              <a:rPr lang="en-US" dirty="0"/>
              <a:t> interface represents a group of elements.</a:t>
            </a:r>
            <a:endParaRPr lang="en-US" dirty="0"/>
          </a:p>
          <a:p>
            <a:r>
              <a:rPr lang="en-US" dirty="0"/>
              <a:t>It is the parent interface of all types of collections.</a:t>
            </a:r>
            <a:endParaRPr lang="en-US" dirty="0"/>
          </a:p>
          <a:p>
            <a:r>
              <a:rPr lang="en-US" dirty="0"/>
              <a:t>It is the parent of </a:t>
            </a:r>
            <a:r>
              <a:rPr lang="en-US" dirty="0" err="1"/>
              <a:t>ICollection</a:t>
            </a:r>
            <a:r>
              <a:rPr lang="en-US" dirty="0"/>
              <a:t> interface, which is implemented by other interfaces such as </a:t>
            </a:r>
            <a:r>
              <a:rPr lang="en-US" dirty="0" err="1"/>
              <a:t>IList</a:t>
            </a:r>
            <a:r>
              <a:rPr lang="en-US" dirty="0"/>
              <a:t>, </a:t>
            </a:r>
            <a:r>
              <a:rPr lang="en-US" dirty="0" err="1"/>
              <a:t>IDictionary</a:t>
            </a:r>
            <a:r>
              <a:rPr lang="en-US" dirty="0"/>
              <a:t> etc.</a:t>
            </a:r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979024" y="4343400"/>
            <a:ext cx="275955" cy="416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37819"/>
            <a:ext cx="9438716" cy="797605"/>
          </a:xfrm>
        </p:spPr>
        <p:txBody>
          <a:bodyPr>
            <a:normAutofit/>
          </a:bodyPr>
          <a:lstStyle/>
          <a:p>
            <a:r>
              <a:rPr lang="en-US" b="1" dirty="0" err="1"/>
              <a:t>IEnumerable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86" y="1571857"/>
            <a:ext cx="7571428" cy="1857143"/>
          </a:xfrm>
          <a:prstGeom prst="rect">
            <a:avLst/>
          </a:prstGeom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88" y="3592448"/>
            <a:ext cx="7457143" cy="1571429"/>
          </a:xfrm>
          <a:prstGeom prst="rect">
            <a:avLst/>
          </a:prstGeom>
        </p:spPr>
      </p:pic>
      <p:grpSp>
        <p:nvGrpSpPr>
          <p:cNvPr id="12" name="docshapegroup22"/>
          <p:cNvGrpSpPr/>
          <p:nvPr/>
        </p:nvGrpSpPr>
        <p:grpSpPr bwMode="auto">
          <a:xfrm>
            <a:off x="481486" y="5158161"/>
            <a:ext cx="7448550" cy="1277937"/>
            <a:chOff x="3511" y="293"/>
            <a:chExt cx="11728" cy="2012"/>
          </a:xfrm>
        </p:grpSpPr>
        <p:sp>
          <p:nvSpPr>
            <p:cNvPr id="13" name="docshape23"/>
            <p:cNvSpPr>
              <a:spLocks noChangeArrowheads="1"/>
            </p:cNvSpPr>
            <p:nvPr/>
          </p:nvSpPr>
          <p:spPr bwMode="auto">
            <a:xfrm>
              <a:off x="3521" y="1125"/>
              <a:ext cx="11708" cy="1169"/>
            </a:xfrm>
            <a:prstGeom prst="rect">
              <a:avLst/>
            </a:prstGeom>
            <a:noFill/>
            <a:ln w="12700">
              <a:solidFill>
                <a:srgbClr val="418AB3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/>
            </a:p>
          </p:txBody>
        </p:sp>
        <p:sp>
          <p:nvSpPr>
            <p:cNvPr id="14" name="docshape24"/>
            <p:cNvSpPr>
              <a:spLocks noChangeArrowheads="1"/>
            </p:cNvSpPr>
            <p:nvPr/>
          </p:nvSpPr>
          <p:spPr bwMode="auto">
            <a:xfrm>
              <a:off x="3521" y="302"/>
              <a:ext cx="11708" cy="824"/>
            </a:xfrm>
            <a:prstGeom prst="rect">
              <a:avLst/>
            </a:prstGeom>
            <a:noFill/>
            <a:ln w="12700">
              <a:solidFill>
                <a:srgbClr val="A43B1A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/>
            </a:p>
          </p:txBody>
        </p:sp>
        <p:sp>
          <p:nvSpPr>
            <p:cNvPr id="15" name="docshape25"/>
            <p:cNvSpPr txBox="1">
              <a:spLocks noChangeArrowheads="1"/>
            </p:cNvSpPr>
            <p:nvPr/>
          </p:nvSpPr>
          <p:spPr bwMode="auto">
            <a:xfrm>
              <a:off x="3531" y="1135"/>
              <a:ext cx="11688" cy="1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1450"/>
                </a:spcBef>
                <a:spcAft>
                  <a:spcPts val="800"/>
                </a:spcAft>
                <a:buClrTx/>
                <a:buSzTx/>
                <a:buFontTx/>
                <a:buNone/>
              </a:pPr>
              <a:r>
                <a:rPr kumimoji="0" lang="en-IN" altLang="en-US" sz="2000" b="1" i="0" u="none" strike="noStrike" cap="none" normalizeH="0" baseline="0">
                  <a:ln>
                    <a:noFill/>
                  </a:ln>
                  <a:solidFill>
                    <a:srgbClr val="0070C0"/>
                  </a:solidFill>
                  <a:effectLst/>
                  <a:latin typeface="Leelawadee UI" panose="020B0502040204020203" pitchFamily="34" charset="-34"/>
                </a:rPr>
                <a:t>IEnumerable </a:t>
              </a:r>
              <a:r>
                <a:rPr kumimoji="0" lang="en-IN" altLang="en-US" sz="20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eelawadee UI" panose="020B0502040204020203" pitchFamily="34" charset="-34"/>
                </a:rPr>
                <a:t>referenceVariable = </a:t>
              </a:r>
              <a:r>
                <a:rPr kumimoji="0" lang="en-IN" altLang="en-US" sz="2000" b="1" i="0" u="none" strike="noStrike" cap="none" normalizeH="0" baseline="0">
                  <a:ln>
                    <a:noFill/>
                  </a:ln>
                  <a:solidFill>
                    <a:srgbClr val="3B3BFF"/>
                  </a:solidFill>
                  <a:effectLst/>
                  <a:latin typeface="Leelawadee UI" panose="020B0502040204020203" pitchFamily="34" charset="-34"/>
                </a:rPr>
                <a:t>new </a:t>
              </a:r>
              <a:r>
                <a:rPr kumimoji="0" lang="en-IN" altLang="en-US" sz="2000" b="1" i="0" u="none" strike="noStrike" cap="none" normalizeH="0" baseline="0">
                  <a:ln>
                    <a:noFill/>
                  </a:ln>
                  <a:solidFill>
                    <a:srgbClr val="0070C0"/>
                  </a:solidFill>
                  <a:effectLst/>
                  <a:latin typeface="Leelawadee UI" panose="020B0502040204020203" pitchFamily="34" charset="-34"/>
                </a:rPr>
                <a:t>ArrayList</a:t>
              </a:r>
              <a:r>
                <a:rPr kumimoji="0" lang="en-IN" altLang="en-US" sz="20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eelawadee UI" panose="020B0502040204020203" pitchFamily="34" charset="-34"/>
                </a:rPr>
                <a:t>( );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docshape26"/>
            <p:cNvSpPr txBox="1">
              <a:spLocks noChangeArrowheads="1"/>
            </p:cNvSpPr>
            <p:nvPr/>
          </p:nvSpPr>
          <p:spPr bwMode="auto">
            <a:xfrm>
              <a:off x="3521" y="302"/>
              <a:ext cx="11708" cy="824"/>
            </a:xfrm>
            <a:prstGeom prst="rect">
              <a:avLst/>
            </a:prstGeom>
            <a:solidFill>
              <a:srgbClr val="DF5327"/>
            </a:solidFill>
            <a:ln w="12700">
              <a:solidFill>
                <a:srgbClr val="A43B1A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3348355" lvl="0" indent="0" algn="ctr" defTabSz="914400" rtl="0" eaLnBrk="0" fontAlgn="base" latinLnBrk="0" hangingPunct="0">
                <a:lnSpc>
                  <a:spcPct val="100000"/>
                </a:lnSpc>
                <a:spcBef>
                  <a:spcPts val="765"/>
                </a:spcBef>
                <a:spcAft>
                  <a:spcPts val="800"/>
                </a:spcAft>
                <a:buClrTx/>
                <a:buSzTx/>
                <a:buFontTx/>
                <a:buNone/>
              </a:pPr>
              <a:r>
                <a:rPr kumimoji="0" lang="en-IN" altLang="en-US" sz="18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Calibri" panose="020F0502020204030204" pitchFamily="34" charset="0"/>
                </a:rPr>
                <a:t>System.Collections.IEnumerable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1169894" y="4701338"/>
            <a:ext cx="2070847" cy="193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169894" y="4960087"/>
            <a:ext cx="2070847" cy="193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37819"/>
            <a:ext cx="9438716" cy="797605"/>
          </a:xfrm>
        </p:spPr>
        <p:txBody>
          <a:bodyPr>
            <a:normAutofit/>
          </a:bodyPr>
          <a:lstStyle/>
          <a:p>
            <a:r>
              <a:rPr lang="en-US" b="1" dirty="0" err="1"/>
              <a:t>IEnumerator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1"/>
            <a:ext cx="11039452" cy="4851635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IEnumerator</a:t>
            </a:r>
            <a:r>
              <a:rPr lang="en-US" dirty="0"/>
              <a:t> interface is meant for </a:t>
            </a:r>
            <a:r>
              <a:rPr lang="en-US" dirty="0" err="1"/>
              <a:t>readonly</a:t>
            </a:r>
            <a:r>
              <a:rPr lang="en-US" dirty="0"/>
              <a:t> and sequential navigation of group of elements.</a:t>
            </a:r>
            <a:endParaRPr lang="en-US" dirty="0"/>
          </a:p>
          <a:p>
            <a:r>
              <a:rPr lang="en-US" dirty="0" err="1"/>
              <a:t>IEnumerator</a:t>
            </a:r>
            <a:r>
              <a:rPr lang="en-US" dirty="0"/>
              <a:t> is used by foreach loop internally.</a:t>
            </a:r>
            <a:endParaRPr lang="en-US" dirty="0"/>
          </a:p>
          <a:p>
            <a:r>
              <a:rPr lang="en-US" dirty="0" err="1"/>
              <a:t>IEnumerable</a:t>
            </a:r>
            <a:r>
              <a:rPr lang="en-US" dirty="0"/>
              <a:t> interface has a method	called	</a:t>
            </a:r>
            <a:r>
              <a:rPr lang="en-US" dirty="0" err="1"/>
              <a:t>GetEnumerator</a:t>
            </a:r>
            <a:r>
              <a:rPr lang="en-US" dirty="0"/>
              <a:t> that returns an instance of </a:t>
            </a:r>
            <a:r>
              <a:rPr lang="en-US" dirty="0" err="1"/>
              <a:t>IEnumerator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 err="1"/>
              <a:t>IEnumerator</a:t>
            </a:r>
            <a:r>
              <a:rPr lang="en-US" dirty="0"/>
              <a:t> by default starts with first element; </a:t>
            </a:r>
            <a:r>
              <a:rPr lang="en-US" dirty="0" err="1"/>
              <a:t>MoveNext</a:t>
            </a:r>
            <a:r>
              <a:rPr lang="en-US" dirty="0"/>
              <a:t>( ) method reads the next element; and the "Current" property returns the current element based on the current position.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37819"/>
            <a:ext cx="9438716" cy="797605"/>
          </a:xfrm>
        </p:spPr>
        <p:txBody>
          <a:bodyPr>
            <a:normAutofit/>
          </a:bodyPr>
          <a:lstStyle/>
          <a:p>
            <a:r>
              <a:rPr lang="en-US" b="1" dirty="0" err="1"/>
              <a:t>IEnumerator</a:t>
            </a:r>
            <a:endParaRPr lang="en-IN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87" y="3459928"/>
            <a:ext cx="4402308" cy="3059644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04099" y="1181150"/>
            <a:ext cx="9167160" cy="54007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		</a:t>
            </a:r>
            <a:r>
              <a:rPr lang="en-US" dirty="0" err="1"/>
              <a:t>System.Collections.Generic.IEnumerator</a:t>
            </a:r>
            <a:r>
              <a:rPr lang="en-US" dirty="0"/>
              <a:t>&lt;T&gt;</a:t>
            </a:r>
            <a:endParaRPr lang="en-IN" dirty="0"/>
          </a:p>
        </p:txBody>
      </p:sp>
      <p:sp>
        <p:nvSpPr>
          <p:cNvPr id="33" name="docshape35"/>
          <p:cNvSpPr txBox="1">
            <a:spLocks noChangeArrowheads="1"/>
          </p:cNvSpPr>
          <p:nvPr/>
        </p:nvSpPr>
        <p:spPr bwMode="auto">
          <a:xfrm>
            <a:off x="504098" y="1721224"/>
            <a:ext cx="9137650" cy="1519517"/>
          </a:xfrm>
          <a:prstGeom prst="rect">
            <a:avLst/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644525">
              <a:lnSpc>
                <a:spcPts val="2530"/>
              </a:lnSpc>
              <a:spcBef>
                <a:spcPts val="2235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00FF"/>
                </a:solidFill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  <a:r>
              <a:rPr lang="en-US" sz="2000" b="1" spc="-25" dirty="0">
                <a:solidFill>
                  <a:srgbClr val="0000FF"/>
                </a:solidFill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interface </a:t>
            </a:r>
            <a:r>
              <a:rPr lang="en-US" sz="2000" b="1" dirty="0" err="1">
                <a:solidFill>
                  <a:srgbClr val="2B91AF"/>
                </a:solidFill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IEnumerator</a:t>
            </a:r>
            <a:r>
              <a:rPr lang="en-US" sz="2000" b="1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lang="en-US" sz="2000" b="1" spc="10" dirty="0">
                <a:solidFill>
                  <a:srgbClr val="0000FF"/>
                </a:solidFill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rgbClr val="2B91AF"/>
                </a:solidFill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="1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sz="2000" b="1" spc="-15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000" b="1" spc="-5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IDisposable</a:t>
            </a:r>
            <a:r>
              <a:rPr lang="en-US" sz="2000" b="1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000" b="1" spc="-40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IEnumerator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44525">
              <a:lnSpc>
                <a:spcPts val="2400"/>
              </a:lnSpc>
              <a:spcAft>
                <a:spcPts val="0"/>
              </a:spcAft>
            </a:pPr>
            <a:r>
              <a:rPr lang="en-US" sz="2000" b="1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93775">
              <a:lnSpc>
                <a:spcPts val="2400"/>
              </a:lnSpc>
              <a:spcAft>
                <a:spcPts val="0"/>
              </a:spcAft>
            </a:pPr>
            <a:r>
              <a:rPr lang="en-US" sz="2000" b="1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="1" spc="-5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Current</a:t>
            </a:r>
            <a:r>
              <a:rPr lang="en-US" sz="2000" b="1" spc="20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n-US" sz="2000" b="1" spc="-10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get</a:t>
            </a:r>
            <a:r>
              <a:rPr lang="en-US" sz="2000" b="1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r>
              <a:rPr lang="en-US" sz="2000" b="1" spc="-5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44525">
              <a:lnSpc>
                <a:spcPts val="2530"/>
              </a:lnSpc>
              <a:spcAft>
                <a:spcPts val="0"/>
              </a:spcAft>
            </a:pPr>
            <a:r>
              <a:rPr lang="en-US" sz="2000" b="1" dirty="0">
                <a:effectLst/>
                <a:latin typeface="Leelawadee UI" panose="020B0502040204020203" pitchFamily="34" charset="-34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106271" y="4087906"/>
            <a:ext cx="2250141" cy="309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697" y="4475069"/>
            <a:ext cx="1619250" cy="18316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37819"/>
            <a:ext cx="9438716" cy="797605"/>
          </a:xfrm>
        </p:spPr>
        <p:txBody>
          <a:bodyPr>
            <a:normAutofit/>
          </a:bodyPr>
          <a:lstStyle/>
          <a:p>
            <a:r>
              <a:rPr lang="en-US" b="1" dirty="0" err="1"/>
              <a:t>IComparable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2"/>
            <a:ext cx="11039452" cy="298249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	</a:t>
            </a:r>
            <a:r>
              <a:rPr lang="en-US" dirty="0" err="1"/>
              <a:t>System.Icomparable</a:t>
            </a:r>
            <a:r>
              <a:rPr lang="en-US" dirty="0"/>
              <a:t> interface has a method called "</a:t>
            </a:r>
            <a:r>
              <a:rPr lang="en-US" dirty="0" err="1"/>
              <a:t>CompareTo</a:t>
            </a:r>
            <a:r>
              <a:rPr lang="en-US" dirty="0"/>
              <a:t>",which determines order of two objects i.e. current object and parameter object.</a:t>
            </a:r>
            <a:endParaRPr lang="en-IN" dirty="0"/>
          </a:p>
          <a:p>
            <a:r>
              <a:rPr lang="en-US" dirty="0"/>
              <a:t>It can be implemented in the class to make the objects sortable.</a:t>
            </a:r>
            <a:endParaRPr lang="en-IN" dirty="0"/>
          </a:p>
          <a:p>
            <a:r>
              <a:rPr lang="en-US" dirty="0"/>
              <a:t>It is useful to invoke </a:t>
            </a:r>
            <a:r>
              <a:rPr lang="en-US" dirty="0" err="1"/>
              <a:t>List.Sort</a:t>
            </a:r>
            <a:r>
              <a:rPr lang="en-US" dirty="0"/>
              <a:t> method to sort the collection of objects.</a:t>
            </a:r>
            <a:endParaRPr lang="en-US" dirty="0"/>
          </a:p>
          <a:p>
            <a:r>
              <a:rPr lang="en-US" dirty="0"/>
              <a:t>Return Value of </a:t>
            </a:r>
            <a:r>
              <a:rPr lang="en-US" dirty="0" err="1"/>
              <a:t>ComapreTo</a:t>
            </a:r>
            <a:r>
              <a:rPr lang="en-US" dirty="0"/>
              <a:t> Method:</a:t>
            </a:r>
            <a:endParaRPr lang="en-US" dirty="0"/>
          </a:p>
          <a:p>
            <a:r>
              <a:rPr lang="en-US" dirty="0"/>
              <a:t> 0 :   "this" object and parameter object occur in the same position(unchanged)</a:t>
            </a:r>
            <a:endParaRPr lang="en-US" dirty="0"/>
          </a:p>
          <a:p>
            <a:r>
              <a:rPr lang="en-US" dirty="0"/>
              <a:t>&lt;0: "this" object comes first; parameter object comes next.</a:t>
            </a:r>
            <a:endParaRPr lang="en-US" dirty="0"/>
          </a:p>
          <a:p>
            <a:r>
              <a:rPr lang="en-US" dirty="0"/>
              <a:t>&gt;0:  parameter object comes first; "this" object comes next.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88" y="4475069"/>
            <a:ext cx="5323809" cy="21451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57447" y="4475069"/>
            <a:ext cx="2339788" cy="1724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</Template>
  <TotalTime>0</TotalTime>
  <Words>6343</Words>
  <Application>WPS Presentation</Application>
  <PresentationFormat>Widescreen</PresentationFormat>
  <Paragraphs>287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19</vt:i4>
      </vt:variant>
    </vt:vector>
  </HeadingPairs>
  <TitlesOfParts>
    <vt:vector size="44" baseType="lpstr">
      <vt:lpstr>Arial</vt:lpstr>
      <vt:lpstr>SimSun</vt:lpstr>
      <vt:lpstr>Wingdings</vt:lpstr>
      <vt:lpstr>Segoe UI</vt:lpstr>
      <vt:lpstr>Trebuchet MS</vt:lpstr>
      <vt:lpstr>Calibri</vt:lpstr>
      <vt:lpstr>Calibri</vt:lpstr>
      <vt:lpstr>Leelawadee UI</vt:lpstr>
      <vt:lpstr>Microsoft YaHei</vt:lpstr>
      <vt:lpstr>Arial Unicode MS</vt:lpstr>
      <vt:lpstr>Calibri Light</vt:lpstr>
      <vt:lpstr>2018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Collections</vt:lpstr>
      <vt:lpstr>Introducing Collection</vt:lpstr>
      <vt:lpstr>Understanding Collections</vt:lpstr>
      <vt:lpstr>List Collection</vt:lpstr>
      <vt:lpstr>	 List </vt:lpstr>
      <vt:lpstr>Properties &amp; Methods of List Class</vt:lpstr>
      <vt:lpstr>Properties &amp; Methods of List Class</vt:lpstr>
      <vt:lpstr>Dictionary</vt:lpstr>
      <vt:lpstr>Dictionary</vt:lpstr>
      <vt:lpstr>Properties &amp; Methods of Dictionary Class</vt:lpstr>
      <vt:lpstr>SortedList</vt:lpstr>
      <vt:lpstr>SortedList</vt:lpstr>
      <vt:lpstr>Properties &amp; Methods of SortedList Class</vt:lpstr>
      <vt:lpstr>Collection Hierarchy</vt:lpstr>
      <vt:lpstr>IEnumerable</vt:lpstr>
      <vt:lpstr>IEnumerable</vt:lpstr>
      <vt:lpstr>IEnumerator</vt:lpstr>
      <vt:lpstr>IEnumerator</vt:lpstr>
      <vt:lpstr>IComparable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Campaign</dc:title>
  <dc:creator>Manish Corriea</dc:creator>
  <cp:lastModifiedBy>Sunita.Jain</cp:lastModifiedBy>
  <cp:revision>95</cp:revision>
  <dcterms:created xsi:type="dcterms:W3CDTF">2019-03-07T07:10:00Z</dcterms:created>
  <dcterms:modified xsi:type="dcterms:W3CDTF">2023-01-17T04:44:36Z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AE38B1B9998249589BB9516048764010</vt:lpwstr>
  </property>
  <property fmtid="{D5CDD505-2E9C-101B-9397-08002B2CF9AE}" pid="3" name="KSOProductBuildVer">
    <vt:lpwstr>1033-11.2.0.11440</vt:lpwstr>
  </property>
</Properties>
</file>
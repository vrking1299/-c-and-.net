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803F8-D6BB-4D68-AE4E-D20F71DF4514}">
          <p14:sldIdLst>
            <p14:sldId id="256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724" y="5082520"/>
            <a:ext cx="1724772" cy="49638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516" y="4978669"/>
            <a:ext cx="2166937" cy="704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/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/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11120719" cy="501705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35442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060" y="2655889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26154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26154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26154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226154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Delegates and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Sunita Jain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95251" y="4576880"/>
            <a:ext cx="5167745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Delegates are like function pointers in “C”, but are type safe.</a:t>
            </a:r>
            <a:endParaRPr lang="en-US" dirty="0"/>
          </a:p>
          <a:p>
            <a:r>
              <a:rPr lang="en-US" dirty="0"/>
              <a:t>A delegate is a type safe function pointer that holds the reference to a method. </a:t>
            </a:r>
            <a:endParaRPr lang="en-US" dirty="0"/>
          </a:p>
          <a:p>
            <a:r>
              <a:rPr lang="en-US" dirty="0"/>
              <a:t>Delegates can have reference to a method having same signature as specified in Delegate declaration.</a:t>
            </a:r>
            <a:endParaRPr lang="en-US" dirty="0"/>
          </a:p>
          <a:p>
            <a:r>
              <a:rPr lang="en-US" dirty="0"/>
              <a:t>Delegates are used for callback implementation.</a:t>
            </a:r>
            <a:endParaRPr lang="en-US" dirty="0"/>
          </a:p>
          <a:p>
            <a:r>
              <a:rPr lang="en-US" dirty="0"/>
              <a:t>"Delegate type" is a "type" that represents methods that have specific parameters and return type.</a:t>
            </a:r>
            <a:endParaRPr lang="en-US" dirty="0"/>
          </a:p>
          <a:p>
            <a:r>
              <a:rPr lang="en-US" dirty="0"/>
              <a:t>The "delegate" is an object that stores reference (address) of a specific method of a specific class, with compatible parameters and return type, which is already defined in the delegate type.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Delegate Type</a:t>
            </a:r>
            <a:endParaRPr lang="en-IN" dirty="0"/>
          </a:p>
          <a:p>
            <a:pPr lvl="1"/>
            <a:r>
              <a:rPr lang="en-IN" dirty="0"/>
              <a:t>public delegate </a:t>
            </a:r>
            <a:r>
              <a:rPr lang="en-IN" dirty="0" err="1"/>
              <a:t>ReturnType</a:t>
            </a:r>
            <a:r>
              <a:rPr lang="en-IN" dirty="0"/>
              <a:t> </a:t>
            </a:r>
            <a:r>
              <a:rPr lang="en-IN" dirty="0" err="1"/>
              <a:t>DelegateTypeName</a:t>
            </a:r>
            <a:r>
              <a:rPr lang="en-IN" dirty="0"/>
              <a:t>(param1, param2, …);</a:t>
            </a:r>
            <a:endParaRPr lang="en-IN" dirty="0"/>
          </a:p>
          <a:p>
            <a:r>
              <a:rPr lang="en-IN" dirty="0"/>
              <a:t>Creating Delegate Object</a:t>
            </a:r>
            <a:endParaRPr lang="en-IN" dirty="0"/>
          </a:p>
          <a:p>
            <a:pPr lvl="1"/>
            <a:r>
              <a:rPr lang="en-US" dirty="0" err="1"/>
              <a:t>DelegateTypeName</a:t>
            </a:r>
            <a:r>
              <a:rPr lang="en-US" dirty="0"/>
              <a:t> </a:t>
            </a:r>
            <a:r>
              <a:rPr lang="en-US" dirty="0" err="1"/>
              <a:t>ReferenceVariable</a:t>
            </a:r>
            <a:r>
              <a:rPr lang="en-US" dirty="0"/>
              <a:t> = new </a:t>
            </a:r>
            <a:r>
              <a:rPr lang="en-US" dirty="0" err="1"/>
              <a:t>DelegateTypeName</a:t>
            </a:r>
            <a:r>
              <a:rPr lang="en-US" dirty="0"/>
              <a:t> (</a:t>
            </a:r>
            <a:r>
              <a:rPr lang="en-US" dirty="0" err="1"/>
              <a:t>MethodName</a:t>
            </a:r>
            <a:r>
              <a:rPr lang="en-US" dirty="0"/>
              <a:t>); </a:t>
            </a:r>
            <a:endParaRPr lang="en-US" dirty="0"/>
          </a:p>
          <a:p>
            <a:r>
              <a:rPr lang="en-US" dirty="0"/>
              <a:t>Invoke Method using Delegate Object</a:t>
            </a:r>
            <a:endParaRPr lang="en-US" dirty="0"/>
          </a:p>
          <a:p>
            <a:pPr lvl="1"/>
            <a:r>
              <a:rPr lang="en-IN" dirty="0" err="1"/>
              <a:t>ReferenceVariable.Invoke</a:t>
            </a:r>
            <a:r>
              <a:rPr lang="en-IN" dirty="0"/>
              <a:t>( arg1, arg2, … ); 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Delegates</a:t>
            </a:r>
            <a:endParaRPr lang="en-IN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498475" y="1945640"/>
          <a:ext cx="11039474" cy="2643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737"/>
                <a:gridCol w="5519737"/>
              </a:tblGrid>
              <a:tr h="66098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Single-Cast Delegates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Multi-Cast Delegates</a:t>
                      </a:r>
                      <a:endParaRPr lang="en-IN" dirty="0"/>
                    </a:p>
                  </a:txBody>
                  <a:tcPr/>
                </a:tc>
              </a:tr>
              <a:tr h="660986">
                <a:tc>
                  <a:txBody>
                    <a:bodyPr/>
                    <a:lstStyle/>
                    <a:p>
                      <a:r>
                        <a:rPr lang="en-US" dirty="0"/>
                        <a:t>Contains reference of only one method.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Contains references of multiple methods</a:t>
                      </a:r>
                      <a:endParaRPr lang="en-IN" dirty="0"/>
                    </a:p>
                  </a:txBody>
                  <a:tcPr/>
                </a:tc>
              </a:tr>
              <a:tr h="660986">
                <a:tc>
                  <a:txBody>
                    <a:bodyPr/>
                    <a:lstStyle/>
                    <a:p>
                      <a:r>
                        <a:rPr lang="en-US" dirty="0"/>
                        <a:t>When called, it directly invokes the referenced method.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called, it invokes all the referenced methods, one-by-one in a sequence.</a:t>
                      </a:r>
                      <a:endParaRPr lang="en-IN" dirty="0"/>
                    </a:p>
                  </a:txBody>
                  <a:tcPr/>
                </a:tc>
              </a:tr>
              <a:tr h="66098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methods' parameters and return type should be same.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is a multi-cast delegate that stores one or more methods; and invoke them every time when the event is raised (called).</a:t>
            </a:r>
            <a:endParaRPr lang="en-US" dirty="0"/>
          </a:p>
          <a:p>
            <a:r>
              <a:rPr lang="en-US" dirty="0"/>
              <a:t>The event can be raised only in the same class, in which it is created.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824" y="2658837"/>
            <a:ext cx="10707158" cy="3319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Publisher vs Subscriber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40" y="3754120"/>
            <a:ext cx="11099165" cy="2446655"/>
          </a:xfrm>
        </p:spPr>
        <p:txBody>
          <a:bodyPr>
            <a:normAutofit/>
          </a:bodyPr>
          <a:lstStyle/>
          <a:p>
            <a:r>
              <a:rPr lang="en-US" dirty="0"/>
              <a:t>The class that sends (or raises) events      The class that receive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(notifications), is called as "publisher          (or subscribe or handles) events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class".						      (notifications), is called as </a:t>
            </a:r>
            <a:endParaRPr lang="en-IN" dirty="0"/>
          </a:p>
          <a:p>
            <a:r>
              <a:rPr lang="en-US" dirty="0"/>
              <a:t>Publisher class sends events; then	      “Subscribe” class.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Subscriber class receives events.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601" y="879186"/>
            <a:ext cx="8929192" cy="276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Events enable a class to send notifications to other classes, when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something occurs</a:t>
            </a:r>
            <a:endParaRPr lang="en-IN" dirty="0"/>
          </a:p>
          <a:p>
            <a:r>
              <a:rPr lang="en-US" dirty="0"/>
              <a:t>Publisher class sends events; Subscriber class receives events.</a:t>
            </a:r>
            <a:endParaRPr lang="en-US" dirty="0"/>
          </a:p>
          <a:p>
            <a:r>
              <a:rPr lang="en-US" dirty="0"/>
              <a:t>Process flow of Events:</a:t>
            </a:r>
            <a:endParaRPr lang="en-US" dirty="0"/>
          </a:p>
          <a:p>
            <a:pPr lvl="1"/>
            <a:r>
              <a:rPr lang="en-US" dirty="0"/>
              <a:t>The Publisher class creates an event.</a:t>
            </a:r>
            <a:endParaRPr lang="en-US" dirty="0"/>
          </a:p>
          <a:p>
            <a:pPr lvl="1"/>
            <a:r>
              <a:rPr lang="en-US" dirty="0"/>
              <a:t>The Subscriber class subscribes to the event; that means an "event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handler" method is created in the subscriber class. The "event handler"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method is nothing but, the method which is dedicated to be executed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when the event is raised</a:t>
            </a:r>
            <a:endParaRPr lang="en-US" dirty="0"/>
          </a:p>
          <a:p>
            <a:pPr lvl="1"/>
            <a:r>
              <a:rPr lang="en-US" dirty="0"/>
              <a:t>The publisher class can send (raise) events.</a:t>
            </a:r>
            <a:endParaRPr lang="en-US" dirty="0"/>
          </a:p>
          <a:p>
            <a:pPr lvl="1"/>
            <a:r>
              <a:rPr lang="en-US" dirty="0"/>
              <a:t>Every time, when the event is raised by the publisher, the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corresponding "event handler" method executes automatically.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5" y="1253331"/>
            <a:ext cx="11147028" cy="49457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event should be created based on the delegate. That means, the event accepts the methods that are having specific parameters and return type, defined </a:t>
            </a:r>
            <a:r>
              <a:rPr lang="en-IN" dirty="0"/>
              <a:t>in the delegate.</a:t>
            </a:r>
            <a:endParaRPr lang="en-IN" dirty="0"/>
          </a:p>
          <a:p>
            <a:r>
              <a:rPr lang="en-US" dirty="0"/>
              <a:t>An event can have multiple subscribers.</a:t>
            </a:r>
            <a:endParaRPr lang="en-US" dirty="0"/>
          </a:p>
          <a:p>
            <a:r>
              <a:rPr lang="en-US" dirty="0"/>
              <a:t>A subscriber can subscribe multiple events from multiple publishers.</a:t>
            </a:r>
            <a:endParaRPr lang="en-US" dirty="0"/>
          </a:p>
          <a:p>
            <a:r>
              <a:rPr lang="en-US" dirty="0"/>
              <a:t>Events are basically signals to inform to other classes, that some important thing happened in the publisher class.</a:t>
            </a:r>
            <a:endParaRPr lang="en-US" dirty="0"/>
          </a:p>
          <a:p>
            <a:r>
              <a:rPr lang="en-US" dirty="0"/>
              <a:t>Events are special kind of "multi-cast delegates", which can be raised only within the same class, in which they are created.</a:t>
            </a:r>
            <a:endParaRPr lang="en-US" dirty="0"/>
          </a:p>
          <a:p>
            <a:r>
              <a:rPr lang="en-US" dirty="0"/>
              <a:t>Events can be static, virtual, sealed and abstract.</a:t>
            </a:r>
            <a:endParaRPr lang="en-US" dirty="0"/>
          </a:p>
          <a:p>
            <a:r>
              <a:rPr lang="en-US" dirty="0"/>
              <a:t>Events will not be raised (throws exception), if there is no at least one subscriber.</a:t>
            </a:r>
            <a:endParaRPr lang="en-US" dirty="0"/>
          </a:p>
          <a:p>
            <a:r>
              <a:rPr lang="en-US" dirty="0"/>
              <a:t>Events can be defined in interfaces.</a:t>
            </a:r>
            <a:endParaRPr lang="en-US" dirty="0"/>
          </a:p>
          <a:p>
            <a:r>
              <a:rPr lang="en-US" dirty="0"/>
              <a:t>It's not a good idea to return value in events.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Anonymous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0"/>
            <a:ext cx="11160475" cy="5039893"/>
          </a:xfrm>
        </p:spPr>
        <p:txBody>
          <a:bodyPr>
            <a:normAutofit/>
          </a:bodyPr>
          <a:lstStyle/>
          <a:p>
            <a:r>
              <a:rPr lang="en-US" dirty="0"/>
              <a:t>Anonymous methods are "name-less methods", that can be invoked by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using the delegate variable or an event.</a:t>
            </a:r>
            <a:endParaRPr lang="en-US" dirty="0"/>
          </a:p>
          <a:p>
            <a:r>
              <a:rPr lang="en-US" dirty="0"/>
              <a:t>Subscribe to Event with Anonymous Method</a:t>
            </a:r>
            <a:endParaRPr lang="en-US" dirty="0"/>
          </a:p>
          <a:p>
            <a:pPr marL="457200" lvl="1" indent="0">
              <a:buNone/>
            </a:pPr>
            <a:r>
              <a:rPr lang="en-IN" dirty="0" err="1"/>
              <a:t>EventName</a:t>
            </a:r>
            <a:r>
              <a:rPr lang="en-IN" dirty="0"/>
              <a:t> += delegate(param1, param2, …)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{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//method body here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}</a:t>
            </a:r>
            <a:endParaRPr lang="en-IN" dirty="0"/>
          </a:p>
          <a:p>
            <a:r>
              <a:rPr lang="en-US" dirty="0"/>
              <a:t>Anonymous methods can be used anywhere within the method, to create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methods instantly, without define a method at the class level.</a:t>
            </a:r>
            <a:endParaRPr lang="en-US" dirty="0"/>
          </a:p>
          <a:p>
            <a:r>
              <a:rPr lang="en-US" dirty="0"/>
              <a:t>Advantage: We need not create a "named method (normal method)" to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quickly handle an event.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can't be called without a delegate or event.</a:t>
            </a:r>
            <a:endParaRPr lang="en-US" dirty="0"/>
          </a:p>
          <a:p>
            <a:r>
              <a:rPr lang="en-US" dirty="0"/>
              <a:t>It can't contain jump statements like </a:t>
            </a:r>
            <a:r>
              <a:rPr lang="en-US" dirty="0" err="1"/>
              <a:t>goto</a:t>
            </a:r>
            <a:r>
              <a:rPr lang="en-US" dirty="0"/>
              <a:t>, break, continue.</a:t>
            </a:r>
            <a:endParaRPr lang="en-US" dirty="0"/>
          </a:p>
          <a:p>
            <a:r>
              <a:rPr lang="en-US" dirty="0"/>
              <a:t>It can access local variables and parameters of outer method.</a:t>
            </a:r>
            <a:endParaRPr lang="en-US" dirty="0"/>
          </a:p>
          <a:p>
            <a:r>
              <a:rPr lang="en-US" dirty="0"/>
              <a:t>It can be passed as a parameter to any method; in this case, the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delegate acts as data type for the anonymous method.</a:t>
            </a:r>
            <a:endParaRPr lang="en-US" dirty="0"/>
          </a:p>
          <a:p>
            <a:r>
              <a:rPr lang="en-US" dirty="0"/>
              <a:t>It can't access ref or out parameter of an outer method.</a:t>
            </a:r>
            <a:endParaRPr lang="en-US" dirty="0"/>
          </a:p>
          <a:p>
            <a:r>
              <a:rPr lang="en-US" dirty="0"/>
              <a:t>It is mainly used for event handlers.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"Lambda Expressions" are "name-less methods", that can be invoked by using the delegate variable or an event, much like anonymous methods.</a:t>
            </a:r>
            <a:endParaRPr lang="en-US" dirty="0"/>
          </a:p>
          <a:p>
            <a:r>
              <a:rPr lang="en-US" dirty="0"/>
              <a:t>Handle Event with Lambda Expressions</a:t>
            </a:r>
            <a:endParaRPr lang="en-US" dirty="0"/>
          </a:p>
          <a:p>
            <a:pPr lvl="1"/>
            <a:r>
              <a:rPr lang="en-US" dirty="0" err="1"/>
              <a:t>EventName</a:t>
            </a:r>
            <a:r>
              <a:rPr lang="en-US" dirty="0"/>
              <a:t> += (param1, param2, …) =&gt; { //method body here }</a:t>
            </a:r>
            <a:endParaRPr lang="en-US" dirty="0"/>
          </a:p>
          <a:p>
            <a:r>
              <a:rPr lang="en-US" dirty="0"/>
              <a:t>Lambda Expressions can be used anywhere within the method, to create methods instantly, without define a method at the class level.</a:t>
            </a:r>
            <a:endParaRPr lang="en-US" dirty="0"/>
          </a:p>
          <a:p>
            <a:r>
              <a:rPr lang="en-US" dirty="0"/>
              <a:t>Advantage: It provides more easier and convenient syntax than "Anonymous methods".</a:t>
            </a:r>
            <a:endParaRPr lang="en-US" dirty="0"/>
          </a:p>
          <a:p>
            <a:r>
              <a:rPr lang="en-US" dirty="0"/>
              <a:t>=&gt; operator is called as "goes to" or "goes into" operator.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Inline Lambda Expressions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"Inline Lambda Expressions" are the lambda expressions, which performs a small calculation or condition check and returns a value.</a:t>
            </a:r>
            <a:endParaRPr lang="en-US" dirty="0"/>
          </a:p>
          <a:p>
            <a:r>
              <a:rPr lang="en-US" dirty="0"/>
              <a:t>Inline lambdas can receive one or more arguments and must return a value.</a:t>
            </a:r>
            <a:endParaRPr lang="en-US" dirty="0"/>
          </a:p>
          <a:p>
            <a:r>
              <a:rPr lang="en-US" dirty="0"/>
              <a:t>Advantage: It provides more easier and convenient syntax to create smaller methods that performs a single calculation or condition check</a:t>
            </a:r>
            <a:endParaRPr lang="en-US" dirty="0"/>
          </a:p>
          <a:p>
            <a:r>
              <a:rPr lang="en-US" dirty="0"/>
              <a:t>Handle Event with Inline Lambda Expressions</a:t>
            </a:r>
            <a:endParaRPr lang="en-US" dirty="0"/>
          </a:p>
          <a:p>
            <a:pPr lvl="1"/>
            <a:r>
              <a:rPr lang="en-IN" dirty="0" err="1"/>
              <a:t>EventName</a:t>
            </a:r>
            <a:r>
              <a:rPr lang="en-IN" dirty="0"/>
              <a:t> += (param1, param2, …) =&gt; condition or calculation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Func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</a:t>
            </a:r>
            <a:r>
              <a:rPr lang="en-US" dirty="0" err="1"/>
              <a:t>Func</a:t>
            </a:r>
            <a:r>
              <a:rPr lang="en-US" dirty="0"/>
              <a:t>" is a pre-defined generic-delegate, which can be used to create</a:t>
            </a:r>
            <a:endParaRPr lang="en-US" dirty="0"/>
          </a:p>
          <a:p>
            <a:r>
              <a:rPr lang="en-IN" dirty="0"/>
              <a:t>events quickly.</a:t>
            </a:r>
            <a:endParaRPr lang="en-IN" dirty="0"/>
          </a:p>
          <a:p>
            <a:r>
              <a:rPr lang="en-US" dirty="0" err="1"/>
              <a:t>Func</a:t>
            </a:r>
            <a:r>
              <a:rPr lang="en-US" dirty="0"/>
              <a:t> supports parameters and return value also.</a:t>
            </a:r>
            <a:endParaRPr lang="en-US" dirty="0"/>
          </a:p>
          <a:p>
            <a:pPr lvl="1"/>
            <a:r>
              <a:rPr lang="en-US" dirty="0" err="1"/>
              <a:t>Func</a:t>
            </a:r>
            <a:r>
              <a:rPr lang="en-US" dirty="0"/>
              <a:t> must have 0 to 16 parameters.</a:t>
            </a:r>
            <a:endParaRPr lang="en-US" dirty="0"/>
          </a:p>
          <a:p>
            <a:pPr lvl="1"/>
            <a:r>
              <a:rPr lang="en-US" dirty="0" err="1"/>
              <a:t>Func</a:t>
            </a:r>
            <a:r>
              <a:rPr lang="en-US" dirty="0"/>
              <a:t> must have return value.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13338" y="3604846"/>
            <a:ext cx="9873762" cy="1248508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rebuchet MS" panose="020B0603020202020204" pitchFamily="34" charset="0"/>
              </a:rPr>
              <a:t>public </a:t>
            </a:r>
            <a:r>
              <a:rPr lang="en-US" sz="2000" dirty="0" err="1">
                <a:latin typeface="Trebuchet MS" panose="020B0603020202020204" pitchFamily="34" charset="0"/>
              </a:rPr>
              <a:t>Func</a:t>
            </a:r>
            <a:r>
              <a:rPr lang="en-US" sz="2000" dirty="0">
                <a:latin typeface="Trebuchet MS" panose="020B0603020202020204" pitchFamily="34" charset="0"/>
              </a:rPr>
              <a:t>&lt;Param1DataType, Param2DataType, </a:t>
            </a:r>
            <a:r>
              <a:rPr lang="en-US" sz="2000" dirty="0" err="1">
                <a:latin typeface="Trebuchet MS" panose="020B0603020202020204" pitchFamily="34" charset="0"/>
              </a:rPr>
              <a:t>ReturnType</a:t>
            </a:r>
            <a:r>
              <a:rPr lang="en-US" sz="2000" dirty="0">
                <a:latin typeface="Trebuchet MS" panose="020B0603020202020204" pitchFamily="34" charset="0"/>
              </a:rPr>
              <a:t>&gt; </a:t>
            </a:r>
            <a:r>
              <a:rPr lang="en-US" sz="2000" dirty="0" err="1">
                <a:latin typeface="Trebuchet MS" panose="020B0603020202020204" pitchFamily="34" charset="0"/>
              </a:rPr>
              <a:t>referenceVariable</a:t>
            </a:r>
            <a:r>
              <a:rPr lang="en-US" sz="2000" dirty="0">
                <a:latin typeface="Trebuchet MS" panose="020B0603020202020204" pitchFamily="34" charset="0"/>
              </a:rPr>
              <a:t>;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3338" y="3516923"/>
            <a:ext cx="9873762" cy="457200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Creating Delegate Based on </a:t>
            </a:r>
            <a:r>
              <a:rPr lang="en-US" dirty="0" err="1">
                <a:latin typeface="Trebuchet MS" panose="020B0603020202020204" pitchFamily="34" charset="0"/>
              </a:rPr>
              <a:t>Func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6" name="Speech Bubble: Oval 5"/>
          <p:cNvSpPr/>
          <p:nvPr/>
        </p:nvSpPr>
        <p:spPr>
          <a:xfrm>
            <a:off x="2989383" y="5196366"/>
            <a:ext cx="2936632" cy="1041350"/>
          </a:xfrm>
          <a:prstGeom prst="wedgeEllipseCallout">
            <a:avLst>
              <a:gd name="adj1" fmla="val -34590"/>
              <a:gd name="adj2" fmla="val -107821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rebuchet MS" panose="020B0603020202020204" pitchFamily="34" charset="0"/>
              </a:rPr>
              <a:t>Can be 0 to 16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parameters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7" name="Speech Bubble: Oval 6"/>
          <p:cNvSpPr/>
          <p:nvPr/>
        </p:nvSpPr>
        <p:spPr>
          <a:xfrm>
            <a:off x="7734300" y="4941277"/>
            <a:ext cx="4354606" cy="1296438"/>
          </a:xfrm>
          <a:prstGeom prst="wedgeEllipseCallout">
            <a:avLst>
              <a:gd name="adj1" fmla="val -49747"/>
              <a:gd name="adj2" fmla="val -90227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rebuchet MS" panose="020B0603020202020204" pitchFamily="34" charset="0"/>
              </a:rPr>
              <a:t>Last one is treated as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"return type" [it is must]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"Action" is a pre-defined delegate, which can be used to create events </a:t>
            </a:r>
            <a:r>
              <a:rPr lang="en-IN" dirty="0"/>
              <a:t>quickly, similar to "</a:t>
            </a:r>
            <a:r>
              <a:rPr lang="en-IN" dirty="0" err="1"/>
              <a:t>Func</a:t>
            </a:r>
            <a:r>
              <a:rPr lang="en-IN" dirty="0"/>
              <a:t>".</a:t>
            </a:r>
            <a:endParaRPr lang="en-IN" dirty="0"/>
          </a:p>
          <a:p>
            <a:r>
              <a:rPr lang="en-IN" dirty="0"/>
              <a:t>The difference is:</a:t>
            </a:r>
            <a:endParaRPr lang="en-IN" dirty="0"/>
          </a:p>
          <a:p>
            <a:pPr lvl="1"/>
            <a:r>
              <a:rPr lang="en-US" dirty="0" err="1"/>
              <a:t>Func</a:t>
            </a:r>
            <a:r>
              <a:rPr lang="en-US" dirty="0"/>
              <a:t> must have return value; Action don't have return value.</a:t>
            </a:r>
            <a:endParaRPr lang="en-US" dirty="0"/>
          </a:p>
          <a:p>
            <a:pPr lvl="1"/>
            <a:r>
              <a:rPr lang="en-US" dirty="0"/>
              <a:t>Action must have 0 to 16 parameters.</a:t>
            </a:r>
            <a:endParaRPr lang="en-IN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49569" y="3305908"/>
            <a:ext cx="10401300" cy="1318846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>
                <a:latin typeface="Trebuchet MS" panose="020B0603020202020204" pitchFamily="34" charset="0"/>
              </a:rPr>
              <a:t>public Action&lt;Param1DataType, Param2DataType, Param3DataType&gt; </a:t>
            </a:r>
            <a:r>
              <a:rPr lang="en-IN" dirty="0" err="1">
                <a:latin typeface="Trebuchet MS" panose="020B0603020202020204" pitchFamily="34" charset="0"/>
              </a:rPr>
              <a:t>referenceVariable</a:t>
            </a:r>
            <a:r>
              <a:rPr lang="en-IN" dirty="0">
                <a:latin typeface="Trebuchet MS" panose="020B0603020202020204" pitchFamily="34" charset="0"/>
              </a:rPr>
              <a:t>;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8362" y="3323492"/>
            <a:ext cx="10392507" cy="43082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Creating Delegate Based on Action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6" name="Speech Bubble: Oval 5"/>
          <p:cNvSpPr/>
          <p:nvPr/>
        </p:nvSpPr>
        <p:spPr>
          <a:xfrm>
            <a:off x="2971799" y="4945057"/>
            <a:ext cx="2936632" cy="1041350"/>
          </a:xfrm>
          <a:prstGeom prst="wedgeEllipseCallout">
            <a:avLst>
              <a:gd name="adj1" fmla="val -34590"/>
              <a:gd name="adj2" fmla="val -107821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rebuchet MS" panose="020B0603020202020204" pitchFamily="34" charset="0"/>
              </a:rPr>
              <a:t>Can be 0 to 16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parameters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7" name="Speech Bubble: Oval 6"/>
          <p:cNvSpPr/>
          <p:nvPr/>
        </p:nvSpPr>
        <p:spPr>
          <a:xfrm>
            <a:off x="7734300" y="4802321"/>
            <a:ext cx="4556312" cy="1504390"/>
          </a:xfrm>
          <a:prstGeom prst="wedgeEllipseCallout">
            <a:avLst>
              <a:gd name="adj1" fmla="val -49747"/>
              <a:gd name="adj2" fmla="val -90227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rebuchet MS" panose="020B0603020202020204" pitchFamily="34" charset="0"/>
              </a:rPr>
              <a:t>[NO RETRUN VALUE]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Predicate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3" y="1253331"/>
            <a:ext cx="11178062" cy="451442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00857" y="1270916"/>
            <a:ext cx="10190285" cy="14547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dirty="0">
              <a:latin typeface="Trebuchet MS" panose="020B0603020202020204" pitchFamily="34" charset="0"/>
            </a:endParaRPr>
          </a:p>
          <a:p>
            <a:pPr algn="ctr"/>
            <a:r>
              <a:rPr lang="en-IN" sz="2800" dirty="0">
                <a:latin typeface="Trebuchet MS" panose="020B0603020202020204" pitchFamily="34" charset="0"/>
              </a:rPr>
              <a:t>public Predicate&lt;Param1DataType&gt; </a:t>
            </a:r>
            <a:r>
              <a:rPr lang="en-IN" sz="2800" dirty="0" err="1">
                <a:latin typeface="Trebuchet MS" panose="020B0603020202020204" pitchFamily="34" charset="0"/>
              </a:rPr>
              <a:t>referenceVariable</a:t>
            </a:r>
            <a:r>
              <a:rPr lang="en-IN" sz="2800" dirty="0">
                <a:latin typeface="Trebuchet MS" panose="020B0603020202020204" pitchFamily="34" charset="0"/>
              </a:rPr>
              <a:t>;</a:t>
            </a:r>
            <a:endParaRPr lang="en-IN" sz="28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3531" y="1253331"/>
            <a:ext cx="10207869" cy="4787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rebuchet MS" panose="020B0603020202020204" pitchFamily="34" charset="0"/>
              </a:rPr>
              <a:t>Creating Delegate Based on Predicate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8" name="Speech Bubble: Oval 7"/>
          <p:cNvSpPr/>
          <p:nvPr/>
        </p:nvSpPr>
        <p:spPr>
          <a:xfrm>
            <a:off x="2382476" y="3388819"/>
            <a:ext cx="2690446" cy="1041350"/>
          </a:xfrm>
          <a:prstGeom prst="wedgeEllipseCallout">
            <a:avLst>
              <a:gd name="adj1" fmla="val 32014"/>
              <a:gd name="adj2" fmla="val -133150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Only one</a:t>
            </a: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parameter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9" name="Speech Bubble: Oval 8"/>
          <p:cNvSpPr/>
          <p:nvPr/>
        </p:nvSpPr>
        <p:spPr>
          <a:xfrm>
            <a:off x="5301522" y="3429000"/>
            <a:ext cx="4150209" cy="923192"/>
          </a:xfrm>
          <a:prstGeom prst="wedgeEllipseCallout">
            <a:avLst>
              <a:gd name="adj1" fmla="val -21581"/>
              <a:gd name="adj2" fmla="val -14581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Default return type is</a:t>
            </a: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"bool"</a:t>
            </a:r>
            <a:endParaRPr lang="en-IN" sz="20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Predicate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"Predicate" is a pre-defined delegate, which can be used to create events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quickly, similar to "</a:t>
            </a:r>
            <a:r>
              <a:rPr lang="en-IN" dirty="0" err="1"/>
              <a:t>Func</a:t>
            </a:r>
            <a:r>
              <a:rPr lang="en-IN" dirty="0"/>
              <a:t>".</a:t>
            </a:r>
            <a:endParaRPr lang="en-IN" dirty="0"/>
          </a:p>
          <a:p>
            <a:r>
              <a:rPr lang="en-IN" dirty="0"/>
              <a:t>The difference is:</a:t>
            </a:r>
            <a:endParaRPr lang="en-IN" dirty="0"/>
          </a:p>
          <a:p>
            <a:r>
              <a:rPr lang="en-US" dirty="0" err="1"/>
              <a:t>Func</a:t>
            </a:r>
            <a:r>
              <a:rPr lang="en-US" dirty="0"/>
              <a:t> must have return value of any type; Action don't have return value;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Predicate must have return value of "bool" type.</a:t>
            </a:r>
            <a:endParaRPr lang="en-US" dirty="0"/>
          </a:p>
          <a:p>
            <a:r>
              <a:rPr lang="en-US" dirty="0" err="1"/>
              <a:t>Func</a:t>
            </a:r>
            <a:r>
              <a:rPr lang="en-US" dirty="0"/>
              <a:t> can have 0 to 16 parameters of any type; Action can have 0 to 16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parameters of any type; Predicate must have only one parameter of any type.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EventHandler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'</a:t>
            </a:r>
            <a:r>
              <a:rPr lang="en-US" dirty="0" err="1"/>
              <a:t>EventHandler</a:t>
            </a:r>
            <a:r>
              <a:rPr lang="en-US" dirty="0"/>
              <a:t>' is a pre-defined delegate type, which has two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parameters called "object sender" and "</a:t>
            </a:r>
            <a:r>
              <a:rPr lang="en-US" dirty="0" err="1"/>
              <a:t>EventArgs</a:t>
            </a:r>
            <a:r>
              <a:rPr lang="en-US" dirty="0"/>
              <a:t> </a:t>
            </a:r>
            <a:r>
              <a:rPr lang="en-US" b="1" dirty="0"/>
              <a:t> </a:t>
            </a:r>
            <a:r>
              <a:rPr lang="en-US" dirty="0"/>
              <a:t>e"; and no return.</a:t>
            </a:r>
            <a:endParaRPr lang="en-US" dirty="0"/>
          </a:p>
          <a:p>
            <a:r>
              <a:rPr lang="en-US" dirty="0"/>
              <a:t>object sender: Represents the source object,  from where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event is originally raised.</a:t>
            </a:r>
            <a:endParaRPr lang="en-US" dirty="0"/>
          </a:p>
          <a:p>
            <a:r>
              <a:rPr lang="en-US" dirty="0" err="1"/>
              <a:t>EventArgs</a:t>
            </a:r>
            <a:r>
              <a:rPr lang="en-US" dirty="0"/>
              <a:t> e: Represents additional parameters to pass to 'event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handler method'. It is recommended to create a child class for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'</a:t>
            </a:r>
            <a:r>
              <a:rPr lang="en-IN" dirty="0" err="1"/>
              <a:t>EventArgs</a:t>
            </a:r>
            <a:r>
              <a:rPr lang="en-IN" dirty="0"/>
              <a:t>' class.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84738" y="4492869"/>
            <a:ext cx="7661722" cy="1450731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sz="2800" dirty="0">
                <a:latin typeface="Trebuchet MS" panose="020B0603020202020204" pitchFamily="34" charset="0"/>
              </a:rPr>
              <a:t>public event </a:t>
            </a:r>
            <a:r>
              <a:rPr lang="en-IN" sz="2800" dirty="0" err="1">
                <a:latin typeface="Trebuchet MS" panose="020B0603020202020204" pitchFamily="34" charset="0"/>
              </a:rPr>
              <a:t>EventHandler</a:t>
            </a:r>
            <a:r>
              <a:rPr lang="en-IN" sz="2800" dirty="0">
                <a:latin typeface="Trebuchet MS" panose="020B0603020202020204" pitchFamily="34" charset="0"/>
              </a:rPr>
              <a:t> </a:t>
            </a:r>
            <a:r>
              <a:rPr lang="en-IN" sz="2800" dirty="0" err="1">
                <a:latin typeface="Trebuchet MS" panose="020B0603020202020204" pitchFamily="34" charset="0"/>
              </a:rPr>
              <a:t>EventName</a:t>
            </a:r>
            <a:r>
              <a:rPr lang="en-IN" sz="2800" dirty="0">
                <a:latin typeface="Trebuchet MS" panose="020B0603020202020204" pitchFamily="34" charset="0"/>
              </a:rPr>
              <a:t>;</a:t>
            </a:r>
            <a:endParaRPr lang="en-IN" sz="28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84738" y="4492869"/>
            <a:ext cx="7661721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rebuchet MS" panose="020B0603020202020204" pitchFamily="34" charset="0"/>
              </a:rPr>
              <a:t>Creating Event Based on </a:t>
            </a:r>
            <a:r>
              <a:rPr lang="en-US" sz="2400" dirty="0" err="1">
                <a:latin typeface="Trebuchet MS" panose="020B0603020202020204" pitchFamily="34" charset="0"/>
              </a:rPr>
              <a:t>EventHandler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</Template>
  <TotalTime>0</TotalTime>
  <Words>6628</Words>
  <Application>WPS Presentation</Application>
  <PresentationFormat>Widescreen</PresentationFormat>
  <Paragraphs>193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Segoe UI</vt:lpstr>
      <vt:lpstr>Trebuchet MS</vt:lpstr>
      <vt:lpstr>Calibri</vt:lpstr>
      <vt:lpstr>Microsoft YaHei</vt:lpstr>
      <vt:lpstr>Arial Unicode MS</vt:lpstr>
      <vt:lpstr>Calibri Light</vt:lpstr>
      <vt:lpstr>2018</vt:lpstr>
      <vt:lpstr>Delegates and Events</vt:lpstr>
      <vt:lpstr>Delegates</vt:lpstr>
      <vt:lpstr>Delegate</vt:lpstr>
      <vt:lpstr>Types of Delegates</vt:lpstr>
      <vt:lpstr>Events</vt:lpstr>
      <vt:lpstr>Publisher vs Subscriber</vt:lpstr>
      <vt:lpstr>Events</vt:lpstr>
      <vt:lpstr>Events	</vt:lpstr>
      <vt:lpstr>Anonymous Methods</vt:lpstr>
      <vt:lpstr>Rules</vt:lpstr>
      <vt:lpstr>Lambda Expressions</vt:lpstr>
      <vt:lpstr>Inline Lambda Expressions</vt:lpstr>
      <vt:lpstr>Func</vt:lpstr>
      <vt:lpstr>Action</vt:lpstr>
      <vt:lpstr>Predicate</vt:lpstr>
      <vt:lpstr>Predicate</vt:lpstr>
      <vt:lpstr>EventHandler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Sunita.Jain</cp:lastModifiedBy>
  <cp:revision>41</cp:revision>
  <dcterms:created xsi:type="dcterms:W3CDTF">2019-03-07T07:10:00Z</dcterms:created>
  <dcterms:modified xsi:type="dcterms:W3CDTF">2023-01-20T05:40:51Z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C6CD21E5107E4B4986D1511A79FACFCD</vt:lpwstr>
  </property>
  <property fmtid="{D5CDD505-2E9C-101B-9397-08002B2CF9AE}" pid="3" name="KSOProductBuildVer">
    <vt:lpwstr>1033-11.2.0.11440</vt:lpwstr>
  </property>
</Properties>
</file>
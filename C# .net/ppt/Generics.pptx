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60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45BD54-D254-4322-AF58-CAE8257A3F82}"/>
              </a:ext>
            </a:extLst>
          </p:cNvPr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DB2E3-BEBB-417E-9A38-25C15BFBA35A}"/>
              </a:ext>
            </a:extLst>
          </p:cNvPr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EF01-CFDC-4705-BBAE-88BD256BEE19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6D622D-9BE6-4C9D-8064-B078A5E909E2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9C8AFD-31CF-44B5-815D-F706827DA94E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B5F93B-4C98-41CB-94D6-75C066006312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325318-E234-4F36-8B87-16BA513E5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724" y="5082520"/>
            <a:ext cx="1724772" cy="496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C151AA-4A07-419B-9ED6-CEF6AC61C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516" y="4978669"/>
            <a:ext cx="2166937" cy="704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7F1B1E-B7D1-4F84-BC64-4CE0DB37D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86D6E-6BA8-4C52-924A-59253267A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3C5C8-6BE2-42E9-8B5A-2ED21D04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EDC7-CDC2-4407-9F8F-C0CEAA40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695F3-58FF-4760-B1DC-C5025EA6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565CEE-49E5-468C-A0B4-83E886C61D84}"/>
              </a:ext>
            </a:extLst>
          </p:cNvPr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40C7E80-A24C-4396-B051-437EF1D79AB8}"/>
              </a:ext>
            </a:extLst>
          </p:cNvPr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52EBDC4-1E90-4F52-92F1-8C4F5999C539}"/>
              </a:ext>
            </a:extLst>
          </p:cNvPr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824B679-C974-45C0-9875-28BAF40D27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3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C48660-697D-4BB9-97F6-A5BB6C764668}"/>
              </a:ext>
            </a:extLst>
          </p:cNvPr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BE8EE-2EB2-435C-9D5A-AAA15842A36C}"/>
              </a:ext>
            </a:extLst>
          </p:cNvPr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355C8-5657-4103-B600-59803F24DBFF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F2C038-CD71-4DD5-AD56-49FB9C0E8AF6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26EA1A-6BCF-4846-ABF3-498AD8F1EC82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1F1E9A-33FE-49BA-B69E-30EA3CC61DB9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8D64F-302C-4B73-A9F2-946CA3382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EB2DC-2ADD-4476-921C-5457C12D1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24" y="1306338"/>
            <a:ext cx="11001450" cy="480101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B0C41-3748-45BA-AC12-3356750D6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C5298-80C2-435C-BE19-55A311B7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E2F2-0AF5-4302-9483-8FB2AC4A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38F204A-2627-424A-9F92-090BC1568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55929"/>
            <a:ext cx="1160315" cy="36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5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1C76EB-EFA3-4D98-BF85-9CBAD51246C3}"/>
              </a:ext>
            </a:extLst>
          </p:cNvPr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9218A-B816-4B5F-A0BE-D0AAD688BCDE}"/>
              </a:ext>
            </a:extLst>
          </p:cNvPr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5457F-D05E-4FBC-AA16-B4542B833804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20450F-F92F-43A7-B557-0485260B48EC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D495CD-0755-4CD0-952C-38FDFD818912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56530E-6471-4A98-9409-D28702635498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16744-0EC5-4409-8030-9D707EE1A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CF225-F19A-40FE-9134-ADAC53A2C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2890-A463-40F0-8781-AB9ECF34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EBFC2-28E7-4B50-9949-2BDA85E26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8516-7864-4AE1-84EA-04757DF1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AA055-0DD5-4F16-B6C2-4900CC928098}"/>
              </a:ext>
            </a:extLst>
          </p:cNvPr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6927BBD-DCEA-44B2-84A1-F41C25A7CF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8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8ED813-B8D0-48D3-B71C-48DF5BDC9A90}"/>
              </a:ext>
            </a:extLst>
          </p:cNvPr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F0879C-37D2-4E04-A609-4FEBD2EB69A2}"/>
              </a:ext>
            </a:extLst>
          </p:cNvPr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C859E1-EF9A-419B-B3AC-AEA4B510D174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4C3DBE-5B2C-4C2D-8079-CF803A046CD5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E1258E-5E7B-49D9-AB2A-3FCE6F2AE3D9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0B40-AB4B-42CA-AD19-364DF8432A34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55067-D68C-4E9D-814B-94F341AC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56A77-566F-415D-85B3-C170D979E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2F81A-5D76-4DBF-9DF9-92CD90E70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F8005-F81C-45EB-B6F5-872E765E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2E53F-F0E3-4A6E-B3B1-F5491F54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69BF3-2B4A-42F7-B934-99F11627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6909EE-FF95-4368-B850-0A9ED65716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55929"/>
            <a:ext cx="1160315" cy="36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3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894546B-A81A-48D4-B4C5-7E2E6285F424}"/>
              </a:ext>
            </a:extLst>
          </p:cNvPr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06CAA-5E4F-43E2-8A98-36361486A3A4}"/>
              </a:ext>
            </a:extLst>
          </p:cNvPr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8E28CB-622A-4807-91B6-87A76E180121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30D63E-AE12-491E-81E4-B3C25BA710AC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4929A-0E7F-4B2B-81BC-6899210E604F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27A026-FFDC-4CB9-9AB8-BB4B31660FD8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7B1EE-D3B9-4A72-BB78-BEAFBE1F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1261F-F460-4F19-99F4-F65B97B6F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84E1E-AD39-414E-A630-BB5F20BC8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A01E5-2430-4A1C-8323-5D191529B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4A9DA-01AC-4343-9532-A824358CD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9BA755-AEE2-4001-8DE6-415A8DBF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B665F-223D-495A-BDBB-E3363CAF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9B297C-3F38-49A1-953B-17E3F6F6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149580-757C-4765-8330-FBC1A58417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55929"/>
            <a:ext cx="1160315" cy="36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856098-1DA3-49E8-91B8-CAA5CDB7382E}"/>
              </a:ext>
            </a:extLst>
          </p:cNvPr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2C0DA-73C9-4A83-97A2-EB4541745B64}"/>
              </a:ext>
            </a:extLst>
          </p:cNvPr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3A0938-3C8A-4ACA-8AD0-352B444392A9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E9A254-00DC-4FF4-ABF3-8D548470A822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E83A17-368C-4CF3-93EE-956780C13754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DDFCB-6B13-4853-B2B2-7FDD576847E1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473C1-75AC-4CC3-97E1-56E2CDDB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7F37E-14E1-44B3-BCD8-AEBD153A1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B09FB-ACF3-4E2F-B66D-3E13733A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82C6C-9BFE-4C90-A547-8C325C55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828F62-5D0C-431F-B71E-DDD68865A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55929"/>
            <a:ext cx="1160315" cy="36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65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2FA0252-28E1-40E5-ACE6-20D14F5256B9}"/>
              </a:ext>
            </a:extLst>
          </p:cNvPr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618FD9-31FC-4567-B182-23204706A8B0}"/>
              </a:ext>
            </a:extLst>
          </p:cNvPr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29B7B4-B37A-4ECF-85D2-5A66AA4D9A3E}"/>
              </a:ext>
            </a:extLst>
          </p:cNvPr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F4FB33-76DE-4704-8B1A-C3FE16F507E2}"/>
              </a:ext>
            </a:extLst>
          </p:cNvPr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894C9-4BA3-403A-B5F2-D596A188AF2F}"/>
              </a:ext>
            </a:extLst>
          </p:cNvPr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B9174-D03E-4D6F-A8E5-B9D3C8C2DB80}"/>
              </a:ext>
            </a:extLst>
          </p:cNvPr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9A89A-4F67-468F-80FE-0E3680B1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01976-8FCF-4B4F-B90A-B5E72462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AE299-AC97-4CB0-8712-61CB13DA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794E08-5586-471C-A2FE-25E2AB9157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55929"/>
            <a:ext cx="1160315" cy="36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33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CCC9-CB97-4066-B6DA-4148BB88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6ECEE-E57D-455E-A22A-6DE67E6B8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2D1F0-214E-43F0-A7BC-42F93E547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125E7-FC1E-4111-8E29-520E9E6AF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E390C-8CD6-41DF-B8A7-0EA86E70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D1209-8122-481B-93F3-CD9D1835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2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1060-B002-4A29-A677-95E1A92C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A23B8C-6470-4EFE-BA18-C7C748C1C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4D961-FD3B-461E-A88E-64AC4821E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AF84C-0554-4D2A-95E2-84C361AA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BC5B5-70F3-4D7C-9421-4846A194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C9E27-8F16-42E6-B25A-6357B56B3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59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1346-0FB6-45C7-A96E-DBDDF4C7C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9AF55-8DB4-4235-B18B-7CA1658AE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6DFF-55B4-41FE-BF5D-FC115ECB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B04A8-2C06-4BAA-A780-6380C576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476E6-F3EA-4F13-B40F-1978B532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5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DEE29A-7B74-4351-AF12-4B1C4A1C7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DBD61-8BBB-4413-B521-69C6BA2E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486CF-3404-43E2-AAB7-B052FC46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E448-840B-441A-88AC-D0E89CE17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56B10-E457-4193-8E4C-41798145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3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2EF02-B3FB-409B-B71D-7DB59224D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66FC5-8BC1-45FA-8841-F34FA58FD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7B98F-173F-4961-A753-124D5F25A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B7A21-CD9E-479E-AAB2-6CC376E9F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BC126-58FF-4F4D-A936-FEFCC877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2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88C2-D62C-496E-8359-A6E42ABBE5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br>
              <a:rPr lang="en-US"/>
            </a:br>
            <a:r>
              <a:rPr lang="en-US"/>
              <a:t>Generics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627D2-8B6B-4DCC-9D83-1FA969EFA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Sunita Jain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E47E93-B5EA-4CFA-A094-F8E86D628A86}"/>
              </a:ext>
            </a:extLst>
          </p:cNvPr>
          <p:cNvSpPr/>
          <p:nvPr/>
        </p:nvSpPr>
        <p:spPr>
          <a:xfrm>
            <a:off x="5195251" y="4576880"/>
            <a:ext cx="5167745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09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32A63BC-CAB7-4ED1-84C4-30AB1669BA10}"/>
              </a:ext>
            </a:extLst>
          </p:cNvPr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EEFDC-790E-4E47-A515-1EBCF1F2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Generics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110FDCF-2EC3-46D4-A98B-824D5883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24" y="1253331"/>
            <a:ext cx="10949461" cy="4676822"/>
          </a:xfrm>
        </p:spPr>
        <p:txBody>
          <a:bodyPr>
            <a:normAutofit/>
          </a:bodyPr>
          <a:lstStyle/>
          <a:p>
            <a:r>
              <a:rPr lang="en-US" dirty="0"/>
              <a:t>Generics are a language feature that allows you to write classes, interfaces, and methods with placeholder types. </a:t>
            </a:r>
          </a:p>
          <a:p>
            <a:r>
              <a:rPr lang="en-US" b="1" dirty="0"/>
              <a:t>Purpose</a:t>
            </a:r>
            <a:r>
              <a:rPr lang="en-US" dirty="0"/>
              <a:t>: Generics provide type safety and reduce the need for type casting. They allow you to create more flexible and reusable </a:t>
            </a:r>
            <a:r>
              <a:rPr lang="en-US" err="1"/>
              <a:t>code</a:t>
            </a:r>
            <a:r>
              <a:rPr lang="en-US"/>
              <a:t>.parameters</a:t>
            </a:r>
            <a:r>
              <a:rPr lang="en-US" dirty="0"/>
              <a:t> when defining classes, interfaces, and methods.</a:t>
            </a:r>
          </a:p>
          <a:p>
            <a:r>
              <a:rPr lang="en-US" dirty="0"/>
              <a:t>Generics use angle brackets (&lt; &gt;) to specify the type parameters. you can have a generic class Box&lt;T&gt; where T is a type parameter.</a:t>
            </a:r>
          </a:p>
          <a:p>
            <a:r>
              <a:rPr lang="en-US" b="1" dirty="0"/>
              <a:t>Usage</a:t>
            </a:r>
            <a:r>
              <a:rPr lang="en-US" dirty="0"/>
              <a:t>: Generics are used to create collections and other data structures that can operate on any data type while providing compile-time type safety. </a:t>
            </a:r>
          </a:p>
        </p:txBody>
      </p:sp>
    </p:spTree>
    <p:extLst>
      <p:ext uri="{BB962C8B-B14F-4D97-AF65-F5344CB8AC3E}">
        <p14:creationId xmlns:p14="http://schemas.microsoft.com/office/powerpoint/2010/main" val="229076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32A63BC-CAB7-4ED1-84C4-30AB1669BA10}"/>
              </a:ext>
            </a:extLst>
          </p:cNvPr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EEFDC-790E-4E47-A515-1EBCF1F2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Introducing Generic classes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110FDCF-2EC3-46D4-A98B-824D5883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24" y="1253331"/>
            <a:ext cx="10949461" cy="1583997"/>
          </a:xfrm>
        </p:spPr>
        <p:txBody>
          <a:bodyPr>
            <a:normAutofit/>
          </a:bodyPr>
          <a:lstStyle/>
          <a:p>
            <a:r>
              <a:rPr lang="en-US" dirty="0"/>
              <a:t>Generic class is a class, which contains one or more “type parameters”</a:t>
            </a:r>
          </a:p>
          <a:p>
            <a:r>
              <a:rPr lang="en-US" dirty="0"/>
              <a:t>You must pass any data type (standard data type / structures /class),</a:t>
            </a:r>
            <a:br>
              <a:rPr lang="en-US" dirty="0"/>
            </a:br>
            <a:r>
              <a:rPr lang="en-US" dirty="0"/>
              <a:t>while creating object for the generic class.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A3FD3-859D-45FC-A502-F0AA7B17C876}"/>
              </a:ext>
            </a:extLst>
          </p:cNvPr>
          <p:cNvSpPr/>
          <p:nvPr/>
        </p:nvSpPr>
        <p:spPr>
          <a:xfrm>
            <a:off x="1032053" y="3253337"/>
            <a:ext cx="5172079" cy="142539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class </a:t>
            </a:r>
            <a:r>
              <a:rPr lang="en-IN" sz="2000" b="1" dirty="0" err="1">
                <a:latin typeface="Trebuchet MS" panose="020B0603020202020204" pitchFamily="34" charset="0"/>
              </a:rPr>
              <a:t>ClassName</a:t>
            </a:r>
            <a:r>
              <a:rPr lang="en-IN" sz="2000" dirty="0">
                <a:latin typeface="Trebuchet MS" panose="020B0603020202020204" pitchFamily="34" charset="0"/>
              </a:rPr>
              <a:t>&lt;T&gt;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{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	public T </a:t>
            </a:r>
            <a:r>
              <a:rPr lang="en-IN" sz="2000" b="1" dirty="0" err="1">
                <a:latin typeface="Trebuchet MS" panose="020B0603020202020204" pitchFamily="34" charset="0"/>
              </a:rPr>
              <a:t>FieldName</a:t>
            </a:r>
            <a:endParaRPr lang="en-IN" sz="2000" b="1" dirty="0">
              <a:latin typeface="Trebuchet MS" panose="020B0603020202020204" pitchFamily="34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E81AB3-7519-463F-9DEF-2C9BFAE8CE20}"/>
              </a:ext>
            </a:extLst>
          </p:cNvPr>
          <p:cNvSpPr/>
          <p:nvPr/>
        </p:nvSpPr>
        <p:spPr>
          <a:xfrm>
            <a:off x="1032053" y="2735645"/>
            <a:ext cx="5172079" cy="48742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Generic Class - Example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4CFD2-9AA5-456F-A834-65BD32716859}"/>
              </a:ext>
            </a:extLst>
          </p:cNvPr>
          <p:cNvSpPr/>
          <p:nvPr/>
        </p:nvSpPr>
        <p:spPr>
          <a:xfrm>
            <a:off x="1076877" y="5307532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 err="1">
                <a:latin typeface="Trebuchet MS" panose="020B0603020202020204" pitchFamily="34" charset="0"/>
              </a:rPr>
              <a:t>ClassName</a:t>
            </a:r>
            <a:r>
              <a:rPr lang="en-IN" sz="2000" dirty="0">
                <a:latin typeface="Trebuchet MS" panose="020B0603020202020204" pitchFamily="34" charset="0"/>
              </a:rPr>
              <a:t>&lt;int&gt; </a:t>
            </a:r>
            <a:r>
              <a:rPr lang="en-IN" sz="2000" dirty="0" err="1">
                <a:latin typeface="Trebuchet MS" panose="020B0603020202020204" pitchFamily="34" charset="0"/>
              </a:rPr>
              <a:t>referneceVariable</a:t>
            </a:r>
            <a:r>
              <a:rPr lang="en-IN" sz="2000" dirty="0">
                <a:latin typeface="Trebuchet MS" panose="020B0603020202020204" pitchFamily="34" charset="0"/>
              </a:rPr>
              <a:t>=new </a:t>
            </a:r>
            <a:r>
              <a:rPr lang="en-IN" sz="2000" dirty="0" err="1">
                <a:latin typeface="Trebuchet MS" panose="020B0603020202020204" pitchFamily="34" charset="0"/>
              </a:rPr>
              <a:t>ClassName</a:t>
            </a:r>
            <a:r>
              <a:rPr lang="en-IN" sz="2000" dirty="0">
                <a:latin typeface="Trebuchet MS" panose="020B0603020202020204" pitchFamily="34" charset="0"/>
              </a:rPr>
              <a:t>&lt;int&gt;();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2EAF1-F06A-4350-8F84-E1DA24DC5BD1}"/>
              </a:ext>
            </a:extLst>
          </p:cNvPr>
          <p:cNvSpPr/>
          <p:nvPr/>
        </p:nvSpPr>
        <p:spPr>
          <a:xfrm>
            <a:off x="1076877" y="4860813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Object of Generic Class - Example</a:t>
            </a:r>
          </a:p>
        </p:txBody>
      </p:sp>
    </p:spTree>
    <p:extLst>
      <p:ext uri="{BB962C8B-B14F-4D97-AF65-F5344CB8AC3E}">
        <p14:creationId xmlns:p14="http://schemas.microsoft.com/office/powerpoint/2010/main" val="58010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3AFC-C220-4038-ACF0-E5D4B3B57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DCCCA2-C625-489A-9606-E392A93F0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24" y="1306338"/>
            <a:ext cx="10958770" cy="4892755"/>
          </a:xfrm>
        </p:spPr>
        <p:txBody>
          <a:bodyPr/>
          <a:lstStyle/>
          <a:p>
            <a:r>
              <a:rPr lang="en-IN" dirty="0"/>
              <a:t>The same field may belong to different data types, different object of same class.</a:t>
            </a:r>
          </a:p>
          <a:p>
            <a:r>
              <a:rPr lang="en-IN" dirty="0"/>
              <a:t>You will decide the data type of the field, while creating the object, rather than while creating field in the class.</a:t>
            </a:r>
          </a:p>
          <a:p>
            <a:r>
              <a:rPr lang="en-IN" dirty="0"/>
              <a:t>It helps in code reuse, performance and type-safety.</a:t>
            </a:r>
          </a:p>
          <a:p>
            <a:r>
              <a:rPr lang="en-IN" dirty="0"/>
              <a:t>You can create your own generic-classes, generic-methods, generic-interfaces and generic-delegates.</a:t>
            </a:r>
          </a:p>
          <a:p>
            <a:r>
              <a:rPr lang="en-IN" dirty="0"/>
              <a:t>The .NET framework class library contains many new generic collection classes in System.Collections.Generic namespace.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39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0536-7420-456D-85A0-870290776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Understanding Generic Classes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75D3F-E054-42EE-BBDE-57CC800E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65" y="1253331"/>
            <a:ext cx="11412611" cy="3237376"/>
          </a:xfrm>
        </p:spPr>
        <p:txBody>
          <a:bodyPr/>
          <a:lstStyle/>
          <a:p>
            <a:r>
              <a:rPr lang="en-IN" dirty="0"/>
              <a:t>The generic type parameter (T) acts as “temporary data type”, which represents the actual data type, provided by user, while creating objects.</a:t>
            </a:r>
          </a:p>
          <a:p>
            <a:r>
              <a:rPr lang="en-IN" dirty="0"/>
              <a:t>You can have multiple “generic type parameters” in the same class.</a:t>
            </a:r>
          </a:p>
          <a:p>
            <a:pPr marL="0" indent="0">
              <a:buNone/>
            </a:pPr>
            <a:r>
              <a:rPr lang="en-IN" dirty="0"/>
              <a:t>	(for use of different fields)</a:t>
            </a:r>
          </a:p>
          <a:p>
            <a:r>
              <a:rPr lang="en-IN" dirty="0"/>
              <a:t>Generics are introduced in C# 2.0.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C1F39-CAEF-4CCA-8E8A-92961146BE3A}"/>
              </a:ext>
            </a:extLst>
          </p:cNvPr>
          <p:cNvSpPr/>
          <p:nvPr/>
        </p:nvSpPr>
        <p:spPr>
          <a:xfrm>
            <a:off x="2958353" y="3805518"/>
            <a:ext cx="2850776" cy="32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3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6229-F5BB-453D-ADF0-6BD8B443F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65" y="237819"/>
            <a:ext cx="9438716" cy="797605"/>
          </a:xfrm>
        </p:spPr>
        <p:txBody>
          <a:bodyPr>
            <a:normAutofit/>
          </a:bodyPr>
          <a:lstStyle/>
          <a:p>
            <a:r>
              <a:rPr lang="en-US" b="1" dirty="0"/>
              <a:t>Generic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45B0D-5121-4D11-ACA0-2DB981DA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1261268"/>
          </a:xfrm>
        </p:spPr>
        <p:txBody>
          <a:bodyPr>
            <a:normAutofit/>
          </a:bodyPr>
          <a:lstStyle/>
          <a:p>
            <a:r>
              <a:rPr lang="en-IN" dirty="0"/>
              <a:t>Generic method is a method that has one or more generic parameters.</a:t>
            </a:r>
          </a:p>
          <a:p>
            <a:r>
              <a:rPr lang="en-IN" dirty="0"/>
              <a:t>You can restrict what type of data types (class names) allowed to be passed while creating object.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E7B5D-CD5E-4E6E-B45F-666606AC555F}"/>
              </a:ext>
            </a:extLst>
          </p:cNvPr>
          <p:cNvSpPr/>
          <p:nvPr/>
        </p:nvSpPr>
        <p:spPr>
          <a:xfrm>
            <a:off x="1018606" y="3629854"/>
            <a:ext cx="5172079" cy="116794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>
                <a:latin typeface="Trebuchet MS" panose="020B0603020202020204" pitchFamily="34" charset="0"/>
              </a:rPr>
              <a:t>public void </a:t>
            </a:r>
            <a:r>
              <a:rPr lang="en-IN" sz="2000" dirty="0" err="1">
                <a:latin typeface="Trebuchet MS" panose="020B0603020202020204" pitchFamily="34" charset="0"/>
              </a:rPr>
              <a:t>MethodName</a:t>
            </a:r>
            <a:r>
              <a:rPr lang="en-IN" sz="2000" dirty="0">
                <a:latin typeface="Trebuchet MS" panose="020B0603020202020204" pitchFamily="34" charset="0"/>
              </a:rPr>
              <a:t>&lt;T</a:t>
            </a:r>
            <a:r>
              <a:rPr lang="en-IN" sz="2000">
                <a:latin typeface="Trebuchet MS" panose="020B0603020202020204" pitchFamily="34" charset="0"/>
              </a:rPr>
              <a:t>&gt;(parameters)</a:t>
            </a:r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dirty="0">
                <a:latin typeface="Trebuchet MS" panose="020B0603020202020204" pitchFamily="34" charset="0"/>
              </a:rPr>
              <a:t>{</a:t>
            </a:r>
          </a:p>
          <a:p>
            <a:r>
              <a:rPr lang="en-IN" sz="2000" b="1" dirty="0">
                <a:latin typeface="Trebuchet MS" panose="020B0603020202020204" pitchFamily="34" charset="0"/>
              </a:rPr>
              <a:t>	</a:t>
            </a:r>
          </a:p>
          <a:p>
            <a:r>
              <a:rPr lang="en-IN" sz="2000" dirty="0">
                <a:latin typeface="Trebuchet MS" panose="020B0603020202020204" pitchFamily="34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328866-501C-497F-9134-757282A88612}"/>
              </a:ext>
            </a:extLst>
          </p:cNvPr>
          <p:cNvSpPr/>
          <p:nvPr/>
        </p:nvSpPr>
        <p:spPr>
          <a:xfrm>
            <a:off x="1018606" y="3130940"/>
            <a:ext cx="5172079" cy="48742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Generic Method - 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DB9DD-7133-4461-808B-29A3F7B70E8C}"/>
              </a:ext>
            </a:extLst>
          </p:cNvPr>
          <p:cNvSpPr/>
          <p:nvPr/>
        </p:nvSpPr>
        <p:spPr>
          <a:xfrm>
            <a:off x="1036536" y="5294085"/>
            <a:ext cx="8713753" cy="77087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 err="1">
                <a:latin typeface="Trebuchet MS" panose="020B0603020202020204" pitchFamily="34" charset="0"/>
              </a:rPr>
              <a:t>MethodName</a:t>
            </a:r>
            <a:r>
              <a:rPr lang="en-IN" sz="2000" dirty="0">
                <a:latin typeface="Trebuchet MS" panose="020B0603020202020204" pitchFamily="34" charset="0"/>
              </a:rPr>
              <a:t>&lt;datatype&gt;(parameters)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28213-F821-4C7B-91C5-428571E8F84D}"/>
              </a:ext>
            </a:extLst>
          </p:cNvPr>
          <p:cNvSpPr/>
          <p:nvPr/>
        </p:nvSpPr>
        <p:spPr>
          <a:xfrm>
            <a:off x="1023089" y="4860813"/>
            <a:ext cx="8713753" cy="40400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rebuchet MS" panose="020B0603020202020204" pitchFamily="34" charset="0"/>
              </a:rPr>
              <a:t>Calling Generic Method - Example</a:t>
            </a:r>
          </a:p>
        </p:txBody>
      </p:sp>
    </p:spTree>
    <p:extLst>
      <p:ext uri="{BB962C8B-B14F-4D97-AF65-F5344CB8AC3E}">
        <p14:creationId xmlns:p14="http://schemas.microsoft.com/office/powerpoint/2010/main" val="653350559"/>
      </p:ext>
    </p:extLst>
  </p:cSld>
  <p:clrMapOvr>
    <a:masterClrMapping/>
  </p:clrMapOvr>
</p:sld>
</file>

<file path=ppt/theme/theme1.xml><?xml version="1.0" encoding="utf-8"?>
<a:theme xmlns:a="http://schemas.openxmlformats.org/drawingml/2006/main" name="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" id="{B0E980CD-A54D-4681-878C-2746A87DC6E5}" vid="{62E40539-E070-47D4-8381-3EBCC8F4FC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</Template>
  <TotalTime>2292</TotalTime>
  <Words>397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Trebuchet MS</vt:lpstr>
      <vt:lpstr>2018</vt:lpstr>
      <vt:lpstr>  Generics</vt:lpstr>
      <vt:lpstr>Introducing Generics</vt:lpstr>
      <vt:lpstr>Introducing Generic classes</vt:lpstr>
      <vt:lpstr>Advantages</vt:lpstr>
      <vt:lpstr>Understanding Generic Classes</vt:lpstr>
      <vt:lpstr>Generic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 Jain</cp:lastModifiedBy>
  <cp:revision>62</cp:revision>
  <dcterms:created xsi:type="dcterms:W3CDTF">2019-03-07T07:10:25Z</dcterms:created>
  <dcterms:modified xsi:type="dcterms:W3CDTF">2025-09-08T11:07:10Z</dcterms:modified>
</cp:coreProperties>
</file>
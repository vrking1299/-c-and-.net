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471054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579669" y="198650"/>
            <a:ext cx="8409707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2724" y="5082520"/>
            <a:ext cx="1724772" cy="49638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516" y="4978669"/>
            <a:ext cx="2166937" cy="70408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78624" y="1574538"/>
            <a:ext cx="8001000" cy="1701519"/>
          </a:xfrm>
        </p:spPr>
        <p:txBody>
          <a:bodyPr anchor="ctr">
            <a:normAutofit/>
          </a:bodyPr>
          <a:lstStyle>
            <a:lvl1pPr algn="ctr">
              <a:defRPr sz="40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78624" y="3602038"/>
            <a:ext cx="8001000" cy="806816"/>
          </a:xfrm>
        </p:spPr>
        <p:txBody>
          <a:bodyPr anchor="ctr"/>
          <a:lstStyle>
            <a:lvl1pPr marL="0" indent="0" algn="ctr">
              <a:buNone/>
              <a:defRPr sz="2400">
                <a:solidFill>
                  <a:srgbClr val="0070C0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3778624" y="3602038"/>
            <a:ext cx="800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: Shape 17"/>
          <p:cNvSpPr/>
          <p:nvPr/>
        </p:nvSpPr>
        <p:spPr>
          <a:xfrm>
            <a:off x="7968342" y="4876803"/>
            <a:ext cx="2032000" cy="870858"/>
          </a:xfrm>
          <a:custGeom>
            <a:avLst/>
            <a:gdLst>
              <a:gd name="connsiteX0" fmla="*/ 1959429 w 2032000"/>
              <a:gd name="connsiteY0" fmla="*/ 0 h 870858"/>
              <a:gd name="connsiteX1" fmla="*/ 0 w 2032000"/>
              <a:gd name="connsiteY1" fmla="*/ 0 h 870858"/>
              <a:gd name="connsiteX2" fmla="*/ 0 w 2032000"/>
              <a:gd name="connsiteY2" fmla="*/ 870858 h 870858"/>
              <a:gd name="connsiteX3" fmla="*/ 2032000 w 2032000"/>
              <a:gd name="connsiteY3" fmla="*/ 870858 h 87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2000" h="870858">
                <a:moveTo>
                  <a:pt x="1959429" y="0"/>
                </a:moveTo>
                <a:lnTo>
                  <a:pt x="0" y="0"/>
                </a:lnTo>
                <a:lnTo>
                  <a:pt x="0" y="870858"/>
                </a:lnTo>
                <a:lnTo>
                  <a:pt x="2032000" y="870858"/>
                </a:lnTo>
              </a:path>
            </a:pathLst>
          </a:cu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/>
          <p:cNvSpPr/>
          <p:nvPr/>
        </p:nvSpPr>
        <p:spPr>
          <a:xfrm rot="10800000">
            <a:off x="5849258" y="4876803"/>
            <a:ext cx="2032000" cy="870858"/>
          </a:xfrm>
          <a:custGeom>
            <a:avLst/>
            <a:gdLst>
              <a:gd name="connsiteX0" fmla="*/ 1959429 w 2032000"/>
              <a:gd name="connsiteY0" fmla="*/ 0 h 870858"/>
              <a:gd name="connsiteX1" fmla="*/ 0 w 2032000"/>
              <a:gd name="connsiteY1" fmla="*/ 0 h 870858"/>
              <a:gd name="connsiteX2" fmla="*/ 0 w 2032000"/>
              <a:gd name="connsiteY2" fmla="*/ 870858 h 870858"/>
              <a:gd name="connsiteX3" fmla="*/ 2032000 w 2032000"/>
              <a:gd name="connsiteY3" fmla="*/ 870858 h 870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32000" h="870858">
                <a:moveTo>
                  <a:pt x="1959429" y="0"/>
                </a:moveTo>
                <a:lnTo>
                  <a:pt x="0" y="0"/>
                </a:lnTo>
                <a:lnTo>
                  <a:pt x="0" y="870858"/>
                </a:lnTo>
                <a:lnTo>
                  <a:pt x="2032000" y="870858"/>
                </a:lnTo>
              </a:path>
            </a:pathLst>
          </a:cu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12376" y="2661172"/>
            <a:ext cx="2576683" cy="8881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5957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07818" y="175201"/>
            <a:ext cx="11762508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3565" y="278160"/>
            <a:ext cx="9438716" cy="797605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0232" y="1250965"/>
            <a:ext cx="11050707" cy="485639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1pPr>
            <a:lvl2pPr>
              <a:defRPr sz="20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89595" y="108938"/>
            <a:ext cx="1160315" cy="36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4710545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579669" y="198650"/>
            <a:ext cx="8409707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4686" y="1709739"/>
            <a:ext cx="7602764" cy="1892300"/>
          </a:xfrm>
        </p:spPr>
        <p:txBody>
          <a:bodyPr anchor="ctr"/>
          <a:lstStyle>
            <a:lvl1pPr algn="ctr">
              <a:defRPr sz="4000">
                <a:solidFill>
                  <a:schemeClr val="bg1">
                    <a:lumMod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4686" y="3649066"/>
            <a:ext cx="7602764" cy="98099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rgbClr val="0070C0"/>
                </a:solidFill>
                <a:latin typeface="Trebuchet MS" panose="020B0603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3778624" y="3602038"/>
            <a:ext cx="8001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1060" y="2655889"/>
            <a:ext cx="2576683" cy="8881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71714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07818" y="201706"/>
            <a:ext cx="11762508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  <a:lvl2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2pPr>
            <a:lvl3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3pPr>
            <a:lvl4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4pPr>
            <a:lvl5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  <a:lvl2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2pPr>
            <a:lvl3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3pPr>
            <a:lvl4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4pPr>
            <a:lvl5pPr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73642" y="199649"/>
            <a:ext cx="1160315" cy="36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5957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07818" y="175202"/>
            <a:ext cx="11762508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73642" y="199649"/>
            <a:ext cx="1160315" cy="36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5957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07818" y="201706"/>
            <a:ext cx="11762508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tx1">
                    <a:lumMod val="50000"/>
                    <a:lumOff val="50000"/>
                  </a:schemeClr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73642" y="199649"/>
            <a:ext cx="1160315" cy="36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59574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07818" y="201706"/>
            <a:ext cx="11762508" cy="643380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1194473" y="6359236"/>
            <a:ext cx="775853" cy="24938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Manage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401669" y="6359236"/>
            <a:ext cx="775853" cy="24938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Implement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8865" y="6359236"/>
            <a:ext cx="775853" cy="249382"/>
          </a:xfrm>
          <a:prstGeom prst="rect">
            <a:avLst/>
          </a:prstGeom>
          <a:solidFill>
            <a:srgbClr val="33CC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Advise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16061" y="6359236"/>
            <a:ext cx="775853" cy="24938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Educate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73642" y="199649"/>
            <a:ext cx="1160315" cy="36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74CCF-98B4-411A-8810-C31E8C29E19B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74CCF-98B4-411A-8810-C31E8C29E19B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D0E78-183D-4F7D-A18B-8A4BED7B698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Exception Handling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Sunita Jain</a:t>
            </a:r>
          </a:p>
          <a:p>
            <a:endParaRPr lang="en-US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195251" y="4576880"/>
            <a:ext cx="5167745" cy="14131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Exception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>
          <a:xfrm>
            <a:off x="726724" y="1253331"/>
            <a:ext cx="11133582" cy="495921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Exception is a Runtime Error and the reason could be either because of some software error or limitations of hardware.</a:t>
            </a:r>
            <a:endParaRPr lang="en-IN" dirty="0"/>
          </a:p>
          <a:p>
            <a:r>
              <a:rPr lang="en-US" dirty="0"/>
              <a:t>In .NET, every exception is an object of type </a:t>
            </a:r>
            <a:r>
              <a:rPr lang="en-US" b="1" dirty="0" err="1"/>
              <a:t>System.Exception</a:t>
            </a:r>
            <a:r>
              <a:rPr lang="en-US" b="1" dirty="0"/>
              <a:t> </a:t>
            </a:r>
            <a:r>
              <a:rPr lang="en-US" dirty="0"/>
              <a:t>or any of its sub class. </a:t>
            </a:r>
          </a:p>
          <a:p>
            <a:r>
              <a:rPr lang="en-US" dirty="0"/>
              <a:t>Exception is an object because it can encapsulate all the data required for properly handling an exception in </a:t>
            </a:r>
            <a:r>
              <a:rPr lang="en-IN" dirty="0"/>
              <a:t>catch block. </a:t>
            </a:r>
          </a:p>
          <a:p>
            <a:r>
              <a:rPr lang="en-US" dirty="0"/>
              <a:t>Whenever the integrity of an object is violated, exception is thrown </a:t>
            </a:r>
            <a:endParaRPr lang="en-IN" dirty="0"/>
          </a:p>
          <a:p>
            <a:r>
              <a:rPr lang="en-US" dirty="0"/>
              <a:t>Exception handling is done by providing </a:t>
            </a:r>
            <a:r>
              <a:rPr lang="en-US" b="1" i="1" dirty="0"/>
              <a:t>try … catch </a:t>
            </a:r>
            <a:r>
              <a:rPr lang="en-US" dirty="0"/>
              <a:t>blocks. </a:t>
            </a:r>
            <a:endParaRPr lang="en-IN" dirty="0"/>
          </a:p>
          <a:p>
            <a:r>
              <a:rPr lang="en-US" dirty="0"/>
              <a:t>For one try we can have multiple catch blocks and each catch block can be used as an exception handler for a particular type of exception.</a:t>
            </a:r>
            <a:endParaRPr lang="en-IN" dirty="0"/>
          </a:p>
          <a:p>
            <a:r>
              <a:rPr lang="en-US" dirty="0"/>
              <a:t>A try block can have any number of catch blocks but only one </a:t>
            </a:r>
          </a:p>
          <a:p>
            <a:pPr marL="0" indent="0">
              <a:buNone/>
            </a:pPr>
            <a:r>
              <a:rPr lang="en-US" dirty="0"/>
              <a:t>catch block is executed if an exception is thrown i.e. the </a:t>
            </a:r>
          </a:p>
          <a:p>
            <a:pPr marL="0" indent="0">
              <a:buNone/>
            </a:pPr>
            <a:r>
              <a:rPr lang="en-US" dirty="0"/>
              <a:t>first matching catch block is executed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Exception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 given try, the catch block of parent class must be always after the catch block of child class. </a:t>
            </a:r>
            <a:endParaRPr lang="en-IN" dirty="0"/>
          </a:p>
          <a:p>
            <a:r>
              <a:rPr lang="en-US" dirty="0"/>
              <a:t>If an exception is thrown and is unhandled in an inner block then it is automatically thrown to its outer block. </a:t>
            </a:r>
            <a:endParaRPr lang="en-IN" dirty="0"/>
          </a:p>
          <a:p>
            <a:r>
              <a:rPr lang="en-US" dirty="0"/>
              <a:t>If an exception is thrown in the called method and if it unhandled in the called method then the exception is automatically thrown to its calling method. </a:t>
            </a:r>
            <a:endParaRPr lang="en-IN" dirty="0"/>
          </a:p>
          <a:p>
            <a:r>
              <a:rPr lang="en-US" dirty="0"/>
              <a:t>If the exception occurs in Main function and is unhandled then CLR handles it and the program is terminated.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Throwing Exception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0233" y="1250964"/>
            <a:ext cx="10995943" cy="5069153"/>
          </a:xfrm>
        </p:spPr>
        <p:txBody>
          <a:bodyPr>
            <a:normAutofit/>
          </a:bodyPr>
          <a:lstStyle/>
          <a:p>
            <a:r>
              <a:rPr lang="en-US" b="1" dirty="0"/>
              <a:t>Syntax to throw an exception </a:t>
            </a:r>
            <a:r>
              <a:rPr lang="en-US" dirty="0"/>
              <a:t>	</a:t>
            </a:r>
          </a:p>
          <a:p>
            <a:pPr lvl="1"/>
            <a:r>
              <a:rPr lang="en-IN" b="1" dirty="0"/>
              <a:t>throw </a:t>
            </a:r>
            <a:r>
              <a:rPr lang="en-IN" dirty="0"/>
              <a:t>new </a:t>
            </a:r>
            <a:r>
              <a:rPr lang="en-IN" dirty="0" err="1"/>
              <a:t>ApplicationException</a:t>
            </a:r>
            <a:r>
              <a:rPr lang="en-IN" dirty="0"/>
              <a:t>("message"); </a:t>
            </a:r>
          </a:p>
          <a:p>
            <a:r>
              <a:rPr lang="en-US" b="1" dirty="0"/>
              <a:t>Only objects of type Exception or any of its subclass can be thrown </a:t>
            </a:r>
            <a:r>
              <a:rPr lang="en-US" dirty="0"/>
              <a:t>	</a:t>
            </a:r>
          </a:p>
          <a:p>
            <a:pPr marL="457200" lvl="1" indent="0">
              <a:buNone/>
            </a:pPr>
            <a:r>
              <a:rPr lang="en-IN" dirty="0"/>
              <a:t>try </a:t>
            </a:r>
          </a:p>
          <a:p>
            <a:pPr marL="457200" lvl="1" indent="0">
              <a:buNone/>
            </a:pPr>
            <a:r>
              <a:rPr lang="en-IN" dirty="0"/>
              <a:t>{ …} </a:t>
            </a:r>
          </a:p>
          <a:p>
            <a:pPr marL="457200" lvl="1" indent="0">
              <a:buNone/>
            </a:pPr>
            <a:r>
              <a:rPr lang="en-IN" dirty="0"/>
              <a:t>catch(Exception e) </a:t>
            </a:r>
          </a:p>
          <a:p>
            <a:pPr marL="457200" lvl="1" indent="0">
              <a:buNone/>
            </a:pPr>
            <a:r>
              <a:rPr lang="en-IN" dirty="0"/>
              <a:t>{ </a:t>
            </a:r>
          </a:p>
          <a:p>
            <a:pPr marL="457200" lvl="1" indent="0">
              <a:buNone/>
            </a:pPr>
            <a:r>
              <a:rPr lang="en-US" b="1" dirty="0"/>
              <a:t>throw</a:t>
            </a:r>
            <a:r>
              <a:rPr lang="en-US" dirty="0"/>
              <a:t>; //Throws the exception which has been caught </a:t>
            </a:r>
          </a:p>
          <a:p>
            <a:pPr marL="457200" lvl="1" indent="0">
              <a:buNone/>
            </a:pPr>
            <a:r>
              <a:rPr lang="en-IN" dirty="0"/>
              <a:t>} 	</a:t>
            </a:r>
          </a:p>
          <a:p>
            <a:r>
              <a:rPr lang="en-US" dirty="0"/>
              <a:t>Do prefer using an empty throw when catching and re-throwing an exception. </a:t>
            </a:r>
          </a:p>
          <a:p>
            <a:pPr marL="0" indent="0">
              <a:buNone/>
            </a:pPr>
            <a:r>
              <a:rPr lang="en-US" dirty="0"/>
              <a:t>  This is the best way to preserve the exception call stack. </a:t>
            </a:r>
            <a:r>
              <a:rPr lang="en-IN" dirty="0"/>
              <a:t>	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Throwing Exception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0233" y="1250966"/>
            <a:ext cx="11184202" cy="504225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try </a:t>
            </a:r>
          </a:p>
          <a:p>
            <a:pPr marL="0" indent="0">
              <a:buNone/>
            </a:pPr>
            <a:r>
              <a:rPr lang="en-IN" dirty="0"/>
              <a:t>{ </a:t>
            </a:r>
          </a:p>
          <a:p>
            <a:pPr marL="0" indent="0">
              <a:buNone/>
            </a:pPr>
            <a:r>
              <a:rPr lang="en-US" dirty="0"/>
              <a:t>// Some code that throws an exception </a:t>
            </a:r>
          </a:p>
          <a:p>
            <a:pPr marL="0" indent="0">
              <a:buNone/>
            </a:pPr>
            <a:r>
              <a:rPr lang="en-IN" dirty="0"/>
              <a:t>} </a:t>
            </a:r>
          </a:p>
          <a:p>
            <a:pPr marL="0" indent="0">
              <a:buNone/>
            </a:pPr>
            <a:r>
              <a:rPr lang="en-IN" dirty="0"/>
              <a:t>catch (Exception ex) </a:t>
            </a:r>
          </a:p>
          <a:p>
            <a:pPr marL="0" indent="0">
              <a:buNone/>
            </a:pPr>
            <a:r>
              <a:rPr lang="en-IN" dirty="0"/>
              <a:t>{ </a:t>
            </a:r>
          </a:p>
          <a:p>
            <a:pPr marL="0" indent="0">
              <a:buNone/>
            </a:pPr>
            <a:r>
              <a:rPr lang="en-US" dirty="0"/>
              <a:t>// some code that handles the exception </a:t>
            </a:r>
          </a:p>
          <a:p>
            <a:pPr marL="0" indent="0">
              <a:buNone/>
            </a:pPr>
            <a:r>
              <a:rPr lang="en-US" b="1" dirty="0"/>
              <a:t>//throw ex; // Why is this wrong? Because, when you examine the stack trace, the point of the exception 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// will be the line of the "throw ex;", hiding the real error location. Try it.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throw; // This will keep your stack trace intact, but still allows</a:t>
            </a:r>
          </a:p>
          <a:p>
            <a:pPr marL="0" indent="0">
              <a:buNone/>
            </a:pPr>
            <a:r>
              <a:rPr lang="en-US" dirty="0"/>
              <a:t>you to put code in your catch blocks. </a:t>
            </a:r>
          </a:p>
          <a:p>
            <a:pPr marL="0" indent="0">
              <a:buNone/>
            </a:pPr>
            <a:r>
              <a:rPr lang="en-IN" b="1" dirty="0"/>
              <a:t>} 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Finally Block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try </a:t>
            </a:r>
          </a:p>
          <a:p>
            <a:pPr marL="0" indent="0">
              <a:buNone/>
            </a:pPr>
            <a:r>
              <a:rPr lang="en-IN" dirty="0"/>
              <a:t>{ </a:t>
            </a:r>
          </a:p>
          <a:p>
            <a:pPr marL="0" indent="0">
              <a:buNone/>
            </a:pPr>
            <a:r>
              <a:rPr lang="en-US" dirty="0"/>
              <a:t>//Code to open the file </a:t>
            </a:r>
          </a:p>
          <a:p>
            <a:pPr marL="0" indent="0">
              <a:buNone/>
            </a:pPr>
            <a:r>
              <a:rPr lang="en-IN" dirty="0"/>
              <a:t>..... </a:t>
            </a:r>
          </a:p>
          <a:p>
            <a:pPr marL="0" indent="0">
              <a:buNone/>
            </a:pPr>
            <a:r>
              <a:rPr lang="en-IN" dirty="0"/>
              <a:t>} </a:t>
            </a:r>
          </a:p>
          <a:p>
            <a:pPr marL="0" indent="0">
              <a:buNone/>
            </a:pPr>
            <a:r>
              <a:rPr lang="en-IN" dirty="0"/>
              <a:t>catch </a:t>
            </a:r>
          </a:p>
          <a:p>
            <a:pPr marL="0" indent="0">
              <a:buNone/>
            </a:pPr>
            <a:r>
              <a:rPr lang="en-IN" dirty="0"/>
              <a:t>{ </a:t>
            </a:r>
          </a:p>
          <a:p>
            <a:pPr marL="0" indent="0">
              <a:buNone/>
            </a:pPr>
            <a:r>
              <a:rPr lang="en-IN" dirty="0"/>
              <a:t>..... </a:t>
            </a:r>
          </a:p>
          <a:p>
            <a:pPr marL="0" indent="0">
              <a:buNone/>
            </a:pPr>
            <a:r>
              <a:rPr lang="en-IN" dirty="0"/>
              <a:t>} </a:t>
            </a:r>
          </a:p>
          <a:p>
            <a:pPr marL="0" indent="0">
              <a:buNone/>
            </a:pPr>
            <a:r>
              <a:rPr lang="en-IN" b="1" dirty="0"/>
              <a:t>finally 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{ </a:t>
            </a:r>
          </a:p>
          <a:p>
            <a:pPr marL="0" indent="0">
              <a:buNone/>
            </a:pPr>
            <a:r>
              <a:rPr lang="en-US" dirty="0"/>
              <a:t>//Code to close the file </a:t>
            </a:r>
          </a:p>
          <a:p>
            <a:pPr marL="0" indent="0">
              <a:buNone/>
            </a:pPr>
            <a:r>
              <a:rPr lang="en-IN" dirty="0"/>
              <a:t>} 	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Finally block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code execution enters try then it is 100% guaranteed that it would also execute finally block </a:t>
            </a:r>
            <a:endParaRPr lang="en-IN" dirty="0"/>
          </a:p>
          <a:p>
            <a:r>
              <a:rPr lang="en-US" dirty="0"/>
              <a:t>(even if the try block has return statement).</a:t>
            </a:r>
            <a:endParaRPr lang="en-IN" dirty="0"/>
          </a:p>
          <a:p>
            <a:r>
              <a:rPr lang="en-US" dirty="0"/>
              <a:t>In “finally” block, you cannot use </a:t>
            </a:r>
            <a:r>
              <a:rPr lang="en-US" dirty="0" err="1"/>
              <a:t>goto</a:t>
            </a:r>
            <a:r>
              <a:rPr lang="en-US" dirty="0"/>
              <a:t> or return statements. </a:t>
            </a:r>
            <a:endParaRPr lang="en-IN" dirty="0"/>
          </a:p>
          <a:p>
            <a:r>
              <a:rPr lang="en-US" dirty="0"/>
              <a:t>There can be only one “finally” block per try block and it must be the last block after all catch blocks </a:t>
            </a:r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Using Statement Example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0232" y="1250965"/>
            <a:ext cx="11022839" cy="4948129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Using Statement Example </a:t>
            </a:r>
            <a:r>
              <a:rPr lang="en-IN" dirty="0"/>
              <a:t>	</a:t>
            </a:r>
          </a:p>
          <a:p>
            <a:pPr marL="457200" lvl="1" indent="0">
              <a:buNone/>
            </a:pPr>
            <a:r>
              <a:rPr lang="en-IN" dirty="0" err="1"/>
              <a:t>SqlConnection</a:t>
            </a:r>
            <a:r>
              <a:rPr lang="en-IN" dirty="0"/>
              <a:t> con = new </a:t>
            </a:r>
            <a:r>
              <a:rPr lang="en-IN" dirty="0" err="1"/>
              <a:t>SqlConnection</a:t>
            </a:r>
            <a:r>
              <a:rPr lang="en-IN" dirty="0"/>
              <a:t>(); </a:t>
            </a:r>
          </a:p>
          <a:p>
            <a:pPr marL="457200" lvl="1" indent="0">
              <a:buNone/>
            </a:pPr>
            <a:r>
              <a:rPr lang="en-IN" dirty="0"/>
              <a:t>try </a:t>
            </a:r>
          </a:p>
          <a:p>
            <a:pPr marL="457200" lvl="1" indent="0">
              <a:buNone/>
            </a:pPr>
            <a:r>
              <a:rPr lang="en-IN" dirty="0"/>
              <a:t>{ </a:t>
            </a:r>
          </a:p>
          <a:p>
            <a:pPr marL="457200" lvl="1" indent="0">
              <a:buNone/>
            </a:pPr>
            <a:r>
              <a:rPr lang="en-IN" dirty="0"/>
              <a:t>	</a:t>
            </a:r>
            <a:r>
              <a:rPr lang="en-IN" dirty="0" err="1"/>
              <a:t>con.Open</a:t>
            </a:r>
            <a:r>
              <a:rPr lang="en-IN" dirty="0"/>
              <a:t>(); </a:t>
            </a:r>
          </a:p>
          <a:p>
            <a:pPr marL="457200" lvl="1" indent="0">
              <a:buNone/>
            </a:pPr>
            <a:r>
              <a:rPr lang="en-IN" dirty="0"/>
              <a:t>} </a:t>
            </a:r>
          </a:p>
          <a:p>
            <a:pPr marL="457200" lvl="1" indent="0">
              <a:buNone/>
            </a:pPr>
            <a:r>
              <a:rPr lang="en-IN" dirty="0"/>
              <a:t>finally </a:t>
            </a:r>
          </a:p>
          <a:p>
            <a:pPr marL="457200" lvl="1" indent="0">
              <a:buNone/>
            </a:pPr>
            <a:r>
              <a:rPr lang="en-IN" dirty="0"/>
              <a:t>{ </a:t>
            </a:r>
          </a:p>
          <a:p>
            <a:pPr marL="457200" lvl="1" indent="0">
              <a:buNone/>
            </a:pPr>
            <a:r>
              <a:rPr lang="en-US" dirty="0"/>
              <a:t>if (</a:t>
            </a:r>
            <a:r>
              <a:rPr lang="en-US" dirty="0" err="1"/>
              <a:t>con.State</a:t>
            </a:r>
            <a:r>
              <a:rPr lang="en-US" dirty="0"/>
              <a:t> = </a:t>
            </a:r>
            <a:r>
              <a:rPr lang="en-US" dirty="0" err="1"/>
              <a:t>ConnectionState.Open</a:t>
            </a:r>
            <a:r>
              <a:rPr lang="en-US" dirty="0"/>
              <a:t>) </a:t>
            </a:r>
          </a:p>
          <a:p>
            <a:pPr marL="457200" lvl="1" indent="0">
              <a:buNone/>
            </a:pPr>
            <a:r>
              <a:rPr lang="en-IN" b="1" dirty="0"/>
              <a:t>	</a:t>
            </a:r>
            <a:r>
              <a:rPr lang="en-IN" b="1" dirty="0" err="1"/>
              <a:t>con.Close</a:t>
            </a:r>
            <a:r>
              <a:rPr lang="en-IN" dirty="0"/>
              <a:t>(); </a:t>
            </a:r>
          </a:p>
          <a:p>
            <a:pPr marL="457200" lvl="1" indent="0">
              <a:buNone/>
            </a:pPr>
            <a:r>
              <a:rPr lang="en-IN" dirty="0"/>
              <a:t>} 	</a:t>
            </a:r>
          </a:p>
          <a:p>
            <a:r>
              <a:rPr lang="en-US" b="1" dirty="0"/>
              <a:t>Can be alternatively written as: </a:t>
            </a:r>
            <a:r>
              <a:rPr lang="en-US" dirty="0"/>
              <a:t>	</a:t>
            </a:r>
          </a:p>
          <a:p>
            <a:pPr marL="457200" lvl="1" indent="0">
              <a:buNone/>
            </a:pPr>
            <a:r>
              <a:rPr lang="en-US" b="1" dirty="0"/>
              <a:t>using </a:t>
            </a:r>
            <a:r>
              <a:rPr lang="en-US" dirty="0"/>
              <a:t>(</a:t>
            </a:r>
            <a:r>
              <a:rPr lang="en-US" dirty="0" err="1"/>
              <a:t>SqlConnection</a:t>
            </a:r>
            <a:r>
              <a:rPr lang="en-US" dirty="0"/>
              <a:t> con = new </a:t>
            </a:r>
            <a:r>
              <a:rPr lang="en-US" dirty="0" err="1"/>
              <a:t>SqlConnection</a:t>
            </a:r>
            <a:r>
              <a:rPr lang="en-US" dirty="0"/>
              <a:t> ()) </a:t>
            </a:r>
          </a:p>
          <a:p>
            <a:pPr marL="457200" lvl="1" indent="0">
              <a:buNone/>
            </a:pPr>
            <a:r>
              <a:rPr lang="en-IN" dirty="0"/>
              <a:t>{ </a:t>
            </a:r>
          </a:p>
          <a:p>
            <a:pPr marL="457200" lvl="1" indent="0">
              <a:buNone/>
            </a:pPr>
            <a:r>
              <a:rPr lang="en-IN" dirty="0" err="1"/>
              <a:t>con.Open</a:t>
            </a:r>
            <a:r>
              <a:rPr lang="en-IN" dirty="0"/>
              <a:t> (); </a:t>
            </a:r>
          </a:p>
          <a:p>
            <a:pPr marL="457200" lvl="1" indent="0">
              <a:buNone/>
            </a:pPr>
            <a:r>
              <a:rPr lang="en-IN" dirty="0"/>
              <a:t>} 	</a:t>
            </a:r>
          </a:p>
          <a:p>
            <a:r>
              <a:rPr lang="en-US" b="1" dirty="0"/>
              <a:t>Important Properties of Exception class: </a:t>
            </a:r>
            <a:r>
              <a:rPr lang="en-US" dirty="0"/>
              <a:t>Message, </a:t>
            </a:r>
            <a:r>
              <a:rPr lang="en-US" dirty="0" err="1"/>
              <a:t>StackTrace</a:t>
            </a:r>
            <a:r>
              <a:rPr lang="en-US" dirty="0"/>
              <a:t>, </a:t>
            </a:r>
            <a:r>
              <a:rPr lang="en-US" dirty="0" err="1"/>
              <a:t>InnerException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InnerException</a:t>
            </a:r>
            <a:r>
              <a:rPr lang="en-US" dirty="0"/>
              <a:t> property returns the exception instance that caused the current exception.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User-defined / Custom Exception class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user defined exception class inherits from </a:t>
            </a:r>
            <a:r>
              <a:rPr lang="en-US" b="1" dirty="0" err="1"/>
              <a:t>System.Exception</a:t>
            </a:r>
            <a:r>
              <a:rPr lang="en-US" b="1" dirty="0"/>
              <a:t> </a:t>
            </a:r>
            <a:r>
              <a:rPr lang="en-US" dirty="0"/>
              <a:t>or any of its subclass.</a:t>
            </a:r>
            <a:endParaRPr lang="en-IN" dirty="0"/>
          </a:p>
          <a:p>
            <a:r>
              <a:rPr lang="en-US" dirty="0"/>
              <a:t>Mostly the exception class has </a:t>
            </a:r>
            <a:r>
              <a:rPr lang="en-US" b="1" dirty="0"/>
              <a:t>read only </a:t>
            </a:r>
            <a:r>
              <a:rPr lang="en-US" dirty="0"/>
              <a:t>field members or properties and they are initialized in the constructor of the class. </a:t>
            </a:r>
            <a:endParaRPr lang="en-IN" dirty="0"/>
          </a:p>
          <a:p>
            <a:r>
              <a:rPr lang="en-US" dirty="0"/>
              <a:t>“message” should be the first parameter in our constructor and same must be passed to the parent class constructor. </a:t>
            </a:r>
            <a:endParaRPr lang="en-IN" dirty="0"/>
          </a:p>
          <a:p>
            <a:r>
              <a:rPr lang="en-US" dirty="0"/>
              <a:t>Do provide (at least) the common constructors on all exceptions (as given in </a:t>
            </a:r>
            <a:r>
              <a:rPr lang="en-US"/>
              <a:t>example ).  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18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</Template>
  <TotalTime>0</TotalTime>
  <Words>678</Words>
  <Application>Microsoft Office PowerPoint</Application>
  <PresentationFormat>Widescreen</PresentationFormat>
  <Paragraphs>93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Segoe UI</vt:lpstr>
      <vt:lpstr>Trebuchet MS</vt:lpstr>
      <vt:lpstr>2018</vt:lpstr>
      <vt:lpstr>Exception Handling</vt:lpstr>
      <vt:lpstr>Understanding Exception</vt:lpstr>
      <vt:lpstr>Understanding Exception</vt:lpstr>
      <vt:lpstr>Throwing Exception </vt:lpstr>
      <vt:lpstr>Throwing Exception </vt:lpstr>
      <vt:lpstr>Finally Block </vt:lpstr>
      <vt:lpstr>Finally block</vt:lpstr>
      <vt:lpstr>Using Statement Example </vt:lpstr>
      <vt:lpstr>User-defined / Custom Exception class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Campaign</dc:title>
  <dc:creator>Manish Corriea</dc:creator>
  <cp:lastModifiedBy>Sunita Jain</cp:lastModifiedBy>
  <cp:revision>45</cp:revision>
  <dcterms:created xsi:type="dcterms:W3CDTF">2019-03-07T07:10:00Z</dcterms:created>
  <dcterms:modified xsi:type="dcterms:W3CDTF">2025-05-05T06:39:16Z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B8330B07C86244CC93E7A7A28400FD03</vt:lpwstr>
  </property>
  <property fmtid="{D5CDD505-2E9C-101B-9397-08002B2CF9AE}" pid="3" name="KSOProductBuildVer">
    <vt:lpwstr>1033-11.2.0.11440</vt:lpwstr>
  </property>
</Properties>
</file>
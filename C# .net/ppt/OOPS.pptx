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sldIdLst>
    <p:sldId id="317" r:id="rId6"/>
    <p:sldId id="257" r:id="rId7"/>
    <p:sldId id="258" r:id="rId8"/>
    <p:sldId id="261" r:id="rId9"/>
    <p:sldId id="263" r:id="rId10"/>
    <p:sldId id="262" r:id="rId11"/>
    <p:sldId id="264" r:id="rId12"/>
    <p:sldId id="266" r:id="rId13"/>
    <p:sldId id="267" r:id="rId14"/>
    <p:sldId id="260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90" r:id="rId34"/>
    <p:sldId id="286" r:id="rId35"/>
    <p:sldId id="287" r:id="rId36"/>
    <p:sldId id="288" r:id="rId37"/>
    <p:sldId id="289" r:id="rId38"/>
    <p:sldId id="291" r:id="rId39"/>
    <p:sldId id="292" r:id="rId40"/>
    <p:sldId id="293" r:id="rId41"/>
    <p:sldId id="294" r:id="rId42"/>
    <p:sldId id="295" r:id="rId43"/>
    <p:sldId id="319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18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164E98-2A63-406B-AA5A-57074488A264}">
          <p14:sldIdLst>
            <p14:sldId id="317"/>
            <p14:sldId id="257"/>
            <p14:sldId id="258"/>
            <p14:sldId id="261"/>
            <p14:sldId id="263"/>
            <p14:sldId id="262"/>
            <p14:sldId id="264"/>
            <p14:sldId id="266"/>
            <p14:sldId id="267"/>
            <p14:sldId id="260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90"/>
            <p14:sldId id="286"/>
            <p14:sldId id="287"/>
            <p14:sldId id="288"/>
            <p14:sldId id="289"/>
            <p14:sldId id="291"/>
            <p14:sldId id="292"/>
            <p14:sldId id="293"/>
            <p14:sldId id="294"/>
            <p14:sldId id="295"/>
            <p14:sldId id="319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18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624" y="1574538"/>
            <a:ext cx="8001000" cy="17015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624" y="3602038"/>
            <a:ext cx="8001000" cy="80681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/>
          <p:cNvSpPr/>
          <p:nvPr/>
        </p:nvSpPr>
        <p:spPr>
          <a:xfrm>
            <a:off x="7968342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/>
          <p:cNvSpPr/>
          <p:nvPr/>
        </p:nvSpPr>
        <p:spPr>
          <a:xfrm rot="10800000">
            <a:off x="5849258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376" y="2833449"/>
            <a:ext cx="2576683" cy="888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7818" y="175202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78160"/>
            <a:ext cx="9438716" cy="79760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11054459" cy="499055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75202"/>
            <a:ext cx="1160315" cy="369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686" y="1709739"/>
            <a:ext cx="7602764" cy="1892300"/>
          </a:xfrm>
        </p:spPr>
        <p:txBody>
          <a:bodyPr anchor="ctr"/>
          <a:lstStyle>
            <a:lvl1pPr algn="ctr">
              <a:defRPr sz="4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4686" y="3649066"/>
            <a:ext cx="7602764" cy="9809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376" y="2833449"/>
            <a:ext cx="2576683" cy="888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7171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7818" y="175202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48697"/>
            <a:ext cx="1160315" cy="369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7818" y="175201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75202"/>
            <a:ext cx="1160315" cy="369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75202"/>
            <a:ext cx="1160315" cy="369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75202"/>
            <a:ext cx="1160315" cy="369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4CCF-98B4-411A-8810-C31E8C29E19B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5611-795D-4CA2-867D-CD4830F3FEC5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EB7A5-C23D-4A83-B2A8-20B0DFFF495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1A818-3148-46C3-87F7-C123472F7CA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48D0-30D4-4602-849F-05F9D94C95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8228" y="3026847"/>
            <a:ext cx="8025230" cy="165576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rPr>
              <a:t>Object Oriented Programming </a:t>
            </a:r>
            <a:b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rPr>
            </a:b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rPr>
              <a:t>Concept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OOP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  <a:p>
            <a:r>
              <a:rPr lang="en-US" dirty="0"/>
              <a:t>Programming model for scalable applications.</a:t>
            </a:r>
          </a:p>
          <a:p>
            <a:r>
              <a:rPr lang="en-US" dirty="0"/>
              <a:t>Used in the most popular languages such as java, python, java </a:t>
            </a:r>
            <a:r>
              <a:rPr lang="en-US" dirty="0" err="1"/>
              <a:t>script,C</a:t>
            </a:r>
            <a:r>
              <a:rPr lang="en-US" dirty="0"/>
              <a:t>++ etc.</a:t>
            </a:r>
          </a:p>
          <a:p>
            <a:r>
              <a:rPr lang="en-US" dirty="0"/>
              <a:t>Goal of OOP to group-up some data and its operations as a single unit called object.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6274" y="1139031"/>
            <a:ext cx="10695464" cy="2289969"/>
          </a:xfrm>
        </p:spPr>
        <p:txBody>
          <a:bodyPr/>
          <a:lstStyle/>
          <a:p>
            <a:r>
              <a:rPr lang="en-US" dirty="0"/>
              <a:t>Object is a small unit (entity)in a program that represents a real-world person or thing.</a:t>
            </a: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31" y="3492266"/>
            <a:ext cx="1752600" cy="23431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923" y="3594894"/>
            <a:ext cx="1438275" cy="2124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066" y="3594894"/>
            <a:ext cx="1552575" cy="2152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8733799" cy="4514423"/>
          </a:xfrm>
        </p:spPr>
        <p:txBody>
          <a:bodyPr/>
          <a:lstStyle/>
          <a:p>
            <a:r>
              <a:rPr lang="en-US" dirty="0"/>
              <a:t>Class is a model of object.</a:t>
            </a:r>
          </a:p>
          <a:p>
            <a:r>
              <a:rPr lang="en-US" dirty="0"/>
              <a:t>Class represents structure (list of fields and methods) of data that you want to store in similar object.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023" y="3510542"/>
            <a:ext cx="2676525" cy="195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11054968" cy="2333931"/>
          </a:xfrm>
        </p:spPr>
        <p:txBody>
          <a:bodyPr/>
          <a:lstStyle/>
          <a:p>
            <a:r>
              <a:rPr lang="en-US" dirty="0"/>
              <a:t>Method is a collection of statements to perform certain operation(Process or work) such as performing some calculations , displaying some output, checking some conditions etc.</a:t>
            </a:r>
          </a:p>
          <a:p>
            <a:r>
              <a:rPr lang="en-US" dirty="0"/>
              <a:t>Method should be a member (part)of class.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79" y="3429000"/>
            <a:ext cx="6762750" cy="2466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and Class Association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9929553" cy="2509777"/>
          </a:xfrm>
        </p:spPr>
        <p:txBody>
          <a:bodyPr/>
          <a:lstStyle/>
          <a:p>
            <a:r>
              <a:rPr lang="en-US" dirty="0"/>
              <a:t>Object stores fields</a:t>
            </a:r>
          </a:p>
          <a:p>
            <a:r>
              <a:rPr lang="en-US" dirty="0"/>
              <a:t>Object associates </a:t>
            </a:r>
            <a:r>
              <a:rPr lang="en-US"/>
              <a:t>with all </a:t>
            </a:r>
            <a:r>
              <a:rPr lang="en-US" dirty="0"/>
              <a:t>methods</a:t>
            </a:r>
            <a:r>
              <a:rPr lang="en-IN" dirty="0"/>
              <a:t> of its class.</a:t>
            </a:r>
          </a:p>
          <a:p>
            <a:r>
              <a:rPr lang="en-IN" dirty="0"/>
              <a:t>Means, object can call methods of its class.</a:t>
            </a:r>
          </a:p>
          <a:p>
            <a:r>
              <a:rPr lang="en-IN" dirty="0"/>
              <a:t>Class declares the list of fields; defines list of methods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886" y="3098189"/>
            <a:ext cx="5152292" cy="3304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24" y="3413132"/>
            <a:ext cx="789168" cy="10550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785" y="4692570"/>
            <a:ext cx="804943" cy="1188757"/>
          </a:xfrm>
          <a:prstGeom prst="rect">
            <a:avLst/>
          </a:prstGeom>
        </p:spPr>
      </p:pic>
      <p:cxnSp>
        <p:nvCxnSpPr>
          <p:cNvPr id="8" name="Connector: Elbow 7"/>
          <p:cNvCxnSpPr/>
          <p:nvPr/>
        </p:nvCxnSpPr>
        <p:spPr>
          <a:xfrm>
            <a:off x="2652345" y="3701562"/>
            <a:ext cx="2051540" cy="123971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/>
          <p:cNvCxnSpPr/>
          <p:nvPr/>
        </p:nvCxnSpPr>
        <p:spPr>
          <a:xfrm>
            <a:off x="2652345" y="4941277"/>
            <a:ext cx="1752601" cy="221272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dirty="0"/>
              <a:t>			 class ClassName</a:t>
            </a:r>
          </a:p>
          <a:p>
            <a:pPr marL="914400" lvl="2" indent="0">
              <a:buNone/>
            </a:pPr>
            <a:r>
              <a:rPr lang="en-US" dirty="0"/>
              <a:t>			{</a:t>
            </a:r>
          </a:p>
          <a:p>
            <a:pPr marL="457200" lvl="1" indent="0">
              <a:buNone/>
            </a:pPr>
            <a:r>
              <a:rPr lang="en-US" dirty="0"/>
              <a:t>				</a:t>
            </a:r>
          </a:p>
          <a:p>
            <a:pPr marL="914400" lvl="2" indent="0">
              <a:buNone/>
            </a:pPr>
            <a:r>
              <a:rPr lang="en-US" dirty="0"/>
              <a:t>				Fields</a:t>
            </a:r>
          </a:p>
          <a:p>
            <a:pPr marL="914400" lvl="2" indent="0">
              <a:buNone/>
            </a:pPr>
            <a:r>
              <a:rPr lang="en-US" dirty="0"/>
              <a:t>				methods</a:t>
            </a:r>
          </a:p>
          <a:p>
            <a:pPr marL="914400" lvl="2" indent="0">
              <a:buNone/>
            </a:pPr>
            <a:r>
              <a:rPr lang="en-US" dirty="0"/>
              <a:t>				properties</a:t>
            </a:r>
          </a:p>
          <a:p>
            <a:pPr marL="914400" lvl="2" indent="0">
              <a:buNone/>
            </a:pPr>
            <a:r>
              <a:rPr lang="en-US" dirty="0"/>
              <a:t>				constructor</a:t>
            </a:r>
          </a:p>
          <a:p>
            <a:pPr marL="914400" lvl="2" indent="0">
              <a:buNone/>
            </a:pPr>
            <a:r>
              <a:rPr lang="en-US" dirty="0"/>
              <a:t>				Event</a:t>
            </a:r>
          </a:p>
          <a:p>
            <a:pPr marL="914400" lvl="2" indent="0">
              <a:buNone/>
            </a:pPr>
            <a:r>
              <a:rPr lang="en-US" dirty="0"/>
              <a:t>				Destructor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			} </a:t>
            </a:r>
            <a:endParaRPr lang="en-IN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			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accessmodifier</a:t>
            </a:r>
            <a:r>
              <a:rPr lang="en-US" dirty="0"/>
              <a:t>		 class ClassName</a:t>
            </a:r>
          </a:p>
          <a:p>
            <a:pPr marL="914400" lvl="2" indent="0">
              <a:buNone/>
            </a:pPr>
            <a:r>
              <a:rPr lang="en-US" dirty="0"/>
              <a:t>			{</a:t>
            </a:r>
          </a:p>
          <a:p>
            <a:pPr marL="457200" lvl="1" indent="0">
              <a:buNone/>
            </a:pPr>
            <a:r>
              <a:rPr lang="en-US" dirty="0"/>
              <a:t>				</a:t>
            </a:r>
          </a:p>
          <a:p>
            <a:pPr marL="914400" lvl="2" indent="0">
              <a:buNone/>
            </a:pPr>
            <a:r>
              <a:rPr lang="en-US" dirty="0"/>
              <a:t>				Fields</a:t>
            </a:r>
          </a:p>
          <a:p>
            <a:pPr marL="914400" lvl="2" indent="0">
              <a:buNone/>
            </a:pPr>
            <a:r>
              <a:rPr lang="en-US" dirty="0"/>
              <a:t>				methods</a:t>
            </a:r>
          </a:p>
          <a:p>
            <a:pPr marL="914400" lvl="2" indent="0">
              <a:buNone/>
            </a:pPr>
            <a:r>
              <a:rPr lang="en-US" dirty="0"/>
              <a:t>				properties</a:t>
            </a:r>
          </a:p>
          <a:p>
            <a:pPr marL="914400" lvl="2" indent="0">
              <a:buNone/>
            </a:pPr>
            <a:r>
              <a:rPr lang="en-US" dirty="0"/>
              <a:t>				constructor</a:t>
            </a:r>
          </a:p>
          <a:p>
            <a:pPr marL="914400" lvl="2" indent="0">
              <a:buNone/>
            </a:pPr>
            <a:r>
              <a:rPr lang="en-US" dirty="0"/>
              <a:t>				Event</a:t>
            </a:r>
          </a:p>
          <a:p>
            <a:pPr marL="914400" lvl="2" indent="0">
              <a:buNone/>
            </a:pPr>
            <a:r>
              <a:rPr lang="en-US" dirty="0"/>
              <a:t>				Destructor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			} </a:t>
            </a:r>
            <a:endParaRPr lang="en-IN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			</a:t>
            </a:r>
          </a:p>
          <a:p>
            <a:endParaRPr lang="en-IN" dirty="0"/>
          </a:p>
        </p:txBody>
      </p:sp>
      <p:sp>
        <p:nvSpPr>
          <p:cNvPr id="4" name="Speech Bubble: Rectangle with Corners Rounded 3"/>
          <p:cNvSpPr/>
          <p:nvPr/>
        </p:nvSpPr>
        <p:spPr>
          <a:xfrm>
            <a:off x="940777" y="2314097"/>
            <a:ext cx="2382715" cy="2829403"/>
          </a:xfrm>
          <a:prstGeom prst="wedgeRoundRectCallout">
            <a:avLst>
              <a:gd name="adj1" fmla="val 60579"/>
              <a:gd name="adj2" fmla="val -6380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Trebuchet MS" panose="020B0603020202020204" pitchFamily="34" charset="0"/>
              </a:rPr>
              <a:t>1. Internal</a:t>
            </a:r>
          </a:p>
          <a:p>
            <a:r>
              <a:rPr lang="en-US" sz="1600" dirty="0">
                <a:latin typeface="Trebuchet MS" panose="020B0603020202020204" pitchFamily="34" charset="0"/>
              </a:rPr>
              <a:t>2. Public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Internal </a:t>
            </a:r>
            <a:r>
              <a:rPr lang="en-US" sz="1600" dirty="0">
                <a:latin typeface="Trebuchet MS" panose="020B0603020202020204" pitchFamily="34" charset="0"/>
              </a:rPr>
              <a:t>is accessible within the same assembly.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Public </a:t>
            </a:r>
            <a:r>
              <a:rPr lang="en-US" sz="1600" dirty="0">
                <a:latin typeface="Trebuchet MS" panose="020B0603020202020204" pitchFamily="34" charset="0"/>
              </a:rPr>
              <a:t>class is accessible is same assembly and also in other assemblies.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accessmodifier</a:t>
            </a:r>
            <a:r>
              <a:rPr lang="en-US" dirty="0"/>
              <a:t>  modifier	 class ClassName</a:t>
            </a:r>
          </a:p>
          <a:p>
            <a:pPr marL="914400" lvl="2" indent="0">
              <a:buNone/>
            </a:pPr>
            <a:r>
              <a:rPr lang="en-US" dirty="0"/>
              <a:t>			{</a:t>
            </a:r>
          </a:p>
          <a:p>
            <a:pPr marL="457200" lvl="1" indent="0">
              <a:buNone/>
            </a:pPr>
            <a:r>
              <a:rPr lang="en-US" dirty="0"/>
              <a:t>				</a:t>
            </a:r>
          </a:p>
          <a:p>
            <a:pPr marL="914400" lvl="2" indent="0">
              <a:buNone/>
            </a:pPr>
            <a:r>
              <a:rPr lang="en-US" dirty="0"/>
              <a:t>				Fields</a:t>
            </a:r>
          </a:p>
          <a:p>
            <a:pPr marL="914400" lvl="2" indent="0">
              <a:buNone/>
            </a:pPr>
            <a:r>
              <a:rPr lang="en-US" dirty="0"/>
              <a:t>				methods</a:t>
            </a:r>
          </a:p>
          <a:p>
            <a:pPr marL="914400" lvl="2" indent="0">
              <a:buNone/>
            </a:pPr>
            <a:r>
              <a:rPr lang="en-US" dirty="0"/>
              <a:t>				properties</a:t>
            </a:r>
          </a:p>
          <a:p>
            <a:pPr marL="914400" lvl="2" indent="0">
              <a:buNone/>
            </a:pPr>
            <a:r>
              <a:rPr lang="en-US" dirty="0"/>
              <a:t>				constructor</a:t>
            </a:r>
          </a:p>
          <a:p>
            <a:pPr marL="914400" lvl="2" indent="0">
              <a:buNone/>
            </a:pPr>
            <a:r>
              <a:rPr lang="en-US" dirty="0"/>
              <a:t>				Event</a:t>
            </a:r>
          </a:p>
          <a:p>
            <a:pPr marL="914400" lvl="2" indent="0">
              <a:buNone/>
            </a:pPr>
            <a:r>
              <a:rPr lang="en-US" dirty="0"/>
              <a:t>				Destructor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			} </a:t>
            </a:r>
            <a:endParaRPr lang="en-IN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			</a:t>
            </a:r>
          </a:p>
          <a:p>
            <a:endParaRPr lang="en-IN" dirty="0"/>
          </a:p>
        </p:txBody>
      </p:sp>
      <p:sp>
        <p:nvSpPr>
          <p:cNvPr id="4" name="Speech Bubble: Rectangle with Corners Rounded 3"/>
          <p:cNvSpPr/>
          <p:nvPr/>
        </p:nvSpPr>
        <p:spPr>
          <a:xfrm>
            <a:off x="940777" y="2314097"/>
            <a:ext cx="2382715" cy="2829403"/>
          </a:xfrm>
          <a:prstGeom prst="wedgeRoundRectCallout">
            <a:avLst>
              <a:gd name="adj1" fmla="val 60579"/>
              <a:gd name="adj2" fmla="val -6380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Trebuchet MS" panose="020B0603020202020204" pitchFamily="34" charset="0"/>
              </a:rPr>
              <a:t>1. Internal</a:t>
            </a:r>
          </a:p>
          <a:p>
            <a:r>
              <a:rPr lang="en-US" sz="1600" dirty="0">
                <a:latin typeface="Trebuchet MS" panose="020B0603020202020204" pitchFamily="34" charset="0"/>
              </a:rPr>
              <a:t>2. Public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Internal </a:t>
            </a:r>
            <a:r>
              <a:rPr lang="en-US" sz="1600" dirty="0">
                <a:latin typeface="Trebuchet MS" panose="020B0603020202020204" pitchFamily="34" charset="0"/>
              </a:rPr>
              <a:t>is accessible within the same assembly.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Public </a:t>
            </a:r>
            <a:r>
              <a:rPr lang="en-US" sz="1600" dirty="0">
                <a:latin typeface="Trebuchet MS" panose="020B0603020202020204" pitchFamily="34" charset="0"/>
              </a:rPr>
              <a:t>class is accessible is same assembly and also in other assemblies.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</a:t>
            </a:r>
          </a:p>
          <a:p>
            <a:pPr marL="457200" lvl="1" indent="0">
              <a:buNone/>
            </a:pPr>
            <a:r>
              <a:rPr lang="en-US" dirty="0"/>
              <a:t>			accessmodfier   modifier class ClassName</a:t>
            </a:r>
          </a:p>
          <a:p>
            <a:pPr marL="457200" lvl="1" indent="0">
              <a:buNone/>
            </a:pPr>
            <a:r>
              <a:rPr lang="en-US" dirty="0"/>
              <a:t>			{</a:t>
            </a:r>
          </a:p>
          <a:p>
            <a:pPr marL="457200" lvl="1" indent="0">
              <a:buNone/>
            </a:pPr>
            <a:r>
              <a:rPr lang="en-US" dirty="0"/>
              <a:t>				Fields</a:t>
            </a:r>
          </a:p>
          <a:p>
            <a:pPr marL="457200" lvl="1" indent="0">
              <a:buNone/>
            </a:pPr>
            <a:r>
              <a:rPr lang="en-US" dirty="0"/>
              <a:t>				methods</a:t>
            </a:r>
          </a:p>
          <a:p>
            <a:pPr marL="457200" lvl="1" indent="0">
              <a:buNone/>
            </a:pPr>
            <a:r>
              <a:rPr lang="en-US" dirty="0"/>
              <a:t>				properties</a:t>
            </a:r>
          </a:p>
          <a:p>
            <a:pPr marL="457200" lvl="1" indent="0">
              <a:buNone/>
            </a:pPr>
            <a:r>
              <a:rPr lang="en-US" dirty="0"/>
              <a:t>				constructor</a:t>
            </a:r>
          </a:p>
          <a:p>
            <a:pPr marL="457200" lvl="1" indent="0">
              <a:buNone/>
            </a:pPr>
            <a:r>
              <a:rPr lang="en-US" dirty="0"/>
              <a:t>				Event</a:t>
            </a:r>
          </a:p>
          <a:p>
            <a:pPr marL="457200" lvl="1" indent="0">
              <a:buNone/>
            </a:pPr>
            <a:r>
              <a:rPr lang="en-US" dirty="0"/>
              <a:t>				Destructor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		} </a:t>
            </a:r>
            <a:endParaRPr lang="en-IN" dirty="0"/>
          </a:p>
        </p:txBody>
      </p:sp>
      <p:sp>
        <p:nvSpPr>
          <p:cNvPr id="4" name="Speech Bubble: Rectangle with Corners Rounded 3"/>
          <p:cNvSpPr/>
          <p:nvPr/>
        </p:nvSpPr>
        <p:spPr>
          <a:xfrm>
            <a:off x="940777" y="2314097"/>
            <a:ext cx="2382715" cy="2829403"/>
          </a:xfrm>
          <a:prstGeom prst="wedgeRoundRectCallout">
            <a:avLst>
              <a:gd name="adj1" fmla="val 60579"/>
              <a:gd name="adj2" fmla="val -6380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Trebuchet MS" panose="020B0603020202020204" pitchFamily="34" charset="0"/>
              </a:rPr>
              <a:t>1. Internal</a:t>
            </a:r>
          </a:p>
          <a:p>
            <a:r>
              <a:rPr lang="en-US" sz="1600" dirty="0">
                <a:latin typeface="Trebuchet MS" panose="020B0603020202020204" pitchFamily="34" charset="0"/>
              </a:rPr>
              <a:t>2. Public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Internal </a:t>
            </a:r>
            <a:r>
              <a:rPr lang="en-US" sz="1600" dirty="0">
                <a:latin typeface="Trebuchet MS" panose="020B0603020202020204" pitchFamily="34" charset="0"/>
              </a:rPr>
              <a:t>is accessible within the same assembly.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Public </a:t>
            </a:r>
            <a:r>
              <a:rPr lang="en-US" sz="1600" dirty="0">
                <a:latin typeface="Trebuchet MS" panose="020B0603020202020204" pitchFamily="34" charset="0"/>
              </a:rPr>
              <a:t>class is accessible is same assembly and also in other assemblies.</a:t>
            </a:r>
          </a:p>
          <a:p>
            <a:endParaRPr lang="en-IN" dirty="0"/>
          </a:p>
        </p:txBody>
      </p:sp>
      <p:sp>
        <p:nvSpPr>
          <p:cNvPr id="5" name="Speech Bubble: Rectangle with Corners Rounded 4"/>
          <p:cNvSpPr/>
          <p:nvPr/>
        </p:nvSpPr>
        <p:spPr>
          <a:xfrm>
            <a:off x="6246450" y="2504088"/>
            <a:ext cx="3759196" cy="3200399"/>
          </a:xfrm>
          <a:prstGeom prst="wedgeRoundRectCallout">
            <a:avLst>
              <a:gd name="adj1" fmla="val -49576"/>
              <a:gd name="adj2" fmla="val -6439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600" dirty="0">
                <a:latin typeface="Trebuchet MS" panose="020B0603020202020204" pitchFamily="34" charset="0"/>
              </a:rPr>
              <a:t>Static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rebuchet MS" panose="020B0603020202020204" pitchFamily="34" charset="0"/>
              </a:rPr>
              <a:t>Abstract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rebuchet MS" panose="020B0603020202020204" pitchFamily="34" charset="0"/>
              </a:rPr>
              <a:t>Sealed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rebuchet MS" panose="020B0603020202020204" pitchFamily="34" charset="0"/>
              </a:rPr>
              <a:t>Partial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Static</a:t>
            </a:r>
            <a:r>
              <a:rPr lang="en-US" sz="1600" dirty="0">
                <a:latin typeface="Trebuchet MS" panose="020B0603020202020204" pitchFamily="34" charset="0"/>
              </a:rPr>
              <a:t> class contain only static members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Abstract</a:t>
            </a:r>
            <a:r>
              <a:rPr lang="en-US" sz="1600" dirty="0">
                <a:latin typeface="Trebuchet MS" panose="020B0603020202020204" pitchFamily="34" charset="0"/>
              </a:rPr>
              <a:t> class contain abstract method</a:t>
            </a:r>
          </a:p>
          <a:p>
            <a:r>
              <a:rPr lang="en-US" sz="1600" u="sng" dirty="0">
                <a:latin typeface="Trebuchet MS" panose="020B0603020202020204" pitchFamily="34" charset="0"/>
              </a:rPr>
              <a:t>Sealed</a:t>
            </a:r>
            <a:r>
              <a:rPr lang="en-US" sz="1600" dirty="0">
                <a:latin typeface="Trebuchet MS" panose="020B0603020202020204" pitchFamily="34" charset="0"/>
              </a:rPr>
              <a:t> class cannot be inherited.</a:t>
            </a:r>
          </a:p>
          <a:p>
            <a:r>
              <a:rPr lang="en-US" sz="1600" dirty="0">
                <a:latin typeface="Trebuchet MS" panose="020B0603020202020204" pitchFamily="34" charset="0"/>
              </a:rPr>
              <a:t>Multiple </a:t>
            </a:r>
            <a:r>
              <a:rPr lang="en-US" sz="1600" u="sng" dirty="0">
                <a:latin typeface="Trebuchet MS" panose="020B0603020202020204" pitchFamily="34" charset="0"/>
              </a:rPr>
              <a:t>partial</a:t>
            </a:r>
            <a:r>
              <a:rPr lang="en-US" sz="1600" dirty="0">
                <a:latin typeface="Trebuchet MS" panose="020B0603020202020204" pitchFamily="34" charset="0"/>
              </a:rPr>
              <a:t> classes that have same name , are combined into single class.</a:t>
            </a:r>
            <a:endParaRPr lang="en-IN" sz="16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objects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Creating a Reference variable</a:t>
            </a:r>
          </a:p>
          <a:p>
            <a:pPr lvl="1"/>
            <a:r>
              <a:rPr lang="en-US" dirty="0" err="1"/>
              <a:t>Classname</a:t>
            </a:r>
            <a:r>
              <a:rPr lang="en-US" dirty="0"/>
              <a:t> </a:t>
            </a:r>
            <a:r>
              <a:rPr lang="en-US" dirty="0" err="1"/>
              <a:t>variablename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Customer c;</a:t>
            </a:r>
          </a:p>
          <a:p>
            <a:r>
              <a:rPr lang="en-US" dirty="0"/>
              <a:t>Create a object and Store Its reference into reference variable.</a:t>
            </a:r>
          </a:p>
          <a:p>
            <a:pPr marL="0" indent="0">
              <a:buNone/>
            </a:pPr>
            <a:r>
              <a:rPr lang="en-IN" dirty="0"/>
              <a:t>	c=new Customer();</a:t>
            </a:r>
          </a:p>
        </p:txBody>
      </p:sp>
      <p:sp>
        <p:nvSpPr>
          <p:cNvPr id="4" name="Rectangle 3"/>
          <p:cNvSpPr/>
          <p:nvPr/>
        </p:nvSpPr>
        <p:spPr>
          <a:xfrm>
            <a:off x="4615962" y="1846385"/>
            <a:ext cx="2646484" cy="1424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8191069" y="1846384"/>
            <a:ext cx="2646484" cy="1424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651131" y="2769577"/>
            <a:ext cx="2514600" cy="378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Reference variable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8268734" y="1919654"/>
            <a:ext cx="2514600" cy="378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</a:t>
            </a:r>
            <a:endParaRPr lang="en-IN" dirty="0"/>
          </a:p>
        </p:txBody>
      </p:sp>
      <p:cxnSp>
        <p:nvCxnSpPr>
          <p:cNvPr id="9" name="Connector: Elbow 8"/>
          <p:cNvCxnSpPr/>
          <p:nvPr/>
        </p:nvCxnSpPr>
        <p:spPr>
          <a:xfrm flipV="1">
            <a:off x="7165731" y="2162908"/>
            <a:ext cx="1025338" cy="7957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/>
          <p:nvPr/>
        </p:nvSpPr>
        <p:spPr>
          <a:xfrm>
            <a:off x="879124" y="1405731"/>
            <a:ext cx="11039452" cy="2843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Font typeface="Arial" panose="020B0604020202020204" pitchFamily="34" charset="0"/>
              <a:buNone/>
            </a:pPr>
            <a:r>
              <a:rPr lang="en-US"/>
              <a:t>	Stack				Heap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to Remember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Object is a programmatic representation of a person or thing.</a:t>
            </a:r>
          </a:p>
          <a:p>
            <a:r>
              <a:rPr lang="en-US" dirty="0"/>
              <a:t>All the objects are created based on classes; stored in a heap.</a:t>
            </a:r>
          </a:p>
          <a:p>
            <a:r>
              <a:rPr lang="en-US" dirty="0"/>
              <a:t>For each application execution, a new heap will be created. Once the application close the heap will be deleted. Means you will loose all the objects which will store in heap.</a:t>
            </a:r>
          </a:p>
          <a:p>
            <a:r>
              <a:rPr lang="en-US" dirty="0"/>
              <a:t>Heap memory is common for all the classes within the application.</a:t>
            </a:r>
          </a:p>
          <a:p>
            <a:r>
              <a:rPr lang="en-US" dirty="0"/>
              <a:t>All reference variable (local variable of a method)are stored in a stack. For each method call a new stack will be created.</a:t>
            </a:r>
          </a:p>
          <a:p>
            <a:r>
              <a:rPr lang="en-US" dirty="0"/>
              <a:t>Method is collection of statements to perform some operation/calculation.</a:t>
            </a:r>
          </a:p>
          <a:p>
            <a:r>
              <a:rPr lang="en-US" dirty="0"/>
              <a:t>Class support two access modifiers : Internal and Public</a:t>
            </a:r>
          </a:p>
          <a:p>
            <a:r>
              <a:rPr lang="en-US" dirty="0"/>
              <a:t>Class support four modifiers: static ,abstract, sealed ,partial</a:t>
            </a:r>
          </a:p>
          <a:p>
            <a:r>
              <a:rPr lang="en-US" dirty="0"/>
              <a:t>Object stores actual data (group of fields) &amp; can access methods of class</a:t>
            </a:r>
          </a:p>
          <a:p>
            <a:r>
              <a:rPr lang="en-US" dirty="0"/>
              <a:t>A reference variable stores address of an (only one) object.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Fields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274" y="1075765"/>
            <a:ext cx="10062418" cy="20718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Variables that are declared in the class; stored in the object.</a:t>
            </a:r>
          </a:p>
          <a:p>
            <a:r>
              <a:rPr lang="en-US" dirty="0"/>
              <a:t>Isolated for each object.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914400" lvl="2" indent="0">
              <a:buNone/>
            </a:pPr>
            <a:r>
              <a:rPr lang="en-IN" dirty="0"/>
              <a:t>Objects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44" y="3324052"/>
            <a:ext cx="1438275" cy="2124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561" y="3147646"/>
            <a:ext cx="1752600" cy="23431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975946" y="3147646"/>
            <a:ext cx="31652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776" y="3147646"/>
            <a:ext cx="2676525" cy="195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Fields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Syntax:</a:t>
            </a:r>
          </a:p>
          <a:p>
            <a:pPr marL="1371600" lvl="3" indent="0">
              <a:buNone/>
            </a:pPr>
            <a:r>
              <a:rPr lang="en-IN" dirty="0"/>
              <a:t>accessmodfier   modifier type Fieldname;</a:t>
            </a:r>
          </a:p>
        </p:txBody>
      </p:sp>
      <p:sp>
        <p:nvSpPr>
          <p:cNvPr id="4" name="Speech Bubble: Rectangle with Corners Rounded 3"/>
          <p:cNvSpPr/>
          <p:nvPr/>
        </p:nvSpPr>
        <p:spPr>
          <a:xfrm>
            <a:off x="726440" y="2329815"/>
            <a:ext cx="2341880" cy="2724150"/>
          </a:xfrm>
          <a:prstGeom prst="wedgeRoundRectCallout">
            <a:avLst>
              <a:gd name="adj1" fmla="val 39511"/>
              <a:gd name="adj2" fmla="val -6723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1.public</a:t>
            </a:r>
          </a:p>
          <a:p>
            <a:r>
              <a:rPr lang="en-US" dirty="0"/>
              <a:t>2.protected</a:t>
            </a:r>
          </a:p>
          <a:p>
            <a:r>
              <a:rPr lang="en-US" dirty="0"/>
              <a:t>3.private protected</a:t>
            </a:r>
          </a:p>
          <a:p>
            <a:r>
              <a:rPr lang="en-US" dirty="0"/>
              <a:t>4.Internal</a:t>
            </a:r>
          </a:p>
          <a:p>
            <a:r>
              <a:rPr lang="en-US" dirty="0"/>
              <a:t>5.protected internal</a:t>
            </a:r>
          </a:p>
          <a:p>
            <a:r>
              <a:rPr lang="en-US" dirty="0"/>
              <a:t>6.private </a:t>
            </a:r>
            <a:endParaRPr lang="en-IN" dirty="0"/>
          </a:p>
        </p:txBody>
      </p:sp>
      <p:sp>
        <p:nvSpPr>
          <p:cNvPr id="5" name="Speech Bubble: Rectangle with Corners Rounded 4"/>
          <p:cNvSpPr/>
          <p:nvPr/>
        </p:nvSpPr>
        <p:spPr>
          <a:xfrm>
            <a:off x="3985846" y="2587565"/>
            <a:ext cx="4220308" cy="3719146"/>
          </a:xfrm>
          <a:prstGeom prst="wedgeRoundRectCallout">
            <a:avLst>
              <a:gd name="adj1" fmla="val -42499"/>
              <a:gd name="adj2" fmla="val -6799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/>
              <a:t>Static</a:t>
            </a:r>
          </a:p>
          <a:p>
            <a:pPr marL="342900" indent="-342900">
              <a:buAutoNum type="arabicPeriod"/>
            </a:pPr>
            <a:r>
              <a:rPr lang="en-US" dirty="0"/>
              <a:t>Const</a:t>
            </a:r>
          </a:p>
          <a:p>
            <a:pPr marL="342900" indent="-342900">
              <a:buAutoNum type="arabicPeriod"/>
            </a:pPr>
            <a:r>
              <a:rPr lang="en-US" dirty="0"/>
              <a:t>Readonly</a:t>
            </a:r>
            <a:endParaRPr lang="en-IN" dirty="0"/>
          </a:p>
          <a:p>
            <a:r>
              <a:rPr lang="en-IN" u="sng" dirty="0"/>
              <a:t>Static</a:t>
            </a:r>
            <a:r>
              <a:rPr lang="en-IN" dirty="0"/>
              <a:t> is common for all the objects.</a:t>
            </a:r>
          </a:p>
          <a:p>
            <a:r>
              <a:rPr lang="en-IN" dirty="0"/>
              <a:t>accessible within the class</a:t>
            </a:r>
          </a:p>
          <a:p>
            <a:r>
              <a:rPr lang="en-IN" u="sng" dirty="0" err="1"/>
              <a:t>Const</a:t>
            </a:r>
            <a:r>
              <a:rPr lang="en-IN" dirty="0"/>
              <a:t> field value cannot be modified.</a:t>
            </a:r>
          </a:p>
          <a:p>
            <a:r>
              <a:rPr lang="en-IN" dirty="0"/>
              <a:t>Complier replaces all the constant names with respective value.</a:t>
            </a:r>
          </a:p>
          <a:p>
            <a:r>
              <a:rPr lang="en-IN" dirty="0" err="1"/>
              <a:t>Const</a:t>
            </a:r>
            <a:r>
              <a:rPr lang="en-IN" dirty="0"/>
              <a:t> is by default static</a:t>
            </a:r>
          </a:p>
          <a:p>
            <a:r>
              <a:rPr lang="en-IN" u="sng" dirty="0" err="1"/>
              <a:t>Readonly</a:t>
            </a:r>
            <a:r>
              <a:rPr lang="en-IN" dirty="0"/>
              <a:t> fields value cannot be modified.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 of Fields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0527430" cy="1999823"/>
          </a:xfrm>
        </p:spPr>
        <p:txBody>
          <a:bodyPr/>
          <a:lstStyle/>
          <a:p>
            <a:r>
              <a:rPr lang="en-US" dirty="0"/>
              <a:t>Access modifier(Access specifier or visibility modifier) specifies the accessibility of fields , where the fields can be accessible ; they provide security for fields.</a:t>
            </a:r>
          </a:p>
          <a:p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6938" y="2548466"/>
          <a:ext cx="10207002" cy="369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1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1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Access Modifier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In the same class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In the child classes at same assembly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In the other classes at same assembly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Child classes at other assembly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Other classes at other assembly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private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protected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private protected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Internal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protected internal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 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No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7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Public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rebuchet MS" panose="020B0603020202020204" pitchFamily="34" charset="0"/>
                        </a:rPr>
                        <a:t>Yes</a:t>
                      </a:r>
                      <a:endParaRPr lang="en-IN" sz="16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fields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9903176" cy="2958185"/>
          </a:xfrm>
        </p:spPr>
        <p:txBody>
          <a:bodyPr/>
          <a:lstStyle/>
          <a:p>
            <a:r>
              <a:rPr lang="en-US" dirty="0"/>
              <a:t>Static fields are store outside the object.</a:t>
            </a:r>
          </a:p>
          <a:p>
            <a:r>
              <a:rPr lang="en-US" dirty="0"/>
              <a:t>Static fields are common to all objects of a class.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803456" y="2589048"/>
            <a:ext cx="44225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Trebuchet MS" panose="020B0603020202020204" pitchFamily="34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latin typeface="Trebuchet MS" panose="020B0603020202020204" pitchFamily="34" charset="0"/>
              </a:rPr>
              <a:t>BankAccount</a:t>
            </a:r>
            <a:endParaRPr lang="en-IN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   {</a:t>
            </a:r>
          </a:p>
          <a:p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Trebuchet MS" panose="020B0603020202020204" pitchFamily="34" charset="0"/>
              </a:rPr>
              <a:t>long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rebuchet MS" panose="020B0603020202020204" pitchFamily="34" charset="0"/>
              </a:rPr>
              <a:t>accountNumber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Trebuchet MS" panose="020B0603020202020204" pitchFamily="34" charset="0"/>
              </a:rPr>
              <a:t>string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rebuchet MS" panose="020B0603020202020204" pitchFamily="34" charset="0"/>
              </a:rPr>
              <a:t>accountHolderName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rebuchet MS" panose="020B0603020202020204" pitchFamily="34" charset="0"/>
              </a:rPr>
              <a:t>currentBalance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Trebuchet MS" panose="020B0603020202020204" pitchFamily="34" charset="0"/>
              </a:rPr>
              <a:t>static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Trebuchet MS" panose="020B0603020202020204" pitchFamily="34" charset="0"/>
              </a:rPr>
              <a:t>string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rebuchet MS" panose="020B0603020202020204" pitchFamily="34" charset="0"/>
              </a:rPr>
              <a:t>BankName</a:t>
            </a:r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Trebuchet MS" panose="020B0603020202020204" pitchFamily="34" charset="0"/>
              </a:rPr>
              <a:t>    }</a:t>
            </a:r>
            <a:endParaRPr lang="en-IN" dirty="0">
              <a:latin typeface="Trebuchet MS" panose="020B0603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174023" y="569741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1" y="4561244"/>
            <a:ext cx="6581775" cy="1638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20" y="2925641"/>
            <a:ext cx="39243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fields (vs) static fields </a:t>
            </a:r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533644" y="1208577"/>
          <a:ext cx="8372964" cy="4986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6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9527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Instance Fields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Static Fields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527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Stored in objects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Stored in class memory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527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Represents data related to objects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Represents common data that belongs to all objects.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527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Declared without any keyword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Declared with static keyword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527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Accessible with object</a:t>
                      </a:r>
                    </a:p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(through reference variable)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Accessible with class name.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527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Memory Allocated separately for each object, because instance field are stored “inside” the objects.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Memory Allocated only once for entire program; i.e. When the class is used for the first time while executing the program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fields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Constants fields are like static fields, that are common to all objects of the class.</a:t>
            </a:r>
          </a:p>
          <a:p>
            <a:r>
              <a:rPr lang="en-US" dirty="0"/>
              <a:t>We cant change the value of the constant fields</a:t>
            </a:r>
          </a:p>
          <a:p>
            <a:r>
              <a:rPr lang="en-US" dirty="0"/>
              <a:t>Constants fields are accessible with class name [not with object]</a:t>
            </a:r>
          </a:p>
          <a:p>
            <a:r>
              <a:rPr lang="en-US" dirty="0"/>
              <a:t>Constants fields are not stored in the object; will not be stored anywhere.</a:t>
            </a:r>
          </a:p>
          <a:p>
            <a:r>
              <a:rPr lang="en-US" dirty="0"/>
              <a:t>Constants fields will be replaced with its value , while compilation; so it will not be stored anywhere in memory.</a:t>
            </a:r>
          </a:p>
          <a:p>
            <a:r>
              <a:rPr lang="en-IN" dirty="0"/>
              <a:t>Constants fields must be initialized, in line declaration (with a literal value only)</a:t>
            </a:r>
          </a:p>
          <a:p>
            <a:r>
              <a:rPr lang="en-IN" dirty="0"/>
              <a:t>Constants can be declared as a ‘local constants’ (in method).</a:t>
            </a:r>
          </a:p>
          <a:p>
            <a:r>
              <a:rPr lang="en-IN" dirty="0"/>
              <a:t>Syntax:</a:t>
            </a:r>
          </a:p>
          <a:p>
            <a:pPr lvl="1"/>
            <a:r>
              <a:rPr lang="en-IN" dirty="0" err="1"/>
              <a:t>Accessmodifier</a:t>
            </a:r>
            <a:r>
              <a:rPr lang="en-IN" dirty="0"/>
              <a:t> </a:t>
            </a:r>
            <a:r>
              <a:rPr lang="en-IN" dirty="0" err="1">
                <a:solidFill>
                  <a:schemeClr val="accent1"/>
                </a:solidFill>
              </a:rPr>
              <a:t>const</a:t>
            </a:r>
            <a:r>
              <a:rPr lang="en-IN" dirty="0"/>
              <a:t> type </a:t>
            </a:r>
            <a:r>
              <a:rPr lang="en-IN" dirty="0" err="1"/>
              <a:t>FieldName</a:t>
            </a:r>
            <a:r>
              <a:rPr lang="en-IN"/>
              <a:t>=value;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Readonly fields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Readonly fields are like instance field, that is stored in every object, individually.</a:t>
            </a:r>
          </a:p>
          <a:p>
            <a:r>
              <a:rPr lang="en-US" dirty="0"/>
              <a:t>We cannot change the value of readonly field.</a:t>
            </a:r>
          </a:p>
          <a:p>
            <a:r>
              <a:rPr lang="en-US" dirty="0"/>
              <a:t>Readonly fields are accessible with reference variable.[with object]</a:t>
            </a:r>
          </a:p>
          <a:p>
            <a:r>
              <a:rPr lang="en-US" dirty="0"/>
              <a:t>Readonly fields must be initialized either “in-line with declaration” [or]</a:t>
            </a:r>
          </a:p>
          <a:p>
            <a:pPr marL="0" indent="0">
              <a:buNone/>
            </a:pPr>
            <a:r>
              <a:rPr lang="en-US" dirty="0"/>
              <a:t>   “in the constructor”.</a:t>
            </a:r>
          </a:p>
          <a:p>
            <a:r>
              <a:rPr lang="en-US" dirty="0"/>
              <a:t>Readonly fields declare in class level only.[You cannot declare readonly fields in method]</a:t>
            </a:r>
          </a:p>
          <a:p>
            <a:r>
              <a:rPr lang="en-US" dirty="0"/>
              <a:t>Syntax:</a:t>
            </a:r>
          </a:p>
          <a:p>
            <a:pPr marL="457200" lvl="1" indent="0">
              <a:buNone/>
            </a:pPr>
            <a:r>
              <a:rPr lang="en-US" dirty="0"/>
              <a:t>Accessmodfier readonly Datatype FieldName=value;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to Remember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Fields are variables that are declared in the class; but stored in the object.</a:t>
            </a:r>
          </a:p>
          <a:p>
            <a:r>
              <a:rPr lang="en-US" dirty="0"/>
              <a:t>Access modifiers of fields:private,protected,private protected,internal,protected intenal,public.</a:t>
            </a:r>
          </a:p>
          <a:p>
            <a:r>
              <a:rPr lang="en-US" dirty="0"/>
              <a:t>Modifiers of fields: static , const , readonly.</a:t>
            </a:r>
          </a:p>
          <a:p>
            <a:r>
              <a:rPr lang="en-US" dirty="0"/>
              <a:t>Instance fields are induvial for each object; static fields are common (one-time) for all object.</a:t>
            </a:r>
          </a:p>
          <a:p>
            <a:r>
              <a:rPr lang="en-US" dirty="0"/>
              <a:t>Constants must be initialized along with declaration; Readonly fields must be initialized either ‘along with declaration’ or ‘in instance constructor. 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10105399" cy="2632869"/>
          </a:xfrm>
        </p:spPr>
        <p:txBody>
          <a:bodyPr/>
          <a:lstStyle/>
          <a:p>
            <a:r>
              <a:rPr lang="en-US" dirty="0"/>
              <a:t>Method is a function (group of statements), to do some process based on fields.</a:t>
            </a:r>
          </a:p>
          <a:p>
            <a:r>
              <a:rPr lang="en-US" dirty="0"/>
              <a:t>Methods are parts of class.</a:t>
            </a:r>
          </a:p>
          <a:p>
            <a:r>
              <a:rPr lang="en-US" dirty="0"/>
              <a:t> Methods can receive one or more input values as “parameters” and return a value as “return”.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16" y="3553925"/>
            <a:ext cx="4888522" cy="3304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Accessmodirfier</a:t>
            </a:r>
            <a:r>
              <a:rPr lang="en-US" dirty="0"/>
              <a:t> modifier </a:t>
            </a:r>
            <a:r>
              <a:rPr lang="en-US" dirty="0" err="1"/>
              <a:t>returntype</a:t>
            </a:r>
            <a:r>
              <a:rPr lang="en-US" dirty="0"/>
              <a:t> </a:t>
            </a:r>
            <a:r>
              <a:rPr lang="en-US" dirty="0" err="1"/>
              <a:t>MethodName</a:t>
            </a:r>
            <a:r>
              <a:rPr lang="en-US" dirty="0"/>
              <a:t>(parameter1,para 2…….)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Method body hear</a:t>
            </a:r>
          </a:p>
          <a:p>
            <a:pPr marL="0" indent="0">
              <a:buNone/>
            </a:pPr>
            <a:r>
              <a:rPr lang="en-US" dirty="0"/>
              <a:t>} </a:t>
            </a:r>
            <a:endParaRPr lang="en-IN" dirty="0"/>
          </a:p>
        </p:txBody>
      </p:sp>
      <p:sp>
        <p:nvSpPr>
          <p:cNvPr id="5" name="Speech Bubble: Rectangle with Corners Rounded 4"/>
          <p:cNvSpPr/>
          <p:nvPr/>
        </p:nvSpPr>
        <p:spPr>
          <a:xfrm>
            <a:off x="726440" y="876300"/>
            <a:ext cx="2310765" cy="2447290"/>
          </a:xfrm>
          <a:prstGeom prst="wedgeRoundRectCallout">
            <a:avLst>
              <a:gd name="adj1" fmla="val 5976"/>
              <a:gd name="adj2" fmla="val 6027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1.public</a:t>
            </a:r>
          </a:p>
          <a:p>
            <a:r>
              <a:rPr lang="en-US" dirty="0"/>
              <a:t>2.protected</a:t>
            </a:r>
          </a:p>
          <a:p>
            <a:r>
              <a:rPr lang="en-US" dirty="0"/>
              <a:t>3.private protected</a:t>
            </a:r>
          </a:p>
          <a:p>
            <a:r>
              <a:rPr lang="en-US" dirty="0"/>
              <a:t>4.Internal</a:t>
            </a:r>
          </a:p>
          <a:p>
            <a:r>
              <a:rPr lang="en-US" dirty="0"/>
              <a:t>5.protected internal</a:t>
            </a:r>
          </a:p>
          <a:p>
            <a:r>
              <a:rPr lang="en-US" dirty="0"/>
              <a:t>6</a:t>
            </a:r>
            <a:r>
              <a:rPr lang="en-US"/>
              <a:t>.private</a:t>
            </a:r>
            <a:endParaRPr lang="en-IN" dirty="0"/>
          </a:p>
        </p:txBody>
      </p:sp>
      <p:sp>
        <p:nvSpPr>
          <p:cNvPr id="6" name="Speech Bubble: Rectangle with Corners Rounded 5"/>
          <p:cNvSpPr/>
          <p:nvPr/>
        </p:nvSpPr>
        <p:spPr>
          <a:xfrm>
            <a:off x="3764915" y="981710"/>
            <a:ext cx="1699895" cy="2237105"/>
          </a:xfrm>
          <a:prstGeom prst="wedgeRoundRectCallout">
            <a:avLst>
              <a:gd name="adj1" fmla="val -46619"/>
              <a:gd name="adj2" fmla="val 6628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1.Static</a:t>
            </a:r>
          </a:p>
          <a:p>
            <a:r>
              <a:rPr lang="en-US" dirty="0"/>
              <a:t>2.Virtual</a:t>
            </a:r>
          </a:p>
          <a:p>
            <a:r>
              <a:rPr lang="en-US" dirty="0"/>
              <a:t>3.Abstarct</a:t>
            </a:r>
          </a:p>
          <a:p>
            <a:r>
              <a:rPr lang="en-US" dirty="0"/>
              <a:t>4.Override</a:t>
            </a:r>
          </a:p>
          <a:p>
            <a:r>
              <a:rPr lang="en-US" dirty="0"/>
              <a:t>5.New</a:t>
            </a:r>
          </a:p>
          <a:p>
            <a:r>
              <a:rPr lang="en-US" dirty="0"/>
              <a:t>6.Partial</a:t>
            </a:r>
          </a:p>
          <a:p>
            <a:r>
              <a:rPr lang="en-US" dirty="0"/>
              <a:t>7.sealed</a:t>
            </a:r>
            <a:endParaRPr lang="en-IN" dirty="0"/>
          </a:p>
        </p:txBody>
      </p:sp>
      <p:sp>
        <p:nvSpPr>
          <p:cNvPr id="7" name="Speech Bubble: Rectangle with Corners Rounded 6"/>
          <p:cNvSpPr/>
          <p:nvPr/>
        </p:nvSpPr>
        <p:spPr>
          <a:xfrm>
            <a:off x="5222631" y="3974123"/>
            <a:ext cx="2286000" cy="958362"/>
          </a:xfrm>
          <a:prstGeom prst="wedgeRoundRectCallout">
            <a:avLst>
              <a:gd name="adj1" fmla="val -69679"/>
              <a:gd name="adj2" fmla="val -5584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DataType</a:t>
            </a:r>
            <a:r>
              <a:rPr lang="en-US" dirty="0"/>
              <a:t> of return value(result) of a method.</a:t>
            </a:r>
            <a:endParaRPr lang="en-IN" dirty="0"/>
          </a:p>
        </p:txBody>
      </p:sp>
      <p:sp>
        <p:nvSpPr>
          <p:cNvPr id="8" name="Speech Bubble: Rectangle with Corners Rounded 7"/>
          <p:cNvSpPr/>
          <p:nvPr/>
        </p:nvSpPr>
        <p:spPr>
          <a:xfrm>
            <a:off x="8510954" y="4079631"/>
            <a:ext cx="3059723" cy="852854"/>
          </a:xfrm>
          <a:prstGeom prst="wedgeRoundRectCallout">
            <a:avLst>
              <a:gd name="adj1" fmla="val -63649"/>
              <a:gd name="adj2" fmla="val -6327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Input values received by the method.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is a concept that binds together the data and operations that manipulate the data, and that keeps both safe from outside interference and misuse.</a:t>
            </a:r>
          </a:p>
          <a:p>
            <a:r>
              <a:rPr lang="en-US" dirty="0"/>
              <a:t>Fields: Store Data.</a:t>
            </a:r>
          </a:p>
          <a:p>
            <a:r>
              <a:rPr lang="en-US" dirty="0"/>
              <a:t>Methods : Manipulate Fields(data).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279794" y="3449211"/>
            <a:ext cx="2409092" cy="2857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2279650" y="3453765"/>
            <a:ext cx="2409190" cy="471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  <a:endParaRPr lang="en-IN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2490809" y="4293273"/>
            <a:ext cx="1949543" cy="62425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Fields</a:t>
            </a:r>
            <a:endParaRPr lang="en-IN" dirty="0"/>
          </a:p>
        </p:txBody>
      </p:sp>
      <p:sp>
        <p:nvSpPr>
          <p:cNvPr id="12" name="Rectangle: Rounded Corners 11"/>
          <p:cNvSpPr/>
          <p:nvPr/>
        </p:nvSpPr>
        <p:spPr>
          <a:xfrm>
            <a:off x="2509568" y="5285339"/>
            <a:ext cx="1949543" cy="62425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8742591" cy="2175669"/>
          </a:xfrm>
        </p:spPr>
        <p:txBody>
          <a:bodyPr/>
          <a:lstStyle/>
          <a:p>
            <a:r>
              <a:rPr lang="en-US" dirty="0"/>
              <a:t>Abstraction is the concept of providing only limited data or operations to the code exists outside the class.</a:t>
            </a:r>
          </a:p>
          <a:p>
            <a:r>
              <a:rPr lang="en-US" dirty="0"/>
              <a:t>Implemented using private fields/private methods and public fields/public methods.</a:t>
            </a:r>
          </a:p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616232" y="3383822"/>
            <a:ext cx="2409092" cy="2857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75" y="3343275"/>
            <a:ext cx="2420620" cy="776605"/>
          </a:xfrm>
          <a:prstGeom prst="rect">
            <a:avLst/>
          </a:prstGeom>
        </p:spPr>
      </p:pic>
      <p:sp>
        <p:nvSpPr>
          <p:cNvPr id="11" name="Rectangle: Rounded Corners 10"/>
          <p:cNvSpPr/>
          <p:nvPr/>
        </p:nvSpPr>
        <p:spPr>
          <a:xfrm>
            <a:off x="1818455" y="4119867"/>
            <a:ext cx="1949543" cy="8649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Fields/private methods</a:t>
            </a:r>
            <a:endParaRPr lang="en-IN" dirty="0"/>
          </a:p>
        </p:txBody>
      </p:sp>
      <p:sp>
        <p:nvSpPr>
          <p:cNvPr id="12" name="Rectangle: Rounded Corners 11"/>
          <p:cNvSpPr/>
          <p:nvPr/>
        </p:nvSpPr>
        <p:spPr>
          <a:xfrm>
            <a:off x="1846006" y="5234798"/>
            <a:ext cx="1949543" cy="86497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Public fields/public Methods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class </a:t>
            </a:r>
            <a:r>
              <a:rPr lang="en-US" dirty="0" err="1"/>
              <a:t>ClassName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returnType</a:t>
            </a:r>
            <a:r>
              <a:rPr lang="en-US" dirty="0"/>
              <a:t>  </a:t>
            </a:r>
            <a:r>
              <a:rPr lang="en-US" dirty="0" err="1"/>
              <a:t>MethodName</a:t>
            </a:r>
            <a:r>
              <a:rPr lang="en-US" dirty="0"/>
              <a:t> (</a:t>
            </a:r>
            <a:r>
              <a:rPr lang="en-US" dirty="0" err="1"/>
              <a:t>dataType</a:t>
            </a:r>
            <a:r>
              <a:rPr lang="en-US" dirty="0"/>
              <a:t>  </a:t>
            </a:r>
            <a:r>
              <a:rPr lang="en-US" dirty="0" err="1"/>
              <a:t>parameterName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{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variableName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	}</a:t>
            </a:r>
          </a:p>
          <a:p>
            <a:pPr marL="0" indent="0">
              <a:buNone/>
            </a:pPr>
            <a:r>
              <a:rPr lang="en-US" dirty="0"/>
              <a:t> 	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peech Bubble: Rectangle with Corners Rounded 3"/>
          <p:cNvSpPr/>
          <p:nvPr/>
        </p:nvSpPr>
        <p:spPr>
          <a:xfrm>
            <a:off x="5240216" y="4994032"/>
            <a:ext cx="2514600" cy="404446"/>
          </a:xfrm>
          <a:prstGeom prst="wedgeRoundRectCallout">
            <a:avLst>
              <a:gd name="adj1" fmla="val -62670"/>
              <a:gd name="adj2" fmla="val -5983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Local variable</a:t>
            </a:r>
            <a:endParaRPr lang="en-IN" dirty="0"/>
          </a:p>
        </p:txBody>
      </p:sp>
      <p:sp>
        <p:nvSpPr>
          <p:cNvPr id="5" name="Speech Bubble: Rectangle with Corners Rounded 4"/>
          <p:cNvSpPr/>
          <p:nvPr/>
        </p:nvSpPr>
        <p:spPr>
          <a:xfrm>
            <a:off x="9225199" y="2460988"/>
            <a:ext cx="1478660" cy="457023"/>
          </a:xfrm>
          <a:prstGeom prst="wedgeRoundRectCallout">
            <a:avLst>
              <a:gd name="adj1" fmla="val -70619"/>
              <a:gd name="adj2" fmla="val 23158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Parameter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Variables and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variables that are being received from the “method caller” are called as parameters.</a:t>
            </a:r>
          </a:p>
          <a:p>
            <a:r>
              <a:rPr lang="en-US" dirty="0"/>
              <a:t>The parameter are stored in stack of the method.</a:t>
            </a:r>
          </a:p>
          <a:p>
            <a:r>
              <a:rPr lang="en-US" dirty="0"/>
              <a:t>For every method call, a new stack will be created.</a:t>
            </a:r>
          </a:p>
          <a:p>
            <a:r>
              <a:rPr lang="en-US" dirty="0"/>
              <a:t>The variables that are declared inside a method called “local variables”.</a:t>
            </a:r>
          </a:p>
          <a:p>
            <a:r>
              <a:rPr lang="en-US" dirty="0"/>
              <a:t>Local variables can be used in same method.</a:t>
            </a:r>
          </a:p>
          <a:p>
            <a:r>
              <a:rPr lang="en-US" dirty="0"/>
              <a:t>Local variables are stored in same stack, just like parameters.</a:t>
            </a:r>
          </a:p>
          <a:p>
            <a:r>
              <a:rPr lang="en-US" dirty="0"/>
              <a:t>The stack will be deleted at the end of the method execution.so all local variables and parameters will be deleted.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Method		</a:t>
            </a:r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727075" y="1252538"/>
          <a:ext cx="1103947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Instance Method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Static Method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Associated with object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Associated with class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Manipulates instance fields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Manipulates static fields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Declared without static keyword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Declared with static keyword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Accessible with object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Accessible with class name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Can access both instance field and static fields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Can access only static fields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Can access both instance method and static method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Can access only static method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Can use “this” keyword, as there must be “current object” to call instance method 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rebuchet MS" panose="020B0603020202020204" pitchFamily="34" charset="0"/>
                        </a:rPr>
                        <a:t>Cannot use this method because static method call by class name not using object name</a:t>
                      </a:r>
                      <a:endParaRPr lang="en-IN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25406"/>
            <a:ext cx="9438716" cy="797605"/>
          </a:xfrm>
        </p:spPr>
        <p:txBody>
          <a:bodyPr/>
          <a:lstStyle/>
          <a:p>
            <a:r>
              <a:rPr lang="en-US" dirty="0"/>
              <a:t>Reference Variable as Argument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4070837"/>
            <a:ext cx="11039452" cy="22358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you pass “reference variable” as argument , the reference (address) of object will be passed to the method.</a:t>
            </a:r>
          </a:p>
          <a:p>
            <a:r>
              <a:rPr lang="en-US" dirty="0"/>
              <a:t>The parameter data type will be the class name.</a:t>
            </a:r>
          </a:p>
          <a:p>
            <a:r>
              <a:rPr lang="en-US" dirty="0"/>
              <a:t>If you make any changes to object in a method, the same</a:t>
            </a:r>
          </a:p>
          <a:p>
            <a:pPr marL="0" indent="0">
              <a:buNone/>
            </a:pPr>
            <a:r>
              <a:rPr lang="en-US" dirty="0"/>
              <a:t> will be affected automatically in the caller method ,</a:t>
            </a:r>
          </a:p>
          <a:p>
            <a:pPr marL="0" indent="0">
              <a:buNone/>
            </a:pPr>
            <a:r>
              <a:rPr lang="en-US" dirty="0"/>
              <a:t> as you are accessing the same object.  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028700" y="1248678"/>
            <a:ext cx="3376246" cy="9845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166339" y="1248678"/>
            <a:ext cx="3376246" cy="9845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93531" y="2707859"/>
            <a:ext cx="3376246" cy="9845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31875" y="1797685"/>
            <a:ext cx="3373120" cy="4483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rebuchet MS" panose="020B0603020202020204" pitchFamily="34" charset="0"/>
              </a:rPr>
              <a:t>Reference Variable</a:t>
            </a:r>
            <a:endParaRPr lang="en-IN" b="1" dirty="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7915" y="1784985"/>
            <a:ext cx="3357880" cy="4483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rebuchet MS" panose="020B0603020202020204" pitchFamily="34" charset="0"/>
              </a:rPr>
              <a:t>Object</a:t>
            </a:r>
            <a:endParaRPr lang="en-IN" b="1" dirty="0">
              <a:latin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86790" y="3223260"/>
            <a:ext cx="3376930" cy="4483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rebuchet MS" panose="020B0603020202020204" pitchFamily="34" charset="0"/>
              </a:rPr>
              <a:t>Parameter</a:t>
            </a:r>
            <a:endParaRPr lang="en-IN" b="1" dirty="0"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29862" y="938018"/>
            <a:ext cx="2373923" cy="2756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Stack of caller method</a:t>
            </a:r>
            <a:endParaRPr lang="en-IN" sz="1400" dirty="0">
              <a:latin typeface="Trebuchet MS" panose="020B0603020202020204" pitchFamily="34" charset="0"/>
            </a:endParaRPr>
          </a:p>
        </p:txBody>
      </p:sp>
      <p:cxnSp>
        <p:nvCxnSpPr>
          <p:cNvPr id="14" name="Connector: Elbow 13"/>
          <p:cNvCxnSpPr>
            <a:stCxn id="6" idx="3"/>
          </p:cNvCxnSpPr>
          <p:nvPr/>
        </p:nvCxnSpPr>
        <p:spPr>
          <a:xfrm>
            <a:off x="4404946" y="1740962"/>
            <a:ext cx="1726224" cy="369192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8" idx="3"/>
          </p:cNvCxnSpPr>
          <p:nvPr/>
        </p:nvCxnSpPr>
        <p:spPr>
          <a:xfrm>
            <a:off x="4369777" y="3200143"/>
            <a:ext cx="2048608" cy="88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6418385" y="2224452"/>
            <a:ext cx="0" cy="9845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667499" y="921643"/>
            <a:ext cx="2373923" cy="2756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	Heap</a:t>
            </a:r>
            <a:endParaRPr lang="en-IN" sz="1400" dirty="0">
              <a:latin typeface="Trebuchet MS" panose="020B0603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490295" y="2357890"/>
            <a:ext cx="2373923" cy="2756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rebuchet MS" panose="020B0603020202020204" pitchFamily="34" charset="0"/>
              </a:rPr>
              <a:t>Stack of called method</a:t>
            </a:r>
            <a:endParaRPr lang="en-IN" sz="14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multiple methods with same name in the same class, with different parameters.</a:t>
            </a:r>
          </a:p>
          <a:p>
            <a:r>
              <a:rPr lang="en-US" dirty="0"/>
              <a:t>Caller would have several options, while calling a method.</a:t>
            </a:r>
          </a:p>
          <a:p>
            <a:r>
              <a:rPr lang="en-US" dirty="0"/>
              <a:t>Difference between parameters of all that have same name, is MUST.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 err="1"/>
              <a:t>MethodName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MethodName</a:t>
            </a:r>
            <a:r>
              <a:rPr lang="en-US" dirty="0"/>
              <a:t>(int)</a:t>
            </a:r>
          </a:p>
          <a:p>
            <a:pPr lvl="1"/>
            <a:r>
              <a:rPr lang="en-US" dirty="0" err="1"/>
              <a:t>MethodName</a:t>
            </a:r>
            <a:r>
              <a:rPr lang="en-US" dirty="0"/>
              <a:t>(string)</a:t>
            </a:r>
          </a:p>
          <a:p>
            <a:pPr lvl="1"/>
            <a:r>
              <a:rPr lang="en-US" dirty="0" err="1"/>
              <a:t>MethodName</a:t>
            </a:r>
            <a:r>
              <a:rPr lang="en-US" dirty="0"/>
              <a:t>(int,string)</a:t>
            </a:r>
          </a:p>
          <a:p>
            <a:pPr lvl="1"/>
            <a:r>
              <a:rPr lang="en-US" dirty="0" err="1"/>
              <a:t>MethodName</a:t>
            </a:r>
            <a:r>
              <a:rPr lang="en-US" dirty="0"/>
              <a:t>(</a:t>
            </a:r>
            <a:r>
              <a:rPr lang="en-US" dirty="0" err="1"/>
              <a:t>string,int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MethodName</a:t>
            </a:r>
            <a:r>
              <a:rPr lang="en-US" dirty="0"/>
              <a:t>(</a:t>
            </a:r>
            <a:r>
              <a:rPr lang="en-US" dirty="0" err="1"/>
              <a:t>string,string,int</a:t>
            </a:r>
            <a:r>
              <a:rPr lang="en-US" dirty="0"/>
              <a:t>)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Constructors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method of class, which contains initialization logic of fields.</a:t>
            </a:r>
          </a:p>
          <a:p>
            <a:r>
              <a:rPr lang="en-US" dirty="0"/>
              <a:t>Constructor name should be same as class name.</a:t>
            </a:r>
          </a:p>
          <a:p>
            <a:r>
              <a:rPr lang="en-US" dirty="0"/>
              <a:t>Constructor is recommended to be “public” or “internal” member.</a:t>
            </a:r>
          </a:p>
          <a:p>
            <a:r>
              <a:rPr lang="en-US" dirty="0"/>
              <a:t>Constructor can have one or more parameters.</a:t>
            </a:r>
          </a:p>
          <a:p>
            <a:r>
              <a:rPr lang="en-US" dirty="0"/>
              <a:t>Constructor cant return any value so no return type.</a:t>
            </a:r>
          </a:p>
          <a:p>
            <a:r>
              <a:rPr lang="en-US" dirty="0"/>
              <a:t>A class can have one or more constructors but all the constructors of the class must have different types of parameters.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Constructor</a:t>
            </a:r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727075" y="1252538"/>
          <a:ext cx="11039476" cy="404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Instance Constructor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Static Constructor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Created without the static modifier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 with static modifier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Initializes instance field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Initializes static field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Executes automatically when new object is created for the 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Executes only once i.e. when first object is created for the class or when the class is accessed for the first time during the execution of Main method.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“private” by default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“public” by default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 can use any access modifier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modifier cannot changed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 contain any initialization logic, that should be executed every time when a new object is created for the class.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contain any initialization logic, that should be executed only once i.e. when a new object is created for the class.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Overloading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multiple constructor with same name in the class, with different set of parameters.</a:t>
            </a:r>
          </a:p>
          <a:p>
            <a:r>
              <a:rPr lang="en-IN" dirty="0"/>
              <a:t>It is recommended to write a parameter-less constructor in the class, in case of constructor overloading.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0200" y="3358662"/>
            <a:ext cx="7516906" cy="26289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public </a:t>
            </a:r>
            <a:r>
              <a:rPr lang="en-US" dirty="0" err="1"/>
              <a:t>ClassName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public </a:t>
            </a:r>
            <a:r>
              <a:rPr lang="en-US" dirty="0" err="1"/>
              <a:t>ClassName</a:t>
            </a:r>
            <a:r>
              <a:rPr lang="en-US" dirty="0"/>
              <a:t>(Parameter1,Parameter2)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-----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600200" y="3358662"/>
            <a:ext cx="7516906" cy="483575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Overloading (Multiple constructor in same class)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Initializer 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syntax to initialize fields/properties of class, along with creating the object.</a:t>
            </a:r>
          </a:p>
          <a:p>
            <a:r>
              <a:rPr lang="en-US" dirty="0"/>
              <a:t>Executes after constructor.</a:t>
            </a:r>
          </a:p>
          <a:p>
            <a:r>
              <a:rPr lang="en-US" dirty="0"/>
              <a:t>It is only for initialization fields / properties , after creating object ; it cant have initialization logic.</a:t>
            </a:r>
          </a:p>
          <a:p>
            <a:r>
              <a:rPr lang="en-US" dirty="0"/>
              <a:t>Execution sequence:</a:t>
            </a:r>
          </a:p>
          <a:p>
            <a:pPr marL="457200" lvl="1" indent="0">
              <a:buNone/>
            </a:pPr>
            <a:r>
              <a:rPr lang="en-US" dirty="0"/>
              <a:t>new ClassName()		Constructor 	          Object Initializer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259624" y="5468815"/>
            <a:ext cx="5503984" cy="83789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IN" dirty="0"/>
              <a:t>new ClassName() {Field1=value,Field2=value,……}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9622" y="5494765"/>
            <a:ext cx="5503985" cy="351692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Object Initializer</a:t>
            </a:r>
            <a:endParaRPr lang="en-IN" b="1" dirty="0"/>
          </a:p>
        </p:txBody>
      </p:sp>
      <p:sp>
        <p:nvSpPr>
          <p:cNvPr id="7" name="Arrow: Right 6"/>
          <p:cNvSpPr/>
          <p:nvPr/>
        </p:nvSpPr>
        <p:spPr>
          <a:xfrm>
            <a:off x="3490546" y="3793209"/>
            <a:ext cx="685800" cy="967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/>
          <p:cNvSpPr/>
          <p:nvPr/>
        </p:nvSpPr>
        <p:spPr>
          <a:xfrm>
            <a:off x="6063867" y="3793209"/>
            <a:ext cx="685800" cy="967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0"/>
            <a:ext cx="11039452" cy="5094715"/>
          </a:xfrm>
        </p:spPr>
        <p:txBody>
          <a:bodyPr/>
          <a:lstStyle/>
          <a:p>
            <a:r>
              <a:rPr lang="en-US" dirty="0"/>
              <a:t>This allows classes to be arranged in a hierarchy that represents “is-a-type-of” relationship.</a:t>
            </a:r>
          </a:p>
          <a:p>
            <a:r>
              <a:rPr lang="en-US" dirty="0"/>
              <a:t>The “parent class” act as a “base type” of “one or more child classes”.</a:t>
            </a:r>
          </a:p>
          <a:p>
            <a:r>
              <a:rPr lang="en-US" dirty="0"/>
              <a:t>Child classes are derived from parent class.</a:t>
            </a:r>
          </a:p>
          <a:p>
            <a:r>
              <a:rPr lang="en-IN" dirty="0"/>
              <a:t>Concept of extending the parent class , by creating child classes.</a:t>
            </a:r>
          </a:p>
          <a:p>
            <a:r>
              <a:rPr lang="en-IN" dirty="0"/>
              <a:t>“child class” extends “parent class”.</a:t>
            </a:r>
          </a:p>
          <a:p>
            <a:r>
              <a:rPr lang="en-IN" dirty="0"/>
              <a:t>The child class’s object stores members of both child class and the parent class.</a:t>
            </a:r>
          </a:p>
          <a:p>
            <a:r>
              <a:rPr lang="en-IN" dirty="0"/>
              <a:t>Example</a:t>
            </a:r>
          </a:p>
          <a:p>
            <a:pPr marL="0" indent="0">
              <a:buNone/>
            </a:pPr>
            <a:r>
              <a:rPr lang="en-IN" dirty="0"/>
              <a:t>			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4545623"/>
            <a:ext cx="1503485" cy="51874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Employee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297115" y="5604669"/>
            <a:ext cx="1503485" cy="51874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Manager	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0" y="5528469"/>
            <a:ext cx="1503485" cy="51874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Salesman</a:t>
            </a:r>
            <a:endParaRPr lang="en-IN" dirty="0"/>
          </a:p>
        </p:txBody>
      </p:sp>
      <p:cxnSp>
        <p:nvCxnSpPr>
          <p:cNvPr id="13" name="Connector: Elbow 12"/>
          <p:cNvCxnSpPr>
            <a:stCxn id="5" idx="3"/>
          </p:cNvCxnSpPr>
          <p:nvPr/>
        </p:nvCxnSpPr>
        <p:spPr>
          <a:xfrm flipV="1">
            <a:off x="4800600" y="5064369"/>
            <a:ext cx="422031" cy="79967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/>
          <p:cNvCxnSpPr>
            <a:stCxn id="6" idx="1"/>
          </p:cNvCxnSpPr>
          <p:nvPr/>
        </p:nvCxnSpPr>
        <p:spPr>
          <a:xfrm rot="10800000">
            <a:off x="5673970" y="5064370"/>
            <a:ext cx="422031" cy="72347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27177" y="4545623"/>
            <a:ext cx="1749669" cy="5187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506308" y="4545623"/>
            <a:ext cx="1608992" cy="6154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EmpID</a:t>
            </a:r>
            <a:endParaRPr lang="en-US" dirty="0"/>
          </a:p>
          <a:p>
            <a:r>
              <a:rPr lang="en-US" dirty="0" err="1"/>
              <a:t>Ename</a:t>
            </a:r>
            <a:endParaRPr lang="en-US" dirty="0"/>
          </a:p>
          <a:p>
            <a:r>
              <a:rPr lang="en-US" dirty="0" err="1"/>
              <a:t>Locaton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176780" y="6181090"/>
            <a:ext cx="2765425" cy="707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GetTotalSalesOrder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5513705" y="6211570"/>
            <a:ext cx="3251835" cy="707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GetSalesOfCurrentMonth</a:t>
            </a:r>
            <a:r>
              <a:rPr lang="en-US" dirty="0"/>
              <a:t>()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Inheritance:</a:t>
            </a:r>
          </a:p>
          <a:p>
            <a:pPr lvl="1"/>
            <a:r>
              <a:rPr lang="en-US" dirty="0"/>
              <a:t>One Parent class , one child class.</a:t>
            </a:r>
          </a:p>
          <a:p>
            <a:r>
              <a:rPr lang="en-US" dirty="0"/>
              <a:t>Multi-Level Inheritance:</a:t>
            </a:r>
          </a:p>
          <a:p>
            <a:pPr lvl="1"/>
            <a:r>
              <a:rPr lang="en-US" dirty="0"/>
              <a:t>One parent class, one child class and the child class has another child class.</a:t>
            </a:r>
          </a:p>
          <a:p>
            <a:r>
              <a:rPr lang="en-US" dirty="0"/>
              <a:t>Hierarchical Inheritance:</a:t>
            </a:r>
          </a:p>
          <a:p>
            <a:pPr lvl="1"/>
            <a:r>
              <a:rPr lang="en-US" dirty="0"/>
              <a:t>One parent class, Multiple child classes.</a:t>
            </a:r>
          </a:p>
          <a:p>
            <a:r>
              <a:rPr lang="en-US" dirty="0"/>
              <a:t> Multiple Inheritance:(Not Allowed)</a:t>
            </a:r>
          </a:p>
          <a:p>
            <a:pPr lvl="1"/>
            <a:r>
              <a:rPr lang="en-US" dirty="0"/>
              <a:t>Multiple parent classes and one child class</a:t>
            </a:r>
          </a:p>
          <a:p>
            <a:r>
              <a:rPr lang="en-US" dirty="0"/>
              <a:t>Hybrid Inheritance:</a:t>
            </a:r>
          </a:p>
          <a:p>
            <a:pPr lvl="1"/>
            <a:r>
              <a:rPr lang="en-US" dirty="0"/>
              <a:t>Whenever you have combination of two or more inheritance</a:t>
            </a:r>
          </a:p>
          <a:p>
            <a:pPr marL="457200" lvl="1" indent="0">
              <a:buNone/>
            </a:pPr>
            <a:r>
              <a:rPr lang="en-US" dirty="0"/>
              <a:t> then is </a:t>
            </a:r>
            <a:r>
              <a:rPr lang="en-US" dirty="0" err="1"/>
              <a:t>is</a:t>
            </a:r>
            <a:r>
              <a:rPr lang="en-US" dirty="0"/>
              <a:t> called as hybrid inheritance</a:t>
            </a:r>
          </a:p>
          <a:p>
            <a:pPr lvl="2"/>
            <a:r>
              <a:rPr lang="en-US" dirty="0"/>
              <a:t>Hierarchical Inheritance + Multi-Level Inheritance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‘base’ Keyword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‘base’ keyword represents parent class’s members in the child classes.</a:t>
            </a:r>
          </a:p>
          <a:p>
            <a:r>
              <a:rPr lang="en-US" dirty="0"/>
              <a:t>It is optional to use, by default.</a:t>
            </a:r>
          </a:p>
          <a:p>
            <a:r>
              <a:rPr lang="en-IN" dirty="0"/>
              <a:t>It is must to use , when there is a “name ambiguity” between parent class’s</a:t>
            </a:r>
          </a:p>
          <a:p>
            <a:pPr marL="0" indent="0">
              <a:buNone/>
            </a:pPr>
            <a:r>
              <a:rPr lang="en-IN" dirty="0"/>
              <a:t>Member and child class’s member.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Class’s Constructor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OPTIONAL to call  “Parent class’s parameter-less constructor” from “child-class”.</a:t>
            </a:r>
          </a:p>
          <a:p>
            <a:r>
              <a:rPr lang="en-US" dirty="0"/>
              <a:t>It is MUST to call “parent-class parameterized constructor” from “child class” and pass necessary arguments.</a:t>
            </a:r>
          </a:p>
          <a:p>
            <a:r>
              <a:rPr lang="en-US" dirty="0"/>
              <a:t> public </a:t>
            </a:r>
            <a:r>
              <a:rPr lang="en-US" dirty="0" err="1"/>
              <a:t>childClassName</a:t>
            </a:r>
            <a:r>
              <a:rPr lang="en-US" dirty="0"/>
              <a:t>(Param1,param2,param3) : base(param1, param2,)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	--------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Hiding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concept , which is used to hide (overwrite) the parent class’s method, by creating another method in the child class with same name and same parameter.</a:t>
            </a:r>
          </a:p>
          <a:p>
            <a:r>
              <a:rPr lang="en-US" dirty="0"/>
              <a:t>When the method hiding is done , if the method is calling using child class object , the child class method only executes ; parent class method will not executed.</a:t>
            </a:r>
          </a:p>
          <a:p>
            <a:r>
              <a:rPr lang="en-US" dirty="0"/>
              <a:t>Method hiding is done automatically but it is recommended to use new keyword.(but not must)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Hiding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161D3B6-1BDA-4A8A-95CB-CFF25BCF8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54969"/>
              </p:ext>
            </p:extLst>
          </p:nvPr>
        </p:nvGraphicFramePr>
        <p:xfrm>
          <a:off x="968188" y="1252539"/>
          <a:ext cx="10448365" cy="4798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3626">
                  <a:extLst>
                    <a:ext uri="{9D8B030D-6E8A-4147-A177-3AD203B41FA5}">
                      <a16:colId xmlns:a16="http://schemas.microsoft.com/office/drawing/2014/main" val="2272381830"/>
                    </a:ext>
                  </a:extLst>
                </a:gridCol>
                <a:gridCol w="5344739">
                  <a:extLst>
                    <a:ext uri="{9D8B030D-6E8A-4147-A177-3AD203B41FA5}">
                      <a16:colId xmlns:a16="http://schemas.microsoft.com/office/drawing/2014/main" val="2765800638"/>
                    </a:ext>
                  </a:extLst>
                </a:gridCol>
              </a:tblGrid>
              <a:tr h="112234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override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808597"/>
                  </a:ext>
                </a:extLst>
              </a:tr>
              <a:tr h="762195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Keyword used override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Keyword used new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03828"/>
                  </a:ext>
                </a:extLst>
              </a:tr>
              <a:tr h="7842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method must be virtual, abstract, or override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such requirement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391956"/>
                  </a:ext>
                </a:extLst>
              </a:tr>
              <a:tr h="1007453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Polymorphism support ✅ Yes — runtime polymorphism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🚫 No — hiding is based on reference type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290398"/>
                  </a:ext>
                </a:extLst>
              </a:tr>
              <a:tr h="112234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 when called from base reference Derived class method is called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class method is called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378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97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Overriding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concept which is used to extend the parent class’s method , by creating another method in the child class with same name and same parameters.</a:t>
            </a:r>
          </a:p>
          <a:p>
            <a:r>
              <a:rPr lang="en-IN" dirty="0"/>
              <a:t>When the method overriding is done , if the method is calling using child class object ; the parent class’s method call first and then the child’s method execute next.</a:t>
            </a:r>
          </a:p>
          <a:p>
            <a:r>
              <a:rPr lang="en-IN" dirty="0"/>
              <a:t>Method overriding is done with “virtual” keyword at parent class; and override keyword with child class method</a:t>
            </a:r>
          </a:p>
          <a:p>
            <a:r>
              <a:rPr lang="en-IN" dirty="0"/>
              <a:t>The parent class method is invoked using ‘base’ keyword.</a:t>
            </a:r>
          </a:p>
          <a:p>
            <a:r>
              <a:rPr lang="en-IN" dirty="0"/>
              <a:t>Without ‘virtual’ keyword are parent class’s method ; </a:t>
            </a:r>
          </a:p>
          <a:p>
            <a:pPr marL="0" indent="0">
              <a:buNone/>
            </a:pPr>
            <a:r>
              <a:rPr lang="en-IN" dirty="0"/>
              <a:t>  the child class’s method cannot be override.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Sealed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Sealed class is a class , which is instantiable but not inheritable.</a:t>
            </a:r>
          </a:p>
          <a:p>
            <a:r>
              <a:rPr lang="en-US" dirty="0"/>
              <a:t>Use sealed class whenever you don’t want to let other developers to create child classes for the specific class.</a:t>
            </a:r>
          </a:p>
          <a:p>
            <a:r>
              <a:rPr lang="en-US"/>
              <a:t>It </a:t>
            </a:r>
            <a:r>
              <a:rPr lang="en-US" dirty="0"/>
              <a:t>is a small concept of security to prevent inheritance for your class.</a:t>
            </a:r>
          </a:p>
          <a:p>
            <a:r>
              <a:rPr lang="en-US" dirty="0"/>
              <a:t>It can be inherited from other class.</a:t>
            </a:r>
          </a:p>
          <a:p>
            <a:r>
              <a:rPr lang="en-US" dirty="0"/>
              <a:t>It can implement interface.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Sealed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Sealed method must be “override”  methods which cant be overridden in the corresponding child classes.</a:t>
            </a:r>
          </a:p>
          <a:p>
            <a:r>
              <a:rPr lang="en-US" dirty="0"/>
              <a:t>Use sealed method to prevent overriding that particular method in a corresponding class.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69377" y="2944110"/>
            <a:ext cx="4475285" cy="2517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Class </a:t>
            </a:r>
            <a:r>
              <a:rPr lang="en-US" dirty="0" err="1"/>
              <a:t>ParentClassName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public virtual void </a:t>
            </a:r>
            <a:r>
              <a:rPr lang="en-US" dirty="0" err="1"/>
              <a:t>MethodName</a:t>
            </a:r>
            <a:r>
              <a:rPr lang="en-US" dirty="0"/>
              <a:t>(…)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910931" y="2860583"/>
            <a:ext cx="5588976" cy="2517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Class Child1:ParentClassName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public sealed override void </a:t>
            </a:r>
            <a:r>
              <a:rPr lang="en-US" dirty="0" err="1"/>
              <a:t>MethodName</a:t>
            </a:r>
            <a:r>
              <a:rPr lang="en-US" dirty="0"/>
              <a:t>(…)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} 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169377" y="2754320"/>
            <a:ext cx="4475285" cy="4132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Creating Parent class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910931" y="2700532"/>
            <a:ext cx="5588976" cy="4132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Creating child class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to Remember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“Parent class” act as a “base type” of “one or more child classes”.</a:t>
            </a:r>
          </a:p>
          <a:p>
            <a:r>
              <a:rPr lang="en-IN" dirty="0"/>
              <a:t>The ‘base’ keyword inside the child class , can access the members of parent class.</a:t>
            </a:r>
          </a:p>
          <a:p>
            <a:r>
              <a:rPr lang="en-IN" dirty="0"/>
              <a:t>The child class’s object stores the parent class field also , automatically; however they are accessible in child class if they are not ‘private’.</a:t>
            </a:r>
          </a:p>
          <a:p>
            <a:r>
              <a:rPr lang="en-IN" dirty="0"/>
              <a:t>Method hiding is the concept of ‘overwriting’ the parent class’s method , by creating another method in child class , with same signature.</a:t>
            </a:r>
          </a:p>
          <a:p>
            <a:r>
              <a:rPr lang="en-IN" dirty="0"/>
              <a:t>Method overriding is the concept of ‘extending’ the parent class’s method, by creating another method in child class ,with same signature.</a:t>
            </a:r>
          </a:p>
          <a:p>
            <a:r>
              <a:rPr lang="en-IN" dirty="0"/>
              <a:t> C# doesn’t support multiple inheritance.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class is a parent class, for which we cannot create the object; but we can create child classes.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072661" y="2409092"/>
            <a:ext cx="3798277" cy="3604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abstract class Vehicle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726723" y="3622431"/>
            <a:ext cx="1242754" cy="3604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148505" y="3606566"/>
            <a:ext cx="1109249" cy="3604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92669" y="2769577"/>
            <a:ext cx="0" cy="298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83677" y="3068515"/>
            <a:ext cx="34377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10054" y="3068515"/>
            <a:ext cx="0" cy="5539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698023" y="3068515"/>
            <a:ext cx="0" cy="5539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060223" y="2022231"/>
            <a:ext cx="4176342" cy="181121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abstract class </a:t>
            </a:r>
            <a:r>
              <a:rPr lang="en-US" dirty="0" err="1"/>
              <a:t>AbstractClassName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Abstarct</a:t>
            </a:r>
            <a:r>
              <a:rPr lang="en-US" dirty="0"/>
              <a:t> class Members</a:t>
            </a:r>
          </a:p>
          <a:p>
            <a:r>
              <a:rPr lang="en-US" dirty="0"/>
              <a:t>} 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7049966" y="2022231"/>
            <a:ext cx="4186599" cy="386861"/>
          </a:xfrm>
          <a:prstGeom prst="rect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 Class [Abstract Class]</a:t>
            </a:r>
            <a:endParaRPr lang="en-IN" dirty="0"/>
          </a:p>
        </p:txBody>
      </p:sp>
      <p:sp>
        <p:nvSpPr>
          <p:cNvPr id="20" name="Arrow: Down 19"/>
          <p:cNvSpPr/>
          <p:nvPr/>
        </p:nvSpPr>
        <p:spPr>
          <a:xfrm>
            <a:off x="9020908" y="3828561"/>
            <a:ext cx="184638" cy="47918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7117375" y="4347306"/>
            <a:ext cx="4176342" cy="181121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class </a:t>
            </a:r>
            <a:r>
              <a:rPr lang="en-US" dirty="0" err="1"/>
              <a:t>ChildClassName:AbstractClassName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Child class Members</a:t>
            </a:r>
          </a:p>
          <a:p>
            <a:r>
              <a:rPr lang="en-US" dirty="0"/>
              <a:t>} 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7112246" y="4342913"/>
            <a:ext cx="4186599" cy="386861"/>
          </a:xfrm>
          <a:prstGeom prst="rect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class of Abstract Class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main intention of abstract class is to provide common set of fields and methods to all of its child classes of a specific group.</a:t>
            </a:r>
          </a:p>
          <a:p>
            <a:r>
              <a:rPr lang="en-IN" dirty="0"/>
              <a:t>Abstract class contain all types of members (fields,properties,method, constructor etc).</a:t>
            </a:r>
          </a:p>
          <a:p>
            <a:r>
              <a:rPr lang="en-IN" dirty="0"/>
              <a:t>We cannot create object of abstract class; but we can access its member through the child class object.</a:t>
            </a:r>
          </a:p>
          <a:p>
            <a:pPr lvl="1"/>
            <a:r>
              <a:rPr lang="en-IN" dirty="0"/>
              <a:t>So creating ‘child class of abstract class’ is the only-way to utilize abstract classes.</a:t>
            </a:r>
          </a:p>
          <a:p>
            <a:r>
              <a:rPr lang="en-IN" dirty="0"/>
              <a:t>Use abstract class concept, for the classes, for which , you feel creating object is not meaningful.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 Class (vs) Abstract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inheritance and object </a:t>
            </a:r>
          </a:p>
          <a:p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73638" y="2161605"/>
          <a:ext cx="97848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6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9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8649">
                <a:tc>
                  <a:txBody>
                    <a:bodyPr/>
                    <a:lstStyle/>
                    <a:p>
                      <a:r>
                        <a:rPr lang="en-US" dirty="0"/>
                        <a:t>Class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inherited </a:t>
                      </a:r>
                    </a:p>
                    <a:p>
                      <a:r>
                        <a:rPr lang="en-US" dirty="0"/>
                        <a:t>From other classes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Implement other interfaces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Inherited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instantiate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61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61">
                <a:tc>
                  <a:txBody>
                    <a:bodyPr/>
                    <a:lstStyle/>
                    <a:p>
                      <a:r>
                        <a:rPr lang="en-US" dirty="0"/>
                        <a:t>Abstract 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 Class (vs) Abstract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Members</a:t>
            </a:r>
          </a:p>
          <a:p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13731"/>
              </p:ext>
            </p:extLst>
          </p:nvPr>
        </p:nvGraphicFramePr>
        <p:xfrm>
          <a:off x="353565" y="1966548"/>
          <a:ext cx="115133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9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9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8649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Non-static fields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2.Non-static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Non-static </a:t>
                      </a:r>
                    </a:p>
                    <a:p>
                      <a:r>
                        <a:rPr lang="en-US" dirty="0"/>
                        <a:t>constructor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4.Non-static </a:t>
                      </a:r>
                    </a:p>
                    <a:p>
                      <a:r>
                        <a:rPr lang="en-US" dirty="0"/>
                        <a:t>properties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5.Non-static Events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6.Non-static </a:t>
                      </a:r>
                    </a:p>
                    <a:p>
                      <a:r>
                        <a:rPr lang="en-US" dirty="0"/>
                        <a:t>Destructor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7.constants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054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054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141571"/>
              </p:ext>
            </p:extLst>
          </p:nvPr>
        </p:nvGraphicFramePr>
        <p:xfrm>
          <a:off x="393909" y="4154459"/>
          <a:ext cx="114126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6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31373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 Static </a:t>
                      </a:r>
                    </a:p>
                    <a:p>
                      <a:r>
                        <a:rPr lang="en-US" dirty="0"/>
                        <a:t>Fields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 Static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 Static </a:t>
                      </a:r>
                    </a:p>
                    <a:p>
                      <a:r>
                        <a:rPr lang="en-US" dirty="0"/>
                        <a:t>Constructors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11.Static </a:t>
                      </a:r>
                    </a:p>
                    <a:p>
                      <a:r>
                        <a:rPr lang="en-US" dirty="0"/>
                        <a:t>Properties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 Static </a:t>
                      </a:r>
                    </a:p>
                    <a:p>
                      <a:r>
                        <a:rPr lang="en-US" dirty="0"/>
                        <a:t>Events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 Virtual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14.Abstarct</a:t>
                      </a:r>
                    </a:p>
                    <a:p>
                      <a:r>
                        <a:rPr lang="en-US" dirty="0"/>
                        <a:t>Methods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961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961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method are declared in parent class with “abstract” keyword;</a:t>
            </a:r>
          </a:p>
          <a:p>
            <a:pPr marL="0" indent="0">
              <a:buNone/>
            </a:pPr>
            <a:r>
              <a:rPr lang="en-US" dirty="0"/>
              <a:t>Implemented in child classes , with override keyword.</a:t>
            </a:r>
          </a:p>
          <a:p>
            <a:r>
              <a:rPr lang="en-US" dirty="0"/>
              <a:t>When the parent class don’t want to provide the definition of a method ; It wants to let child classes to implement the method.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52953" y="3277528"/>
            <a:ext cx="7218484" cy="1274884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abstract class </a:t>
            </a:r>
            <a:r>
              <a:rPr lang="en-US" dirty="0" err="1"/>
              <a:t>AbstractClassName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AccessModifier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abstract </a:t>
            </a:r>
            <a:r>
              <a:rPr lang="en-US" dirty="0" err="1">
                <a:solidFill>
                  <a:schemeClr val="tx1"/>
                </a:solidFill>
              </a:rPr>
              <a:t>ReturnType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MethodName</a:t>
            </a:r>
            <a:r>
              <a:rPr lang="en-US" dirty="0">
                <a:solidFill>
                  <a:schemeClr val="tx1"/>
                </a:solidFill>
              </a:rPr>
              <a:t>(param1,……..);</a:t>
            </a:r>
          </a:p>
          <a:p>
            <a:r>
              <a:rPr lang="en-US" dirty="0"/>
              <a:t>}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652953" y="2945009"/>
            <a:ext cx="7218484" cy="31738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 class [Abstract Class]</a:t>
            </a:r>
            <a:endParaRPr lang="en-IN" dirty="0"/>
          </a:p>
        </p:txBody>
      </p:sp>
      <p:sp>
        <p:nvSpPr>
          <p:cNvPr id="6" name="Arrow: Down 5"/>
          <p:cNvSpPr/>
          <p:nvPr/>
        </p:nvSpPr>
        <p:spPr>
          <a:xfrm>
            <a:off x="5262195" y="4550175"/>
            <a:ext cx="162659" cy="30773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652953" y="5176705"/>
            <a:ext cx="7341578" cy="168129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class </a:t>
            </a:r>
            <a:r>
              <a:rPr lang="en-US" dirty="0" err="1"/>
              <a:t>ChildClassName</a:t>
            </a:r>
            <a:r>
              <a:rPr lang="en-US" dirty="0"/>
              <a:t> : </a:t>
            </a:r>
            <a:r>
              <a:rPr lang="en-US" dirty="0" err="1"/>
              <a:t>AbstractClassName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AccessModifier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override </a:t>
            </a:r>
            <a:r>
              <a:rPr lang="en-US" dirty="0" err="1">
                <a:solidFill>
                  <a:schemeClr val="tx1"/>
                </a:solidFill>
              </a:rPr>
              <a:t>ReturnType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MethodName</a:t>
            </a:r>
            <a:r>
              <a:rPr lang="en-US" dirty="0">
                <a:solidFill>
                  <a:schemeClr val="tx1"/>
                </a:solidFill>
              </a:rPr>
              <a:t>(param1,……..)</a:t>
            </a:r>
          </a:p>
          <a:p>
            <a:r>
              <a:rPr lang="en-US" dirty="0">
                <a:solidFill>
                  <a:schemeClr val="tx1"/>
                </a:solidFill>
              </a:rPr>
              <a:t>	{</a:t>
            </a:r>
          </a:p>
          <a:p>
            <a:r>
              <a:rPr lang="en-US" dirty="0">
                <a:solidFill>
                  <a:schemeClr val="tx1"/>
                </a:solidFill>
              </a:rPr>
              <a:t>	}</a:t>
            </a:r>
          </a:p>
          <a:p>
            <a:r>
              <a:rPr lang="en-US" dirty="0"/>
              <a:t>} 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652952" y="4873136"/>
            <a:ext cx="7341577" cy="31738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class of Abstract Class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Methods contain only “method declaration” only; but not method body.</a:t>
            </a:r>
          </a:p>
          <a:p>
            <a:r>
              <a:rPr lang="en-US" dirty="0"/>
              <a:t>Child class must provide method body for abstract method.</a:t>
            </a:r>
          </a:p>
          <a:p>
            <a:r>
              <a:rPr lang="en-US" dirty="0"/>
              <a:t>Example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367453" y="2848708"/>
            <a:ext cx="4202723" cy="115179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abstract void </a:t>
            </a:r>
            <a:r>
              <a:rPr lang="en-US" dirty="0" err="1"/>
              <a:t>changeGear</a:t>
            </a:r>
            <a:r>
              <a:rPr lang="en-US" dirty="0"/>
              <a:t>(int </a:t>
            </a:r>
            <a:r>
              <a:rPr lang="en-US" dirty="0" err="1"/>
              <a:t>getNumber</a:t>
            </a:r>
            <a:r>
              <a:rPr lang="en-US" dirty="0"/>
              <a:t>);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367454" y="2848708"/>
            <a:ext cx="4202722" cy="3077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abstract class Car</a:t>
            </a:r>
            <a:endParaRPr lang="en-IN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477608" y="4000500"/>
            <a:ext cx="0" cy="316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826727" y="4317023"/>
            <a:ext cx="53017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866292" y="4317023"/>
            <a:ext cx="0" cy="3077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128488" y="4317023"/>
            <a:ext cx="0" cy="3077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58009" y="4633546"/>
            <a:ext cx="4202722" cy="158657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void </a:t>
            </a:r>
            <a:r>
              <a:rPr lang="en-US" dirty="0" err="1"/>
              <a:t>changeGear</a:t>
            </a:r>
            <a:r>
              <a:rPr lang="en-US" dirty="0"/>
              <a:t>(int </a:t>
            </a:r>
            <a:r>
              <a:rPr lang="en-US" dirty="0" err="1"/>
              <a:t>getNumber</a:t>
            </a:r>
            <a:r>
              <a:rPr lang="en-US" dirty="0"/>
              <a:t>)</a:t>
            </a:r>
          </a:p>
          <a:p>
            <a:r>
              <a:rPr lang="en-US" dirty="0"/>
              <a:t>         {</a:t>
            </a:r>
          </a:p>
          <a:p>
            <a:r>
              <a:rPr lang="en-US" dirty="0"/>
              <a:t>		// code</a:t>
            </a:r>
          </a:p>
          <a:p>
            <a:r>
              <a:rPr lang="en-US" dirty="0"/>
              <a:t>         }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058009" y="4648455"/>
            <a:ext cx="4202722" cy="3077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MannualCar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6412092" y="4633546"/>
            <a:ext cx="4202722" cy="158657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void </a:t>
            </a:r>
            <a:r>
              <a:rPr lang="en-US" dirty="0" err="1"/>
              <a:t>changeGear</a:t>
            </a:r>
            <a:r>
              <a:rPr lang="en-US" dirty="0"/>
              <a:t>(int </a:t>
            </a:r>
            <a:r>
              <a:rPr lang="en-US" dirty="0" err="1"/>
              <a:t>getNumber</a:t>
            </a:r>
            <a:r>
              <a:rPr lang="en-US" dirty="0"/>
              <a:t>)</a:t>
            </a:r>
          </a:p>
          <a:p>
            <a:r>
              <a:rPr lang="en-US" dirty="0"/>
              <a:t>         {</a:t>
            </a:r>
          </a:p>
          <a:p>
            <a:r>
              <a:rPr lang="en-US" dirty="0"/>
              <a:t>		// code</a:t>
            </a:r>
          </a:p>
          <a:p>
            <a:r>
              <a:rPr lang="en-US" dirty="0"/>
              <a:t>         }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6412092" y="4631683"/>
            <a:ext cx="4202722" cy="3077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AutomaticCar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Interfaces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Interfaces is a set of abstract methods, that must be implemented by the child classes.</a:t>
            </a:r>
          </a:p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055076" y="3094892"/>
            <a:ext cx="2540977" cy="41323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 </a:t>
            </a:r>
            <a:r>
              <a:rPr lang="en-US" dirty="0" err="1"/>
              <a:t>IVehicle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15462" y="4167554"/>
            <a:ext cx="888023" cy="4132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869223" y="4167554"/>
            <a:ext cx="888023" cy="4132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</a:t>
            </a:r>
            <a:endParaRPr lang="en-IN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257299" y="3508131"/>
            <a:ext cx="4398" cy="6594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3185745" y="3508131"/>
            <a:ext cx="4398" cy="6594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290527" y="2137614"/>
            <a:ext cx="5064362" cy="173208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Interface </a:t>
            </a:r>
            <a:r>
              <a:rPr lang="en-US" dirty="0" err="1"/>
              <a:t>interfaceName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ReturnType</a:t>
            </a:r>
            <a:r>
              <a:rPr lang="en-US" dirty="0"/>
              <a:t> </a:t>
            </a:r>
            <a:r>
              <a:rPr lang="en-US" dirty="0" err="1"/>
              <a:t>MethodName</a:t>
            </a:r>
            <a:r>
              <a:rPr lang="en-US" dirty="0"/>
              <a:t>(param1,…);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4290527" y="2151907"/>
            <a:ext cx="5059964" cy="3516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 </a:t>
            </a:r>
            <a:endParaRPr lang="en-IN" dirty="0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6704027" y="3820278"/>
            <a:ext cx="0" cy="4088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300057" y="4211537"/>
            <a:ext cx="5064362" cy="202221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childClassName</a:t>
            </a:r>
            <a:r>
              <a:rPr lang="en-US" dirty="0"/>
              <a:t>: </a:t>
            </a:r>
            <a:r>
              <a:rPr lang="en-US" dirty="0" err="1"/>
              <a:t>interfaceName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ReturnType</a:t>
            </a:r>
            <a:r>
              <a:rPr lang="en-US" dirty="0"/>
              <a:t> </a:t>
            </a:r>
            <a:r>
              <a:rPr lang="en-US" dirty="0" err="1"/>
              <a:t>MethodName</a:t>
            </a:r>
            <a:r>
              <a:rPr lang="en-US" dirty="0"/>
              <a:t>(param1,…)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4286868" y="4229120"/>
            <a:ext cx="5059964" cy="3516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Classes of Interface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Interfaces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child class that implements the interface , MUST implement ALL METHODS of the interface.</a:t>
            </a:r>
          </a:p>
          <a:p>
            <a:r>
              <a:rPr lang="en-US" dirty="0"/>
              <a:t>Interface methods are by default “public” and “abstract”.</a:t>
            </a:r>
          </a:p>
          <a:p>
            <a:r>
              <a:rPr lang="en-US" dirty="0"/>
              <a:t>The child class must implement all interface methods, with same signature.</a:t>
            </a:r>
          </a:p>
          <a:p>
            <a:r>
              <a:rPr lang="en-US" dirty="0"/>
              <a:t>You can’t create the object of interface.</a:t>
            </a:r>
          </a:p>
          <a:p>
            <a:r>
              <a:rPr lang="en-US" dirty="0"/>
              <a:t>You can create the reference variable for the interface.</a:t>
            </a:r>
          </a:p>
          <a:p>
            <a:r>
              <a:rPr lang="en-US" dirty="0"/>
              <a:t>The reference variable of interface type can only store the address of objects of any one of the corresponding child classes.</a:t>
            </a:r>
          </a:p>
          <a:p>
            <a:r>
              <a:rPr lang="en-IN" dirty="0"/>
              <a:t>You can implement multiple interfaces in the same child class</a:t>
            </a:r>
          </a:p>
          <a:p>
            <a:pPr marL="0" indent="0">
              <a:buNone/>
            </a:pPr>
            <a:r>
              <a:rPr lang="en-IN" dirty="0"/>
              <a:t>	[Multiple Inheritance]</a:t>
            </a:r>
          </a:p>
          <a:p>
            <a:r>
              <a:rPr lang="en-IN" dirty="0"/>
              <a:t>An interface can be child of another interface.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Interfaces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interfaces are commonly used for dependency injection (DI) in C#. Dependency injection is a design pattern used to implement </a:t>
            </a:r>
            <a:r>
              <a:rPr lang="en-US" dirty="0" err="1"/>
              <a:t>IoC</a:t>
            </a:r>
            <a:r>
              <a:rPr lang="en-US" dirty="0"/>
              <a:t> (Inversion of Control), allowing you to inject dependencies into a class rather than having the class create its own dependencies. This makes your code more modular, testable, and maintainable.</a:t>
            </a:r>
          </a:p>
          <a:p>
            <a:endParaRPr lang="en-US" dirty="0"/>
          </a:p>
          <a:p>
            <a:r>
              <a:rPr lang="en-US" dirty="0"/>
              <a:t>Inversion of Control (</a:t>
            </a:r>
            <a:r>
              <a:rPr lang="en-US" dirty="0" err="1"/>
              <a:t>IoC</a:t>
            </a:r>
            <a:r>
              <a:rPr lang="en-US" dirty="0"/>
              <a:t>) is a design principle used in software development to decouple components and increase modularity and testability. It means that the control of objects or portions of a program is transferred from within the code to a container or framework. This principle is commonly used in conjunction with dependency injection (DI).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07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Polymorphism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0"/>
            <a:ext cx="11106681" cy="4891975"/>
          </a:xfrm>
        </p:spPr>
        <p:txBody>
          <a:bodyPr>
            <a:normAutofit/>
          </a:bodyPr>
          <a:lstStyle/>
          <a:p>
            <a:r>
              <a:rPr lang="en-US" dirty="0"/>
              <a:t>Polymorphism provides the ability to the developer, to define different implements for the same method in the same class or different classes.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Ex: Method Overloading			Ex: Method Overriding</a:t>
            </a:r>
          </a:p>
          <a:p>
            <a:r>
              <a:rPr lang="en-IN" dirty="0"/>
              <a:t>Decision will be taken at compile        Decision will be taken at   </a:t>
            </a:r>
          </a:p>
          <a:p>
            <a:pPr marL="0" indent="0">
              <a:buNone/>
            </a:pPr>
            <a:r>
              <a:rPr lang="en-IN" dirty="0"/>
              <a:t>Time 						Run time.</a:t>
            </a:r>
          </a:p>
          <a:p>
            <a:r>
              <a:rPr lang="en-IN" dirty="0"/>
              <a:t>Also known as “Early Binding”/		Also known as “Late</a:t>
            </a:r>
          </a:p>
          <a:p>
            <a:pPr marL="0" indent="0">
              <a:buNone/>
            </a:pPr>
            <a:r>
              <a:rPr lang="en-IN" dirty="0"/>
              <a:t>“Static Polymorphism” 			B</a:t>
            </a:r>
            <a:r>
              <a:rPr lang="en-IN" b="1" dirty="0"/>
              <a:t>inding”/</a:t>
            </a:r>
            <a:r>
              <a:rPr lang="en-IN" dirty="0"/>
              <a:t>“Dynamic Polymorphism”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167554" y="2347546"/>
            <a:ext cx="2549769" cy="386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Polymorphism</a:t>
            </a:r>
            <a:endParaRPr lang="en-IN" dirty="0"/>
          </a:p>
        </p:txBody>
      </p:sp>
      <p:cxnSp>
        <p:nvCxnSpPr>
          <p:cNvPr id="6" name="Straight Connector 5"/>
          <p:cNvCxnSpPr>
            <a:stCxn id="4" idx="2"/>
          </p:cNvCxnSpPr>
          <p:nvPr/>
        </p:nvCxnSpPr>
        <p:spPr>
          <a:xfrm flipH="1">
            <a:off x="5442438" y="2734408"/>
            <a:ext cx="1" cy="2461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78996" y="2989385"/>
            <a:ext cx="51786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78996" y="2989385"/>
            <a:ext cx="0" cy="316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057666" y="2980592"/>
            <a:ext cx="0" cy="316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05636" y="3294050"/>
            <a:ext cx="4522465" cy="3811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Compile-Time Polymorphism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6189446" y="3305908"/>
            <a:ext cx="4522465" cy="3811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Run-Time Polymorphism</a:t>
            </a:r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5796433" y="3780021"/>
            <a:ext cx="0" cy="25266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Nested class is used when a class is not used independently. It will use only when the parent class is used. Example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you create an application for storing the users details, it stores the information such as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username</a:t>
            </a:r>
          </a:p>
          <a:p>
            <a:pPr marL="0" indent="0">
              <a:buNone/>
            </a:pPr>
            <a:r>
              <a:rPr lang="en-IN" dirty="0"/>
              <a:t>Password</a:t>
            </a:r>
          </a:p>
          <a:p>
            <a:pPr marL="0" indent="0">
              <a:buNone/>
            </a:pPr>
            <a:r>
              <a:rPr lang="en-IN" dirty="0" err="1"/>
              <a:t>Firstname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lastname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Email,</a:t>
            </a:r>
          </a:p>
          <a:p>
            <a:pPr marL="0" indent="0">
              <a:buNone/>
            </a:pPr>
            <a:r>
              <a:rPr lang="en-IN" dirty="0"/>
              <a:t>Mobile</a:t>
            </a:r>
          </a:p>
          <a:p>
            <a:pPr marL="0" indent="0">
              <a:buNone/>
            </a:pPr>
            <a:r>
              <a:rPr lang="en-IN" dirty="0" err="1"/>
              <a:t>ResidenceAddress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officeAddress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address fields contains the information such as door No, Building no, street, city, state, country and pin code.</a:t>
            </a:r>
          </a:p>
          <a:p>
            <a:r>
              <a:rPr lang="en-IN" dirty="0"/>
              <a:t>So you can create Address class as a nested class inside the User class. Because address object does not have existence without a user object. If you create an address object then there will be a question – Who’s address it is? Which means the address always comes with a user object so we can say Ajay’s address, or Mahesh’s address or Kiran’s address.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Classes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020" y="1373561"/>
            <a:ext cx="5601325" cy="505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Extension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Extension method is a method injected(added) into an existing class(or struct or interface), without modifying the source code of that class(or struct or interface).</a:t>
            </a:r>
          </a:p>
          <a:p>
            <a:r>
              <a:rPr lang="en-IN" dirty="0"/>
              <a:t>Syntax: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26724" y="3691217"/>
            <a:ext cx="8699664" cy="231655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static class </a:t>
            </a:r>
            <a:r>
              <a:rPr lang="en-US" dirty="0" err="1"/>
              <a:t>ClassName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public static </a:t>
            </a:r>
            <a:r>
              <a:rPr lang="en-US" dirty="0" err="1"/>
              <a:t>ReturnType</a:t>
            </a:r>
            <a:r>
              <a:rPr lang="en-US" dirty="0"/>
              <a:t> </a:t>
            </a:r>
            <a:r>
              <a:rPr lang="en-US" dirty="0" err="1"/>
              <a:t>MethodName</a:t>
            </a:r>
            <a:r>
              <a:rPr lang="en-US" dirty="0"/>
              <a:t>(this </a:t>
            </a:r>
            <a:r>
              <a:rPr lang="en-US" dirty="0" err="1"/>
              <a:t>ClassName</a:t>
            </a:r>
            <a:r>
              <a:rPr lang="en-US" dirty="0"/>
              <a:t> </a:t>
            </a:r>
            <a:r>
              <a:rPr lang="en-US" dirty="0" err="1"/>
              <a:t>ParameterName</a:t>
            </a:r>
            <a:r>
              <a:rPr lang="en-US" dirty="0"/>
              <a:t>,……)</a:t>
            </a:r>
          </a:p>
          <a:p>
            <a:r>
              <a:rPr lang="en-US" dirty="0">
                <a:solidFill>
                  <a:schemeClr val="tx1"/>
                </a:solidFill>
              </a:rPr>
              <a:t>	{</a:t>
            </a:r>
          </a:p>
          <a:p>
            <a:r>
              <a:rPr lang="en-US" dirty="0">
                <a:solidFill>
                  <a:schemeClr val="tx1"/>
                </a:solidFill>
              </a:rPr>
              <a:t>		method body here</a:t>
            </a:r>
          </a:p>
          <a:p>
            <a:r>
              <a:rPr lang="en-US" dirty="0">
                <a:solidFill>
                  <a:schemeClr val="tx1"/>
                </a:solidFill>
              </a:rPr>
              <a:t>	}</a:t>
            </a:r>
          </a:p>
          <a:p>
            <a:r>
              <a:rPr lang="en-US" dirty="0"/>
              <a:t>} 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13277" y="3166782"/>
            <a:ext cx="8699664" cy="5244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Static class for Extension method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Extension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developer of class library, creates a class with set of methods.</a:t>
            </a:r>
          </a:p>
          <a:p>
            <a:endParaRPr lang="en-IN" dirty="0"/>
          </a:p>
          <a:p>
            <a:r>
              <a:rPr lang="en-IN" dirty="0"/>
              <a:t>The consumer of class library , can add additional methods to the same class, without modifying the source code of the class library.</a:t>
            </a:r>
          </a:p>
          <a:p>
            <a:endParaRPr lang="en-IN" dirty="0"/>
          </a:p>
          <a:p>
            <a:r>
              <a:rPr lang="en-IN" dirty="0"/>
              <a:t>You can add additional methods to pre-defined classes/structures such as String , Int32 ,Console etc.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of Extension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You must create a static class with a static method; that it will be added as a non-static method to the specified class.</a:t>
            </a:r>
          </a:p>
          <a:p>
            <a:r>
              <a:rPr lang="en-IN" dirty="0"/>
              <a:t>This feature is introduced in C#3.0.</a:t>
            </a:r>
          </a:p>
          <a:p>
            <a:r>
              <a:rPr lang="en-IN" dirty="0"/>
              <a:t>The first parameter of extension method must be having “this” keyword;</a:t>
            </a:r>
          </a:p>
          <a:p>
            <a:pPr marL="0" indent="0">
              <a:buNone/>
            </a:pPr>
            <a:r>
              <a:rPr lang="en-IN" dirty="0"/>
              <a:t> followed by class name /struct name, to which you want to add extension               method.</a:t>
            </a:r>
          </a:p>
          <a:p>
            <a:r>
              <a:rPr lang="en-IN" dirty="0"/>
              <a:t>The parameter “this” keyword represents the current  object; just like “this” keyword in instance method.</a:t>
            </a:r>
          </a:p>
          <a:p>
            <a:r>
              <a:rPr lang="en-IN" dirty="0"/>
              <a:t>Extension method can have any no. of additional parameters,</a:t>
            </a:r>
          </a:p>
          <a:p>
            <a:pPr marL="0" indent="0">
              <a:buNone/>
            </a:pPr>
            <a:r>
              <a:rPr lang="en-IN" dirty="0"/>
              <a:t>Where the “this” keyword parameter s must.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of Extension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Extension method does not support method overriding. That means extension method’s signature can’t be same as any existing method.</a:t>
            </a:r>
          </a:p>
          <a:p>
            <a:r>
              <a:rPr lang="en-IN" dirty="0"/>
              <a:t>You can also add extension method to sealed class.</a:t>
            </a:r>
          </a:p>
          <a:p>
            <a:r>
              <a:rPr lang="en-IN" dirty="0"/>
              <a:t>‘Extension Methods’ concept can’t be used to create fields, properties or events. </a:t>
            </a:r>
          </a:p>
          <a:p>
            <a:r>
              <a:rPr lang="en-IN" dirty="0"/>
              <a:t>The static class of extension method can’t be inner class.</a:t>
            </a:r>
          </a:p>
          <a:p>
            <a:r>
              <a:rPr lang="en-IN" dirty="0"/>
              <a:t>The namespace in which the static class of extension method is created,</a:t>
            </a:r>
          </a:p>
          <a:p>
            <a:pPr marL="0" indent="0">
              <a:buNone/>
            </a:pPr>
            <a:r>
              <a:rPr lang="en-IN" dirty="0"/>
              <a:t>Must be imported in order to call the extension method as a non-static method.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8228" y="3026847"/>
            <a:ext cx="8025230" cy="165576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4412</Words>
  <Application>Microsoft Office PowerPoint</Application>
  <PresentationFormat>Widescreen</PresentationFormat>
  <Paragraphs>721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Calibri</vt:lpstr>
      <vt:lpstr>Calibri Light</vt:lpstr>
      <vt:lpstr>Consolas</vt:lpstr>
      <vt:lpstr>Segoe UI</vt:lpstr>
      <vt:lpstr>Trebuchet MS</vt:lpstr>
      <vt:lpstr>Theme3</vt:lpstr>
      <vt:lpstr>Theme6</vt:lpstr>
      <vt:lpstr>Custom Design</vt:lpstr>
      <vt:lpstr>1_Theme3</vt:lpstr>
      <vt:lpstr>2_Theme3</vt:lpstr>
      <vt:lpstr>PowerPoint Presentation</vt:lpstr>
      <vt:lpstr>Introducing OOP</vt:lpstr>
      <vt:lpstr>Object</vt:lpstr>
      <vt:lpstr>Class </vt:lpstr>
      <vt:lpstr>Methods</vt:lpstr>
      <vt:lpstr>Object and Class Association </vt:lpstr>
      <vt:lpstr>Class</vt:lpstr>
      <vt:lpstr>Class</vt:lpstr>
      <vt:lpstr>Class</vt:lpstr>
      <vt:lpstr>Class</vt:lpstr>
      <vt:lpstr>Creating objects</vt:lpstr>
      <vt:lpstr>Key Points to Remember</vt:lpstr>
      <vt:lpstr>Introducing Fields </vt:lpstr>
      <vt:lpstr>Introducing Fields</vt:lpstr>
      <vt:lpstr>Access Modifiers of Fields</vt:lpstr>
      <vt:lpstr>Static fields</vt:lpstr>
      <vt:lpstr>Instance fields (vs) static fields </vt:lpstr>
      <vt:lpstr>Constant fields</vt:lpstr>
      <vt:lpstr>Readonly fields</vt:lpstr>
      <vt:lpstr>Key Points to Remember</vt:lpstr>
      <vt:lpstr>Introducing Method</vt:lpstr>
      <vt:lpstr>Syntax of Method</vt:lpstr>
      <vt:lpstr>Encapsulation</vt:lpstr>
      <vt:lpstr>Abstraction</vt:lpstr>
      <vt:lpstr>Local Variable</vt:lpstr>
      <vt:lpstr>Local Variables and Parameters</vt:lpstr>
      <vt:lpstr>Static Method  </vt:lpstr>
      <vt:lpstr>Reference Variable as Argument </vt:lpstr>
      <vt:lpstr>Method Overloading </vt:lpstr>
      <vt:lpstr>Instance Constructors</vt:lpstr>
      <vt:lpstr>Static Constructor</vt:lpstr>
      <vt:lpstr>Constructor Overloading</vt:lpstr>
      <vt:lpstr>Object Initializer  </vt:lpstr>
      <vt:lpstr>Inheritance </vt:lpstr>
      <vt:lpstr>Types of Inheritance </vt:lpstr>
      <vt:lpstr>‘base’ Keyword</vt:lpstr>
      <vt:lpstr>Parent Class’s Constructor</vt:lpstr>
      <vt:lpstr>Method Hiding</vt:lpstr>
      <vt:lpstr>Method Hiding</vt:lpstr>
      <vt:lpstr>Method Overriding </vt:lpstr>
      <vt:lpstr>Sealed class</vt:lpstr>
      <vt:lpstr>Sealed Methods</vt:lpstr>
      <vt:lpstr>Key points to Remember</vt:lpstr>
      <vt:lpstr>Abstract class</vt:lpstr>
      <vt:lpstr>Abstract Class</vt:lpstr>
      <vt:lpstr>Comparison table Class (vs) Abstract Class</vt:lpstr>
      <vt:lpstr>Comparison table Class (vs) Abstract Class</vt:lpstr>
      <vt:lpstr>Abstract Method</vt:lpstr>
      <vt:lpstr>Abstract Method</vt:lpstr>
      <vt:lpstr>Introducing Interfaces</vt:lpstr>
      <vt:lpstr>Introducing Interfaces</vt:lpstr>
      <vt:lpstr>Introducing Interfaces</vt:lpstr>
      <vt:lpstr>Introducing Polymorphism</vt:lpstr>
      <vt:lpstr>Nested Classes</vt:lpstr>
      <vt:lpstr>Nested Classes</vt:lpstr>
      <vt:lpstr>Nested Classes</vt:lpstr>
      <vt:lpstr>Extension Methods</vt:lpstr>
      <vt:lpstr>Advantages of Extension Methods</vt:lpstr>
      <vt:lpstr>Understanding of Extension Methods</vt:lpstr>
      <vt:lpstr>Understanding of Extension Methods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Campaign</dc:title>
  <dc:creator>Manish Corriea</dc:creator>
  <cp:lastModifiedBy>Sunita Jain</cp:lastModifiedBy>
  <cp:revision>138</cp:revision>
  <dcterms:created xsi:type="dcterms:W3CDTF">2019-03-07T07:10:00Z</dcterms:created>
  <dcterms:modified xsi:type="dcterms:W3CDTF">2025-04-11T09:43:47Z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4A28DA28AA474585BC1617F8302F88F7</vt:lpwstr>
  </property>
  <property fmtid="{D5CDD505-2E9C-101B-9397-08002B2CF9AE}" pid="3" name="KSOProductBuildVer">
    <vt:lpwstr>1033-11.2.0.11440</vt:lpwstr>
  </property>
</Properties>
</file>
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4" r:id="rId4"/>
    <p:sldId id="295" r:id="rId5"/>
    <p:sldId id="296" r:id="rId6"/>
    <p:sldId id="297" r:id="rId7"/>
    <p:sldId id="298" r:id="rId8"/>
    <p:sldId id="299" r:id="rId9"/>
    <p:sldId id="300"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37" r:id="rId47"/>
    <p:sldId id="338" r:id="rId48"/>
    <p:sldId id="339" r:id="rId49"/>
    <p:sldId id="340" r:id="rId50"/>
    <p:sldId id="341" r:id="rId51"/>
    <p:sldId id="342" r:id="rId52"/>
    <p:sldId id="343" r:id="rId53"/>
    <p:sldId id="344" r:id="rId54"/>
    <p:sldId id="345" r:id="rId55"/>
    <p:sldId id="346" r:id="rId56"/>
    <p:sldId id="347" r:id="rId57"/>
    <p:sldId id="348" r:id="rId58"/>
    <p:sldId id="349" r:id="rId59"/>
    <p:sldId id="440" r:id="rId60"/>
    <p:sldId id="439" r:id="rId61"/>
    <p:sldId id="441" r:id="rId62"/>
    <p:sldId id="350" r:id="rId63"/>
    <p:sldId id="351" r:id="rId64"/>
    <p:sldId id="352" r:id="rId65"/>
    <p:sldId id="353" r:id="rId66"/>
    <p:sldId id="354" r:id="rId67"/>
    <p:sldId id="355" r:id="rId68"/>
    <p:sldId id="356" r:id="rId69"/>
    <p:sldId id="357" r:id="rId70"/>
    <p:sldId id="358" r:id="rId71"/>
    <p:sldId id="359" r:id="rId72"/>
    <p:sldId id="360" r:id="rId73"/>
    <p:sldId id="361" r:id="rId74"/>
    <p:sldId id="362" r:id="rId75"/>
    <p:sldId id="363" r:id="rId76"/>
    <p:sldId id="364" r:id="rId77"/>
    <p:sldId id="365" r:id="rId78"/>
    <p:sldId id="366" r:id="rId79"/>
    <p:sldId id="367" r:id="rId80"/>
    <p:sldId id="368" r:id="rId81"/>
    <p:sldId id="369" r:id="rId82"/>
    <p:sldId id="370" r:id="rId83"/>
    <p:sldId id="371" r:id="rId84"/>
    <p:sldId id="372" r:id="rId85"/>
    <p:sldId id="373" r:id="rId86"/>
    <p:sldId id="374" r:id="rId87"/>
    <p:sldId id="375" r:id="rId88"/>
    <p:sldId id="376" r:id="rId89"/>
    <p:sldId id="377" r:id="rId90"/>
    <p:sldId id="378" r:id="rId91"/>
    <p:sldId id="379" r:id="rId92"/>
    <p:sldId id="380" r:id="rId93"/>
    <p:sldId id="381" r:id="rId94"/>
    <p:sldId id="382" r:id="rId95"/>
    <p:sldId id="383" r:id="rId96"/>
    <p:sldId id="384" r:id="rId97"/>
    <p:sldId id="385" r:id="rId98"/>
    <p:sldId id="386" r:id="rId99"/>
    <p:sldId id="387" r:id="rId100"/>
    <p:sldId id="388" r:id="rId101"/>
    <p:sldId id="389" r:id="rId102"/>
    <p:sldId id="390" r:id="rId103"/>
    <p:sldId id="391" r:id="rId104"/>
    <p:sldId id="392" r:id="rId105"/>
    <p:sldId id="393" r:id="rId106"/>
    <p:sldId id="394" r:id="rId107"/>
    <p:sldId id="395" r:id="rId108"/>
    <p:sldId id="396" r:id="rId109"/>
    <p:sldId id="397" r:id="rId110"/>
    <p:sldId id="398" r:id="rId111"/>
    <p:sldId id="399" r:id="rId112"/>
    <p:sldId id="400" r:id="rId113"/>
    <p:sldId id="401" r:id="rId114"/>
    <p:sldId id="402" r:id="rId115"/>
    <p:sldId id="403" r:id="rId116"/>
    <p:sldId id="404" r:id="rId117"/>
    <p:sldId id="405" r:id="rId118"/>
    <p:sldId id="406" r:id="rId119"/>
    <p:sldId id="407" r:id="rId120"/>
    <p:sldId id="408" r:id="rId121"/>
    <p:sldId id="409" r:id="rId122"/>
    <p:sldId id="410" r:id="rId123"/>
    <p:sldId id="411" r:id="rId124"/>
    <p:sldId id="412" r:id="rId125"/>
    <p:sldId id="413" r:id="rId126"/>
    <p:sldId id="414" r:id="rId127"/>
    <p:sldId id="415" r:id="rId128"/>
    <p:sldId id="416" r:id="rId129"/>
    <p:sldId id="417" r:id="rId130"/>
    <p:sldId id="418" r:id="rId131"/>
    <p:sldId id="419" r:id="rId132"/>
    <p:sldId id="420" r:id="rId133"/>
    <p:sldId id="421" r:id="rId134"/>
    <p:sldId id="422" r:id="rId135"/>
    <p:sldId id="423" r:id="rId136"/>
    <p:sldId id="424" r:id="rId137"/>
    <p:sldId id="425" r:id="rId138"/>
    <p:sldId id="426" r:id="rId139"/>
    <p:sldId id="427" r:id="rId140"/>
    <p:sldId id="428" r:id="rId141"/>
    <p:sldId id="429" r:id="rId142"/>
    <p:sldId id="430" r:id="rId143"/>
    <p:sldId id="431" r:id="rId144"/>
    <p:sldId id="432" r:id="rId145"/>
    <p:sldId id="433" r:id="rId146"/>
    <p:sldId id="434" r:id="rId147"/>
    <p:sldId id="435" r:id="rId148"/>
    <p:sldId id="436" r:id="rId149"/>
    <p:sldId id="437" r:id="rId150"/>
    <p:sldId id="438" r:id="rId151"/>
    <p:sldId id="292" r:id="rId1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1" d="100"/>
          <a:sy n="71"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5"/>
            <a:ext cx="9144000" cy="878715"/>
          </a:xfrm>
        </p:spPr>
        <p:txBody>
          <a:bodyPr anchor="b">
            <a:normAutofit/>
          </a:bodyPr>
          <a:lstStyle>
            <a:lvl1pPr algn="ctr">
              <a:defRPr sz="3600">
                <a:solidFill>
                  <a:schemeClr val="tx1">
                    <a:lumMod val="50000"/>
                    <a:lumOff val="50000"/>
                  </a:schemeClr>
                </a:solidFill>
                <a:latin typeface="Trebuchet MS" panose="020B0603020202020204" pitchFamily="34" charset="0"/>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2400">
                <a:solidFill>
                  <a:schemeClr val="tx1">
                    <a:lumMod val="50000"/>
                    <a:lumOff val="50000"/>
                  </a:schemeClr>
                </a:solidFill>
                <a:latin typeface="Trebuchet MS" panose="020B0603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2391A818-3148-46C3-87F7-C123472F7CA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3692529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bg2">
                    <a:lumMod val="50000"/>
                  </a:schemeClr>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sz="2400">
                <a:solidFill>
                  <a:schemeClr val="bg2">
                    <a:lumMod val="50000"/>
                  </a:schemeClr>
                </a:solidFill>
              </a:defRPr>
            </a:lvl1pPr>
            <a:lvl2pPr>
              <a:defRPr sz="2000">
                <a:solidFill>
                  <a:schemeClr val="bg2">
                    <a:lumMod val="50000"/>
                  </a:schemeClr>
                </a:solidFill>
              </a:defRPr>
            </a:lvl2pPr>
            <a:lvl3pPr>
              <a:defRPr sz="1800">
                <a:solidFill>
                  <a:schemeClr val="bg2">
                    <a:lumMod val="50000"/>
                  </a:schemeClr>
                </a:solidFill>
              </a:defRPr>
            </a:lvl3pPr>
            <a:lvl4pPr>
              <a:defRPr>
                <a:solidFill>
                  <a:schemeClr val="bg2">
                    <a:lumMod val="50000"/>
                  </a:schemeClr>
                </a:solidFill>
              </a:defRPr>
            </a:lvl4pPr>
            <a:lvl5pPr>
              <a:defRPr>
                <a:solidFill>
                  <a:schemeClr val="bg2">
                    <a:lumMod val="5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21267631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391A818-3148-46C3-87F7-C123472F7CA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6671458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91A818-3148-46C3-87F7-C123472F7CA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2631100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391A818-3148-46C3-87F7-C123472F7CA4}"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3181349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391A818-3148-46C3-87F7-C123472F7CA4}"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1158537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91A818-3148-46C3-87F7-C123472F7CA4}"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3693282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91A818-3148-46C3-87F7-C123472F7CA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58466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391A818-3148-46C3-87F7-C123472F7CA4}"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2928367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1880962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391A818-3148-46C3-87F7-C123472F7CA4}"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B648D0-30D4-4602-849F-05F9D94C95E1}" type="slidenum">
              <a:rPr lang="en-US" smtClean="0"/>
              <a:t>‹#›</a:t>
            </a:fld>
            <a:endParaRPr lang="en-US"/>
          </a:p>
        </p:txBody>
      </p:sp>
    </p:spTree>
    <p:extLst>
      <p:ext uri="{BB962C8B-B14F-4D97-AF65-F5344CB8AC3E}">
        <p14:creationId xmlns:p14="http://schemas.microsoft.com/office/powerpoint/2010/main" val="906883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1A818-3148-46C3-87F7-C123472F7CA4}" type="datetimeFigureOut">
              <a:rPr lang="en-US" smtClean="0"/>
              <a:t>3/17/2026</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B648D0-30D4-4602-849F-05F9D94C95E1}" type="slidenum">
              <a:rPr lang="en-US" smtClean="0"/>
              <a:t>‹#›</a:t>
            </a:fld>
            <a:endParaRPr lang="en-US"/>
          </a:p>
        </p:txBody>
      </p:sp>
    </p:spTree>
    <p:extLst>
      <p:ext uri="{BB962C8B-B14F-4D97-AF65-F5344CB8AC3E}">
        <p14:creationId xmlns:p14="http://schemas.microsoft.com/office/powerpoint/2010/main" val="23932617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000" kern="1200">
          <a:solidFill>
            <a:schemeClr val="tx1"/>
          </a:solidFill>
          <a:latin typeface="Trebuchet MS" panose="020B0603020202020204" pitchFamily="34" charset="0"/>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docs.microsoft.com/en-us/dynamics365/sales/overview"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docs.microsoft.com/en-us/learn/modules/manage-leads-dynamics-365-sale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hyperlink" Target="https://docs.microsoft.com/en-us/learn/modules/manage-opportunities-dynamics-365-sales/4-opportunity-management-lifecycle"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docs.microsoft.com/en-us/learn/modules/process-sales-orders-dynamics-365-sales/2-quotes-and-quote-management"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hyperlink" Target="https://docs.microsoft.com/en-us/learn/modules/process-sales-orders-dynamics-365-sales/3-orders-and-invoice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hyperlink" Target="https://www.youtube.com/watch?v=LLxBzRETYKU&amp;list=PLjsvdMzSVSzXqJcIZyKjg5W79wIKIAnvQ&amp;index=2" TargetMode="External"/><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hyperlink" Target="https://www.youtube.com/watch?v=7YJZJEZzFdI&amp;list=PLjsvdMzSVSzXqJcIZyKjg5W79wIKIAnvQ&amp;index=6" TargetMode="External"/><Relationship Id="rId4" Type="http://schemas.openxmlformats.org/officeDocument/2006/relationships/hyperlink" Target="https://www.youtube.com/watch?v=xIS7xxnxtNY&amp;list=PLjsvdMzSVSzXqJcIZyKjg5W79wIKIAnvQ&amp;index=3" TargetMode="External"/></Relationships>
</file>

<file path=ppt/slides/_rels/slide4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hyperlink" Target="https://docs.microsoft.com/en-us/dynamics365/sales/set-up-product-catalog-walkthrough"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https://docs.microsoft.com/en-us/dynamics365/sales/create-unit-group-add-units-that-group"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hyperlink" Target="https://docs.microsoft.com/en-us/dynamics365/sales/set-up-discount-list"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hyperlink" Target="https://docs.microsoft.com/en-us/dynamics365/sales/create-product-sales#create-a-product"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hyperlink" Target="https://docs.microsoft.com/en-us/dynamics365/sales/create-product-bundles-sell-multiple-items-together"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hyperlink" Target="https://docs.microsoft.com/en-us/dynamics365/sales/create-product-family"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hyperlink" Target="https://docs.microsoft.com/en-us/dynamics365/customerengagement/on-premises/developer/product-pricing-methods?view=op-9-1"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hyperlink" Target="https://docs.microsoft.com/en-us/dynamics365/sales/create-price-lists-price-list-items-define-pricing-product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hyperlink" Target="https://docs.microsoft.com/en-us/dynamics365/sales/change-product-parent"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hyperlink" Target="https://docs.microsoft.com/en-us/dynamics365/sales/use-properties-describe-product" TargetMode="External"/><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hyperlink" Target="https://www.inogic.com/blog/2021/03/enhanced-experience-for-product-properties-in-dynamics-365-crm/" TargetMode="External"/></Relationships>
</file>

<file path=ppt/slides/_rels/slide9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hyperlink" Target="https://docs.microsoft.com/en-us/dynamics365/sales/define-related-products-increase-chances-sale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hyperlink" Target="https://docs.microsoft.com/en-us/dynamics365/sales/publish-product-bundle-make-available-selling" TargetMode="External"/><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hyperlink" Target="https://docs.microsoft.com/en-us/dynamics365/sales/retire-product" TargetMode="External"/><Relationship Id="rId5" Type="http://schemas.openxmlformats.org/officeDocument/2006/relationships/hyperlink" Target="https://docs.microsoft.com/en-us/dynamics365/sales/clone-product" TargetMode="External"/><Relationship Id="rId4" Type="http://schemas.openxmlformats.org/officeDocument/2006/relationships/hyperlink" Target="https://docs.microsoft.com/en-us/dynamics365/sales/revise-product"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docs.microsoft.com/en-us/dynamics365/sales/delete-family-product-bundle"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3" Type="http://schemas.openxmlformats.org/officeDocument/2006/relationships/hyperlink" Target="https://docs.microsoft.com/en-us/powerapps/maker/data-platform/visualize-hierarchical-data?context=/dynamics365/context/sales-context"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hyperlink" Target="https://docs.microsoft.com/en-us/dynamics365/sales/pricing-product-bundle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3" Type="http://schemas.openxmlformats.org/officeDocument/2006/relationships/hyperlink" Target="https://docs.microsoft.com/en-us/dynamics365/sales/add-products-enhanced-experience" TargetMode="External"/><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hyperlink" Target="https://docs.microsoft.com/en-us/dynamics365/sales/enable-enhanced-add-product-experience?tabs=SE#enable-or-disable-the-enhanced-experience" TargetMode="External"/><Relationship Id="rId5" Type="http://schemas.openxmlformats.org/officeDocument/2006/relationships/hyperlink" Target="https://www.inogic.com/blog/2021/05/enhanced-experience-for-adding-line-items-products-with-2021-release-wave-1/" TargetMode="External"/><Relationship Id="rId4" Type="http://schemas.openxmlformats.org/officeDocument/2006/relationships/hyperlink" Target="https://www.inogic.com/blog/2020/05/productivity-booster-enhanced-experience-for-adding-line-items-products-with-2020-release-wave-1/" TargetMode="External"/></Relationships>
</file>

<file path=ppt/slides/_rels/slide116.xml.rels><?xml version="1.0" encoding="UTF-8" standalone="yes"?>
<Relationships xmlns="http://schemas.openxmlformats.org/package/2006/relationships"><Relationship Id="rId3" Type="http://schemas.openxmlformats.org/officeDocument/2006/relationships/hyperlink" Target="https://docs.microsoft.com/en-us/dynamics365/sales/add-products-qoi-enhanced"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hyperlink" Target="https://docs.microsoft.com/en-us/dynamics365/sales/customize-add-products-dialog-box?tabs=SEAddColumns%2CSEProductColumns" TargetMode="External"/></Relationships>
</file>

<file path=ppt/slides/_rels/slide1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hyperlink" Target="https://docs.microsoft.com/en-us/dynamics365/sales/configure-product-catalog-setting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3" Type="http://schemas.openxmlformats.org/officeDocument/2006/relationships/hyperlink" Target="https://docs.microsoft.com/en-us/dynamics365/sales/price-calculation-opportunity-quote-order-invoice-record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hyperlink" Target="https://docs.microsoft.com/en-us/learn/modules/manage-leads-dynamics-365-sales/2-create-lead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hyperlink" Target="https://docs.microsoft.com/en-us/power-automate/business-process-flows-overview"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hyperlink" Target="https://docs.microsoft.com/en-us/dynamics365/sales/define-lead-qualification-experience"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hyperlink" Target="https://www.inogic.com/blog/2021/08/new-model-driven-app-experience-for-sharing-entity-rows/"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3" Type="http://schemas.openxmlformats.org/officeDocument/2006/relationships/hyperlink" Target="https://www.inogic.com/blog/2019/11/optional-price-lists-new-dynamics-365-crm-wave-2-release-feature/"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hyperlink" Target="https://www.inogic.com/blog/2021/05/enhanced-experience-for-adding-line-items-products-with-2021-release-wave-1/" TargetMode="External"/><Relationship Id="rId2" Type="http://schemas.openxmlformats.org/officeDocument/2006/relationships/image" Target="../media/image2.jp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34.xml.rels><?xml version="1.0" encoding="UTF-8" standalone="yes"?>
<Relationships xmlns="http://schemas.openxmlformats.org/package/2006/relationships"><Relationship Id="rId3" Type="http://schemas.openxmlformats.org/officeDocument/2006/relationships/hyperlink" Target="https://docs.microsoft.com/en-us/power-platform/admin/what-are-preview-features-how-do-i-enable-them"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3" Type="http://schemas.openxmlformats.org/officeDocument/2006/relationships/hyperlink" Target="file:///D:\CRM\make.powerapps.com" TargetMode="External"/><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88231" y="3026847"/>
            <a:ext cx="8025231" cy="1655763"/>
          </a:xfrm>
        </p:spPr>
        <p:txBody>
          <a:bodyPr>
            <a:normAutofit/>
          </a:bodyPr>
          <a:lstStyle/>
          <a:p>
            <a:r>
              <a:rPr lang="en-IN" sz="3600" dirty="0">
                <a:solidFill>
                  <a:schemeClr val="bg1">
                    <a:lumMod val="50000"/>
                  </a:schemeClr>
                </a:solidFill>
                <a:latin typeface="Trebuchet MS" panose="020B0603020202020204" pitchFamily="34" charset="0"/>
              </a:rPr>
              <a:t>Sales Module in Dynamics 365</a:t>
            </a:r>
            <a:endParaRPr lang="en-US" sz="3600" dirty="0">
              <a:solidFill>
                <a:schemeClr val="bg1">
                  <a:lumMod val="50000"/>
                </a:schemeClr>
              </a:solidFill>
              <a:latin typeface="Trebuchet MS" panose="020B0603020202020204" pitchFamily="34" charset="0"/>
            </a:endParaRPr>
          </a:p>
        </p:txBody>
      </p:sp>
    </p:spTree>
    <p:extLst>
      <p:ext uri="{BB962C8B-B14F-4D97-AF65-F5344CB8AC3E}">
        <p14:creationId xmlns:p14="http://schemas.microsoft.com/office/powerpoint/2010/main" val="1116119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r>
              <a:rPr lang="en-US" sz="3600" dirty="0">
                <a:solidFill>
                  <a:prstClr val="white">
                    <a:lumMod val="50000"/>
                  </a:prstClr>
                </a:solidFill>
                <a:latin typeface="Trebuchet MS" panose="020B0603020202020204" pitchFamily="34" charset="0"/>
              </a:rPr>
              <a:t>Agenda</a:t>
            </a:r>
            <a:endParaRPr lang="en-US" sz="3600" dirty="0"/>
          </a:p>
        </p:txBody>
      </p:sp>
      <p:sp>
        <p:nvSpPr>
          <p:cNvPr id="3" name="Subtitle 2"/>
          <p:cNvSpPr>
            <a:spLocks noGrp="1"/>
          </p:cNvSpPr>
          <p:nvPr>
            <p:ph type="subTitle" idx="1"/>
          </p:nvPr>
        </p:nvSpPr>
        <p:spPr>
          <a:xfrm>
            <a:off x="816087" y="1194620"/>
            <a:ext cx="11041627" cy="5058693"/>
          </a:xfrm>
        </p:spPr>
        <p:txBody>
          <a:bodyPr>
            <a:normAutofit lnSpcReduction="10000"/>
          </a:bodyPr>
          <a:lstStyle/>
          <a:p>
            <a:pPr marL="342900" lvl="0" indent="-342900" algn="l">
              <a:buFont typeface="Arial" panose="020B0604020202020204" pitchFamily="34" charset="0"/>
              <a:buChar char="•"/>
            </a:pPr>
            <a:r>
              <a:rPr lang="en-IN" b="1" dirty="0"/>
              <a:t>Importance of Dynamics 365 Sales</a:t>
            </a:r>
            <a:endParaRPr lang="en-IN" dirty="0"/>
          </a:p>
          <a:p>
            <a:pPr marL="342900" lvl="0" indent="-342900" algn="l">
              <a:buFont typeface="Arial" panose="020B0604020202020204" pitchFamily="34" charset="0"/>
              <a:buChar char="•"/>
            </a:pPr>
            <a:r>
              <a:rPr lang="en-IN" b="1" dirty="0"/>
              <a:t>Dynamics 365 Sales components</a:t>
            </a:r>
            <a:endParaRPr lang="en-IN" dirty="0"/>
          </a:p>
          <a:p>
            <a:pPr marL="342900" lvl="0" indent="-342900" algn="l">
              <a:buFont typeface="Arial" panose="020B0604020202020204" pitchFamily="34" charset="0"/>
              <a:buChar char="•"/>
            </a:pPr>
            <a:r>
              <a:rPr lang="en-IN" b="1" dirty="0"/>
              <a:t>OOB Sales Life Cycle (A typical process of sales from start to end)</a:t>
            </a:r>
            <a:endParaRPr lang="en-IN" dirty="0"/>
          </a:p>
          <a:p>
            <a:pPr marL="800089" lvl="1" indent="-342900" algn="l">
              <a:buFont typeface="Arial" panose="020B0604020202020204" pitchFamily="34" charset="0"/>
              <a:buChar char="•"/>
            </a:pPr>
            <a:r>
              <a:rPr lang="en-IN" b="1" dirty="0">
                <a:solidFill>
                  <a:schemeClr val="tx1">
                    <a:lumMod val="50000"/>
                    <a:lumOff val="50000"/>
                  </a:schemeClr>
                </a:solidFill>
              </a:rPr>
              <a:t>Lead Qualification Process</a:t>
            </a:r>
            <a:endParaRPr lang="en-IN" dirty="0">
              <a:solidFill>
                <a:schemeClr val="tx1">
                  <a:lumMod val="50000"/>
                  <a:lumOff val="50000"/>
                </a:schemeClr>
              </a:solidFill>
            </a:endParaRPr>
          </a:p>
          <a:p>
            <a:pPr marL="800089" lvl="1" indent="-342900" algn="l">
              <a:buFont typeface="Arial" panose="020B0604020202020204" pitchFamily="34" charset="0"/>
              <a:buChar char="•"/>
            </a:pPr>
            <a:r>
              <a:rPr lang="en-IN" b="1" dirty="0">
                <a:solidFill>
                  <a:schemeClr val="tx1">
                    <a:lumMod val="50000"/>
                    <a:lumOff val="50000"/>
                  </a:schemeClr>
                </a:solidFill>
              </a:rPr>
              <a:t>Lead Reactivation Process</a:t>
            </a:r>
            <a:endParaRPr lang="en-IN" dirty="0">
              <a:solidFill>
                <a:schemeClr val="tx1">
                  <a:lumMod val="50000"/>
                  <a:lumOff val="50000"/>
                </a:schemeClr>
              </a:solidFill>
            </a:endParaRPr>
          </a:p>
          <a:p>
            <a:pPr marL="342900" lvl="0" indent="-342900" algn="l">
              <a:buFont typeface="Arial" panose="020B0604020202020204" pitchFamily="34" charset="0"/>
              <a:buChar char="•"/>
            </a:pPr>
            <a:r>
              <a:rPr lang="en-IN" b="1" dirty="0"/>
              <a:t>Opportunity Management</a:t>
            </a:r>
            <a:endParaRPr lang="en-IN" dirty="0"/>
          </a:p>
          <a:p>
            <a:pPr marL="342900" lvl="0" indent="-342900" algn="l">
              <a:buFont typeface="Arial" panose="020B0604020202020204" pitchFamily="34" charset="0"/>
              <a:buChar char="•"/>
            </a:pPr>
            <a:r>
              <a:rPr lang="en-IN" b="1" dirty="0"/>
              <a:t>Quote management</a:t>
            </a:r>
            <a:endParaRPr lang="en-IN" dirty="0"/>
          </a:p>
          <a:p>
            <a:pPr marL="342900" lvl="0" indent="-342900" algn="l">
              <a:buFont typeface="Arial" panose="020B0604020202020204" pitchFamily="34" charset="0"/>
              <a:buChar char="•"/>
            </a:pPr>
            <a:r>
              <a:rPr lang="en-IN" b="1" dirty="0"/>
              <a:t>Order and Invoice management</a:t>
            </a:r>
            <a:endParaRPr lang="en-IN" dirty="0"/>
          </a:p>
          <a:p>
            <a:pPr marL="342900" lvl="0" indent="-342900" algn="l">
              <a:buFont typeface="Arial" panose="020B0604020202020204" pitchFamily="34" charset="0"/>
              <a:buChar char="•"/>
            </a:pPr>
            <a:r>
              <a:rPr lang="en-IN" b="1" dirty="0"/>
              <a:t>System Pricing Calculations in Dynamics 365 </a:t>
            </a:r>
            <a:endParaRPr lang="en-IN" dirty="0"/>
          </a:p>
          <a:p>
            <a:pPr marL="342900" lvl="0" indent="-342900" algn="l">
              <a:buFont typeface="Arial" panose="020B0604020202020204" pitchFamily="34" charset="0"/>
              <a:buChar char="•"/>
            </a:pPr>
            <a:r>
              <a:rPr lang="en-IN" b="1" dirty="0"/>
              <a:t>BizAppsGuru video links</a:t>
            </a:r>
          </a:p>
          <a:p>
            <a:pPr marL="342900" lvl="0" indent="-342900" algn="l">
              <a:buFont typeface="Arial" panose="020B0604020202020204" pitchFamily="34" charset="0"/>
              <a:buChar char="•"/>
            </a:pPr>
            <a:r>
              <a:rPr lang="en-IN" b="1" dirty="0"/>
              <a:t>Product Catalog</a:t>
            </a:r>
          </a:p>
          <a:p>
            <a:pPr marL="342900" lvl="0" indent="-342900" algn="l">
              <a:buFont typeface="Arial" panose="020B0604020202020204" pitchFamily="34" charset="0"/>
              <a:buChar char="•"/>
            </a:pPr>
            <a:r>
              <a:rPr lang="en-IN" b="1" dirty="0"/>
              <a:t>FAQs</a:t>
            </a:r>
            <a:endParaRPr lang="en-IN" dirty="0"/>
          </a:p>
          <a:p>
            <a:pPr marL="685783" lvl="1" indent="-228594" algn="l">
              <a:lnSpc>
                <a:spcPct val="120000"/>
              </a:lnSpc>
              <a:buFont typeface="Arial" panose="020B0604020202020204" pitchFamily="34" charset="0"/>
              <a:buChar char="•"/>
            </a:pPr>
            <a:endParaRPr lang="en-US" dirty="0"/>
          </a:p>
        </p:txBody>
      </p:sp>
    </p:spTree>
    <p:extLst>
      <p:ext uri="{BB962C8B-B14F-4D97-AF65-F5344CB8AC3E}">
        <p14:creationId xmlns:p14="http://schemas.microsoft.com/office/powerpoint/2010/main" val="140204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lgn="l"/>
            <a:r>
              <a:rPr lang="en-IN" sz="3600" dirty="0"/>
              <a:t>Importance of Dynamics 365 Sales</a:t>
            </a:r>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t>A typical sales process includes a set of repeatable steps that sellers follow to engage with a prospective customer from the early stage of awareness to closing a sale. You can achieve more consistent sales interactions by following the sales process as it takes you through each stage, from creating a lead to closing the opportunity and recording the sale.</a:t>
            </a:r>
            <a:endParaRPr lang="en-IN" sz="2800" dirty="0"/>
          </a:p>
          <a:p>
            <a:pPr algn="l"/>
            <a:r>
              <a:rPr lang="en-IN" dirty="0"/>
              <a:t>With the Dynamics 365 Sales, your sales organization can automate the sales process from lead to invoice, run marketing campaigns, enforce best practices, collaborate with customers, and much more. </a:t>
            </a:r>
          </a:p>
          <a:p>
            <a:pPr algn="l"/>
            <a:endParaRPr lang="en-IN" sz="2800" dirty="0"/>
          </a:p>
          <a:p>
            <a:pPr algn="l"/>
            <a:endParaRPr lang="en-IN" sz="2800" dirty="0"/>
          </a:p>
          <a:p>
            <a:pPr marL="685783" lvl="1" indent="-228594" algn="l">
              <a:lnSpc>
                <a:spcPct val="120000"/>
              </a:lnSpc>
              <a:buFont typeface="Arial" panose="020B0604020202020204" pitchFamily="34" charset="0"/>
              <a:buChar char="•"/>
            </a:pPr>
            <a:endParaRPr lang="en-US" dirty="0"/>
          </a:p>
        </p:txBody>
      </p:sp>
    </p:spTree>
    <p:extLst>
      <p:ext uri="{BB962C8B-B14F-4D97-AF65-F5344CB8AC3E}">
        <p14:creationId xmlns:p14="http://schemas.microsoft.com/office/powerpoint/2010/main" val="2339397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lgn="l"/>
            <a:r>
              <a:rPr lang="en-IN" sz="3600" dirty="0"/>
              <a:t>Importance of Dynamics 365 Sales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Below are the major capabilities from Dynamics 365 Sales:</a:t>
            </a:r>
          </a:p>
          <a:p>
            <a:pPr marL="342900" lvl="0" indent="-342900" algn="l">
              <a:buFont typeface="Arial" panose="020B0604020202020204" pitchFamily="34" charset="0"/>
              <a:buChar char="•"/>
            </a:pPr>
            <a:r>
              <a:rPr lang="en-IN" b="1" dirty="0"/>
              <a:t>Nurture sales from lead and cash:</a:t>
            </a:r>
            <a:r>
              <a:rPr lang="en-IN" dirty="0"/>
              <a:t> Achieve more consistent sales interactions by following the sales process as it takes you through each stage, from creating a lead to closing the sale. </a:t>
            </a:r>
          </a:p>
          <a:p>
            <a:pPr marL="342900" lvl="0" indent="-342900" algn="l">
              <a:buFont typeface="Arial" panose="020B0604020202020204" pitchFamily="34" charset="0"/>
              <a:buChar char="•"/>
            </a:pPr>
            <a:r>
              <a:rPr lang="en-IN" b="1" dirty="0"/>
              <a:t>Forecast sales:</a:t>
            </a:r>
            <a:r>
              <a:rPr lang="en-IN" dirty="0"/>
              <a:t> Predict how much revenue your sales team will generate in a given timeframe using Sales Forecasting.</a:t>
            </a:r>
          </a:p>
          <a:p>
            <a:pPr marL="342900" lvl="0" indent="-342900" algn="l">
              <a:buFont typeface="Arial" panose="020B0604020202020204" pitchFamily="34" charset="0"/>
              <a:buChar char="•"/>
            </a:pPr>
            <a:r>
              <a:rPr lang="en-IN" b="1" dirty="0"/>
              <a:t>Run and track marketing campaigns:</a:t>
            </a:r>
            <a:r>
              <a:rPr lang="en-IN" dirty="0"/>
              <a:t> Promote your business and improve sales with targeted marketing campaigns. Track customer response and costs for each campaign.</a:t>
            </a:r>
          </a:p>
          <a:p>
            <a:pPr marL="342900" lvl="0" indent="-342900" algn="l">
              <a:buFont typeface="Arial" panose="020B0604020202020204" pitchFamily="34" charset="0"/>
              <a:buChar char="•"/>
            </a:pPr>
            <a:r>
              <a:rPr lang="en-IN" b="1" dirty="0"/>
              <a:t>Relationship Assistant:</a:t>
            </a:r>
            <a:r>
              <a:rPr lang="en-IN" dirty="0"/>
              <a:t> Get actionable insights and suggestions based on how you work. For example, if you have an opportunity closing next week, the Relationship Assistant will send you a reminder to connect with your customer.</a:t>
            </a:r>
          </a:p>
          <a:p>
            <a:pPr marL="342900" indent="-342900" algn="l">
              <a:lnSpc>
                <a:spcPct val="120000"/>
              </a:lnSpc>
              <a:buFont typeface="Arial" panose="020B0604020202020204" pitchFamily="34" charset="0"/>
              <a:buChar char="•"/>
            </a:pPr>
            <a:endParaRPr lang="en-IN" dirty="0"/>
          </a:p>
          <a:p>
            <a:pPr marL="685783" lvl="1" indent="-228594" algn="l">
              <a:lnSpc>
                <a:spcPct val="120000"/>
              </a:lnSpc>
              <a:buFont typeface="Arial" panose="020B0604020202020204" pitchFamily="34" charset="0"/>
              <a:buChar char="•"/>
            </a:pPr>
            <a:endParaRPr lang="en-US" dirty="0"/>
          </a:p>
        </p:txBody>
      </p:sp>
    </p:spTree>
    <p:extLst>
      <p:ext uri="{BB962C8B-B14F-4D97-AF65-F5344CB8AC3E}">
        <p14:creationId xmlns:p14="http://schemas.microsoft.com/office/powerpoint/2010/main" val="33564527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lgn="l"/>
            <a:r>
              <a:rPr lang="en-IN" sz="3600" dirty="0"/>
              <a:t>Importance of Dynamics 365 Sales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b="1" i="1" u="sng" dirty="0"/>
              <a:t>Reference link:</a:t>
            </a:r>
          </a:p>
          <a:p>
            <a:pPr marL="342900" indent="-342900" algn="l">
              <a:lnSpc>
                <a:spcPct val="120000"/>
              </a:lnSpc>
              <a:buFont typeface="Arial" panose="020B0604020202020204" pitchFamily="34" charset="0"/>
              <a:buChar char="•"/>
            </a:pPr>
            <a:r>
              <a:rPr lang="en-IN" u="sng" dirty="0">
                <a:hlinkClick r:id="rId3"/>
              </a:rPr>
              <a:t>https://docs.microsoft.com/en-us/dynamics365/sales/overview</a:t>
            </a:r>
            <a:r>
              <a:rPr lang="en-IN" dirty="0"/>
              <a:t> </a:t>
            </a:r>
          </a:p>
          <a:p>
            <a:pPr marL="685783" lvl="1" indent="-228594" algn="l">
              <a:lnSpc>
                <a:spcPct val="120000"/>
              </a:lnSpc>
              <a:buFont typeface="Arial" panose="020B0604020202020204" pitchFamily="34" charset="0"/>
              <a:buChar char="•"/>
            </a:pPr>
            <a:endParaRPr lang="en-US" dirty="0"/>
          </a:p>
        </p:txBody>
      </p:sp>
    </p:spTree>
    <p:extLst>
      <p:ext uri="{BB962C8B-B14F-4D97-AF65-F5344CB8AC3E}">
        <p14:creationId xmlns:p14="http://schemas.microsoft.com/office/powerpoint/2010/main" val="4079504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Dynamics 365 Sales components</a:t>
            </a:r>
          </a:p>
        </p:txBody>
      </p:sp>
      <p:sp>
        <p:nvSpPr>
          <p:cNvPr id="3" name="Subtitle 2"/>
          <p:cNvSpPr>
            <a:spLocks noGrp="1"/>
          </p:cNvSpPr>
          <p:nvPr>
            <p:ph type="subTitle" idx="1"/>
          </p:nvPr>
        </p:nvSpPr>
        <p:spPr>
          <a:xfrm>
            <a:off x="816087" y="1194620"/>
            <a:ext cx="11041627" cy="5058693"/>
          </a:xfrm>
        </p:spPr>
        <p:txBody>
          <a:bodyPr>
            <a:normAutofit fontScale="92500"/>
          </a:bodyPr>
          <a:lstStyle/>
          <a:p>
            <a:pPr lvl="0" algn="l"/>
            <a:r>
              <a:rPr lang="en-IN" b="1" dirty="0"/>
              <a:t>Lead: </a:t>
            </a:r>
            <a:r>
              <a:rPr lang="en-IN" dirty="0"/>
              <a:t>Lead is someone with an interest in what you are selling. </a:t>
            </a:r>
            <a:endParaRPr lang="en-IN" sz="2800" dirty="0"/>
          </a:p>
          <a:p>
            <a:pPr marL="800089" lvl="1" indent="-342900" algn="l">
              <a:buFont typeface="Arial" panose="020B0604020202020204" pitchFamily="34" charset="0"/>
              <a:buChar char="•"/>
            </a:pPr>
            <a:r>
              <a:rPr lang="en-IN" dirty="0">
                <a:solidFill>
                  <a:schemeClr val="tx1">
                    <a:lumMod val="50000"/>
                    <a:lumOff val="50000"/>
                  </a:schemeClr>
                </a:solidFill>
              </a:rPr>
              <a:t>Someone who has expressed interest by requesting more information on your website.</a:t>
            </a:r>
            <a:endParaRPr lang="en-IN" sz="2400" dirty="0">
              <a:solidFill>
                <a:schemeClr val="tx1">
                  <a:lumMod val="50000"/>
                  <a:lumOff val="50000"/>
                </a:schemeClr>
              </a:solidFill>
            </a:endParaRPr>
          </a:p>
          <a:p>
            <a:pPr marL="800089" lvl="1" indent="-342900" algn="l">
              <a:buFont typeface="Arial" panose="020B0604020202020204" pitchFamily="34" charset="0"/>
              <a:buChar char="•"/>
            </a:pPr>
            <a:r>
              <a:rPr lang="en-IN" dirty="0">
                <a:solidFill>
                  <a:schemeClr val="tx1">
                    <a:lumMod val="50000"/>
                    <a:lumOff val="50000"/>
                  </a:schemeClr>
                </a:solidFill>
              </a:rPr>
              <a:t>Someone who is following a post that you or your organization is making on social media.</a:t>
            </a:r>
            <a:endParaRPr lang="en-IN" sz="2400" dirty="0">
              <a:solidFill>
                <a:schemeClr val="tx1">
                  <a:lumMod val="50000"/>
                  <a:lumOff val="50000"/>
                </a:schemeClr>
              </a:solidFill>
            </a:endParaRPr>
          </a:p>
          <a:p>
            <a:pPr marL="800089" lvl="1" indent="-342900" algn="l">
              <a:buFont typeface="Arial" panose="020B0604020202020204" pitchFamily="34" charset="0"/>
              <a:buChar char="•"/>
            </a:pPr>
            <a:r>
              <a:rPr lang="en-IN" dirty="0">
                <a:solidFill>
                  <a:schemeClr val="tx1">
                    <a:lumMod val="50000"/>
                    <a:lumOff val="50000"/>
                  </a:schemeClr>
                </a:solidFill>
              </a:rPr>
              <a:t>Someone who responded to an advertising or email campaign or showed interest in tradeshow.</a:t>
            </a:r>
          </a:p>
          <a:p>
            <a:pPr marL="342900" lvl="0" indent="-342900" algn="l">
              <a:buFont typeface="Arial" panose="020B0604020202020204" pitchFamily="34" charset="0"/>
              <a:buChar char="•"/>
            </a:pPr>
            <a:r>
              <a:rPr lang="en-IN" b="1" dirty="0"/>
              <a:t>Account</a:t>
            </a:r>
            <a:r>
              <a:rPr lang="en-IN" dirty="0"/>
              <a:t>: An account represents a business or organization. Sometimes this is a customer or a vendor, typically account have related contact record. E.g. mostly used in B2B relationship.</a:t>
            </a:r>
          </a:p>
          <a:p>
            <a:pPr marL="342900" lvl="0" indent="-342900" algn="l">
              <a:buFont typeface="Arial" panose="020B0604020202020204" pitchFamily="34" charset="0"/>
              <a:buChar char="•"/>
            </a:pPr>
            <a:r>
              <a:rPr lang="en-IN" b="1" dirty="0"/>
              <a:t>Contact</a:t>
            </a:r>
            <a:r>
              <a:rPr lang="en-IN" dirty="0"/>
              <a:t>: A contact represents a single individual. A contact record can be a standalone record, or it can be associated with an organization. A contact will often have many related records such as an account and activities. E.g. mostly used in B2C relationship.</a:t>
            </a:r>
          </a:p>
          <a:p>
            <a:pPr marL="342900" lvl="0" indent="-342900" algn="l">
              <a:buFont typeface="Arial" panose="020B0604020202020204" pitchFamily="34" charset="0"/>
              <a:buChar char="•"/>
            </a:pPr>
            <a:r>
              <a:rPr lang="en-IN" b="1" dirty="0"/>
              <a:t>Customer</a:t>
            </a:r>
            <a:r>
              <a:rPr lang="en-IN" dirty="0"/>
              <a:t>: A customer can be either an account or a contact. Typically speaking, in a B2B scenario, this is an account. In a B2C scenario, this is a contact. E.g. If hybrid B2B and B2C business relationship. “Potential Customer” field on Opportunity.</a:t>
            </a:r>
          </a:p>
          <a:p>
            <a:pPr marL="342900" indent="-342900" algn="l">
              <a:buFont typeface="Arial" panose="020B0604020202020204" pitchFamily="34" charset="0"/>
              <a:buChar char="•"/>
            </a:pPr>
            <a:endParaRPr lang="en-IN" dirty="0">
              <a:solidFill>
                <a:schemeClr val="tx1">
                  <a:lumMod val="50000"/>
                  <a:lumOff val="50000"/>
                </a:schemeClr>
              </a:solidFill>
            </a:endParaRPr>
          </a:p>
          <a:p>
            <a:pPr lvl="0" algn="l"/>
            <a:endParaRPr lang="en-IN" sz="2800" dirty="0"/>
          </a:p>
          <a:p>
            <a:pPr marL="685783" lvl="1" indent="-228594" algn="l">
              <a:lnSpc>
                <a:spcPct val="120000"/>
              </a:lnSpc>
              <a:buFont typeface="Arial" panose="020B0604020202020204" pitchFamily="34" charset="0"/>
              <a:buChar char="•"/>
            </a:pPr>
            <a:endParaRPr lang="en-US" dirty="0"/>
          </a:p>
        </p:txBody>
      </p:sp>
    </p:spTree>
    <p:extLst>
      <p:ext uri="{BB962C8B-B14F-4D97-AF65-F5344CB8AC3E}">
        <p14:creationId xmlns:p14="http://schemas.microsoft.com/office/powerpoint/2010/main" val="749874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Dynamics 365 Sales components</a:t>
            </a:r>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a:buFont typeface="Arial" panose="020B0604020202020204" pitchFamily="34" charset="0"/>
              <a:buChar char="•"/>
            </a:pPr>
            <a:r>
              <a:rPr lang="en-IN" b="1" dirty="0"/>
              <a:t>Activities: </a:t>
            </a:r>
            <a:r>
              <a:rPr lang="en-IN" dirty="0"/>
              <a:t>An activity is a type of entity that offers tracking and scheduling options. By default, the system will have activities such as email, appointment, and phone call already configured.</a:t>
            </a:r>
          </a:p>
          <a:p>
            <a:pPr marL="342900" lvl="0" indent="-342900" algn="l">
              <a:buFont typeface="Arial" panose="020B0604020202020204" pitchFamily="34" charset="0"/>
              <a:buChar char="•"/>
            </a:pPr>
            <a:r>
              <a:rPr lang="en-IN" b="1" dirty="0"/>
              <a:t>Opportunity: </a:t>
            </a:r>
            <a:r>
              <a:rPr lang="en-IN" dirty="0"/>
              <a:t>Qualified lead converts into opportunity record.</a:t>
            </a:r>
          </a:p>
          <a:p>
            <a:pPr marL="342900" lvl="0" indent="-342900" algn="l">
              <a:buFont typeface="Arial" panose="020B0604020202020204" pitchFamily="34" charset="0"/>
              <a:buChar char="•"/>
            </a:pPr>
            <a:r>
              <a:rPr lang="en-IN" b="1" dirty="0"/>
              <a:t>Quote</a:t>
            </a:r>
            <a:r>
              <a:rPr lang="en-IN" dirty="0"/>
              <a:t>: A formal offer for products or services, proposed at specific prices and related payment terms to a customer.</a:t>
            </a:r>
          </a:p>
          <a:p>
            <a:pPr marL="342900" lvl="0" indent="-342900" algn="l">
              <a:buFont typeface="Arial" panose="020B0604020202020204" pitchFamily="34" charset="0"/>
              <a:buChar char="•"/>
            </a:pPr>
            <a:r>
              <a:rPr lang="en-IN" b="1" dirty="0"/>
              <a:t>Order: </a:t>
            </a:r>
            <a:r>
              <a:rPr lang="en-IN" dirty="0"/>
              <a:t>Once quote accepted order placed.</a:t>
            </a:r>
          </a:p>
          <a:p>
            <a:pPr marL="342900" lvl="0" indent="-342900" algn="l">
              <a:buFont typeface="Arial" panose="020B0604020202020204" pitchFamily="34" charset="0"/>
              <a:buChar char="•"/>
            </a:pPr>
            <a:r>
              <a:rPr lang="en-IN" b="1" dirty="0"/>
              <a:t>Invoice:</a:t>
            </a:r>
            <a:r>
              <a:rPr lang="en-IN" dirty="0"/>
              <a:t> An order or record of sales including details about products or services purchased that has billed to the customer.</a:t>
            </a:r>
          </a:p>
          <a:p>
            <a:pPr lvl="1" algn="l">
              <a:lnSpc>
                <a:spcPct val="120000"/>
              </a:lnSpc>
            </a:pPr>
            <a:endParaRPr lang="en-US" dirty="0"/>
          </a:p>
        </p:txBody>
      </p:sp>
    </p:spTree>
    <p:extLst>
      <p:ext uri="{BB962C8B-B14F-4D97-AF65-F5344CB8AC3E}">
        <p14:creationId xmlns:p14="http://schemas.microsoft.com/office/powerpoint/2010/main" val="3627005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Dynamics 365 Sales components</a:t>
            </a:r>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a:buFont typeface="Arial" panose="020B0604020202020204" pitchFamily="34" charset="0"/>
              <a:buChar char="•"/>
            </a:pPr>
            <a:r>
              <a:rPr lang="en-IN" b="1" dirty="0"/>
              <a:t>Product CatLog: </a:t>
            </a:r>
            <a:r>
              <a:rPr lang="en-IN" dirty="0"/>
              <a:t>A collection of records that interact with opportunities, quotes, orders, and invoices to facilitate management of products, price lists, discounts, and product families for sales transactions.</a:t>
            </a:r>
          </a:p>
          <a:p>
            <a:pPr marL="342900" lvl="0" indent="-342900" algn="l">
              <a:buFont typeface="Arial" panose="020B0604020202020204" pitchFamily="34" charset="0"/>
              <a:buChar char="•"/>
            </a:pPr>
            <a:r>
              <a:rPr lang="en-IN" b="1" dirty="0"/>
              <a:t>Business process flow: </a:t>
            </a:r>
            <a:r>
              <a:rPr lang="en-IN" dirty="0"/>
              <a:t>The BPF placed on an entity and offers users guidance and a predictable action plan for gathering data. It works as checklist for the salesperson which guides throughout containing different BPF stages (each stage consist of different steps) placed in logical sequence.</a:t>
            </a:r>
          </a:p>
          <a:p>
            <a:pPr lvl="0" algn="l"/>
            <a:endParaRPr lang="en-IN" sz="2800" dirty="0"/>
          </a:p>
          <a:p>
            <a:pPr lvl="1" algn="l">
              <a:lnSpc>
                <a:spcPct val="120000"/>
              </a:lnSpc>
            </a:pPr>
            <a:endParaRPr lang="en-US" dirty="0"/>
          </a:p>
        </p:txBody>
      </p:sp>
    </p:spTree>
    <p:extLst>
      <p:ext uri="{BB962C8B-B14F-4D97-AF65-F5344CB8AC3E}">
        <p14:creationId xmlns:p14="http://schemas.microsoft.com/office/powerpoint/2010/main" val="3079483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dirty="0"/>
              <a:t>Dynamics 365 Sales enables an organization to manage their sales lifecycle process from start to finish. A typical sales lifecycle would resemble the image below:</a:t>
            </a:r>
          </a:p>
          <a:p>
            <a:pPr marL="342900" indent="-342900" algn="l">
              <a:buFont typeface="Arial" panose="020B0604020202020204" pitchFamily="34" charset="0"/>
              <a:buChar char="•"/>
            </a:pPr>
            <a:endParaRPr lang="en-IN" dirty="0"/>
          </a:p>
          <a:p>
            <a:pPr lvl="0" algn="l"/>
            <a:endParaRPr lang="en-IN" sz="2800" dirty="0"/>
          </a:p>
          <a:p>
            <a:pPr lvl="1" algn="l">
              <a:lnSpc>
                <a:spcPct val="120000"/>
              </a:lnSpc>
            </a:pPr>
            <a:endParaRPr lang="en-US" dirty="0"/>
          </a:p>
          <a:p>
            <a:pPr marL="342900" indent="-342900" algn="l">
              <a:lnSpc>
                <a:spcPct val="120000"/>
              </a:lnSpc>
              <a:buFont typeface="Arial" panose="020B0604020202020204" pitchFamily="34" charset="0"/>
              <a:buChar char="•"/>
            </a:pPr>
            <a:r>
              <a:rPr lang="en-IN" dirty="0">
                <a:solidFill>
                  <a:schemeClr val="tx1">
                    <a:lumMod val="50000"/>
                    <a:lumOff val="50000"/>
                  </a:schemeClr>
                </a:solidFill>
              </a:rPr>
              <a:t>Your sales process begins with a lead—someone who is interested in the products or services you provide. Your leads might be automatically generated or they might come from </a:t>
            </a:r>
            <a:r>
              <a:rPr lang="en-IN" dirty="0"/>
              <a:t>other sources, such as website opt-in pages, email queries, or business cards that you gather at trade shows.</a:t>
            </a:r>
          </a:p>
          <a:p>
            <a:pPr algn="l">
              <a:lnSpc>
                <a:spcPct val="120000"/>
              </a:lnSpc>
            </a:pPr>
            <a:endParaRPr lang="en-IN" dirty="0">
              <a:solidFill>
                <a:schemeClr val="tx1">
                  <a:lumMod val="50000"/>
                  <a:lumOff val="50000"/>
                </a:schemeClr>
              </a:solidFill>
            </a:endParaRP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4" name="Picture 3">
            <a:extLst>
              <a:ext uri="{FF2B5EF4-FFF2-40B4-BE49-F238E27FC236}">
                <a16:creationId xmlns:a16="http://schemas.microsoft.com/office/drawing/2014/main" id="{5FBA0249-637C-4B43-9790-9A86B42A93A1}"/>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348459" y="2383155"/>
            <a:ext cx="9059565" cy="1045845"/>
          </a:xfrm>
          <a:prstGeom prst="rect">
            <a:avLst/>
          </a:prstGeom>
          <a:noFill/>
          <a:ln>
            <a:solidFill>
              <a:schemeClr val="tx1"/>
            </a:solidFill>
          </a:ln>
        </p:spPr>
      </p:pic>
    </p:spTree>
    <p:extLst>
      <p:ext uri="{BB962C8B-B14F-4D97-AF65-F5344CB8AC3E}">
        <p14:creationId xmlns:p14="http://schemas.microsoft.com/office/powerpoint/2010/main" val="4254567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When Lead qualified Opportunity, Account, Contact created in D365 (NOTE: First Name and Last Name fields of lead turns to be Full Name of Contact and Company name field of lead turns to be Name of Account), Opportunity also called as deal which has estimated revenue defined and while closing the opportunity it has actual revenue defined. This is the entity record which stays longer in system and Sales team spend most of the time to understand the deal carefully. Once opportunity work completed sales team generates the quote from opportunity once formal quote presented and get accepted by customer, then order placed and after fulfilling the order next step is Invoice generation.</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3261178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More detailed pictorial view as shown below:</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4" name="Picture 3">
            <a:extLst>
              <a:ext uri="{FF2B5EF4-FFF2-40B4-BE49-F238E27FC236}">
                <a16:creationId xmlns:a16="http://schemas.microsoft.com/office/drawing/2014/main" id="{227D0D15-C3DE-4FFC-9CBD-A9FC39ED76F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0015" y="2221174"/>
            <a:ext cx="8708726" cy="3708979"/>
          </a:xfrm>
          <a:prstGeom prst="rect">
            <a:avLst/>
          </a:prstGeom>
          <a:noFill/>
          <a:ln>
            <a:solidFill>
              <a:schemeClr val="tx1"/>
            </a:solidFill>
          </a:ln>
        </p:spPr>
      </p:pic>
    </p:spTree>
    <p:extLst>
      <p:ext uri="{BB962C8B-B14F-4D97-AF65-F5344CB8AC3E}">
        <p14:creationId xmlns:p14="http://schemas.microsoft.com/office/powerpoint/2010/main" val="4195326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More detailed pictorial view as shown below:</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5" name="Picture 4">
            <a:extLst>
              <a:ext uri="{FF2B5EF4-FFF2-40B4-BE49-F238E27FC236}">
                <a16:creationId xmlns:a16="http://schemas.microsoft.com/office/drawing/2014/main" id="{4BA86654-6807-4B6B-868C-4AF809C0C8E8}"/>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90919" y="2122170"/>
            <a:ext cx="7463116" cy="3996242"/>
          </a:xfrm>
          <a:prstGeom prst="rect">
            <a:avLst/>
          </a:prstGeom>
          <a:noFill/>
          <a:ln>
            <a:solidFill>
              <a:schemeClr val="tx1"/>
            </a:solidFill>
          </a:ln>
        </p:spPr>
      </p:pic>
    </p:spTree>
    <p:extLst>
      <p:ext uri="{BB962C8B-B14F-4D97-AF65-F5344CB8AC3E}">
        <p14:creationId xmlns:p14="http://schemas.microsoft.com/office/powerpoint/2010/main" val="3157850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Open your trial instance --&gt; From the App switcher select Sales Hub --&gt; Under Sales Area--&gt; Navigate to Leads and open the existing lead record, you will find “Lead to Opportunity Sales Process” BPF as shown below When a user starts using BPF the stages and steps of the process are displayed in the process bar at the top of a form:</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6" name="Picture 5">
            <a:extLst>
              <a:ext uri="{FF2B5EF4-FFF2-40B4-BE49-F238E27FC236}">
                <a16:creationId xmlns:a16="http://schemas.microsoft.com/office/drawing/2014/main" id="{971E4B9B-4CAE-45E2-960F-24D0D939C5C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81218" y="3674578"/>
            <a:ext cx="7063535" cy="2578735"/>
          </a:xfrm>
          <a:prstGeom prst="rect">
            <a:avLst/>
          </a:prstGeom>
          <a:noFill/>
          <a:ln>
            <a:solidFill>
              <a:schemeClr val="tx1"/>
            </a:solidFill>
          </a:ln>
        </p:spPr>
      </p:pic>
    </p:spTree>
    <p:extLst>
      <p:ext uri="{BB962C8B-B14F-4D97-AF65-F5344CB8AC3E}">
        <p14:creationId xmlns:p14="http://schemas.microsoft.com/office/powerpoint/2010/main" val="1677689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lnSpcReduction="10000"/>
          </a:bodyPr>
          <a:lstStyle/>
          <a:p>
            <a:pPr marL="342900" indent="-342900" algn="l">
              <a:lnSpc>
                <a:spcPct val="120000"/>
              </a:lnSpc>
              <a:buFont typeface="Arial" panose="020B0604020202020204" pitchFamily="34" charset="0"/>
              <a:buChar char="•"/>
            </a:pPr>
            <a:r>
              <a:rPr lang="en-IN" dirty="0"/>
              <a:t>You can help ensure that people enter data consistently and follow the same steps every time they work with a customer by creating a business process flow, Business process flows reduce the need for training because new users don’t have to focus on which table they should be using. They can let the process guide them. </a:t>
            </a:r>
          </a:p>
          <a:p>
            <a:pPr marL="342900" indent="-342900" algn="l">
              <a:lnSpc>
                <a:spcPct val="120000"/>
              </a:lnSpc>
              <a:buFont typeface="Arial" panose="020B0604020202020204" pitchFamily="34" charset="0"/>
              <a:buChar char="•"/>
            </a:pPr>
            <a:r>
              <a:rPr lang="en-IN" dirty="0"/>
              <a:t>As highlighted above typical business process flow (BPF) consist of below stages:</a:t>
            </a:r>
          </a:p>
          <a:p>
            <a:pPr marL="457200" lvl="0" indent="-457200" algn="l">
              <a:buFont typeface="+mj-lt"/>
              <a:buAutoNum type="arabicPeriod"/>
            </a:pPr>
            <a:r>
              <a:rPr lang="en-IN" b="1" dirty="0"/>
              <a:t>Qualify </a:t>
            </a:r>
            <a:endParaRPr lang="en-IN" dirty="0"/>
          </a:p>
          <a:p>
            <a:pPr marL="457200" lvl="0" indent="-457200" algn="l">
              <a:buFont typeface="+mj-lt"/>
              <a:buAutoNum type="arabicPeriod"/>
            </a:pPr>
            <a:r>
              <a:rPr lang="en-IN" b="1" dirty="0"/>
              <a:t>Develop </a:t>
            </a:r>
            <a:endParaRPr lang="en-IN" dirty="0"/>
          </a:p>
          <a:p>
            <a:pPr marL="457200" lvl="0" indent="-457200" algn="l">
              <a:buFont typeface="+mj-lt"/>
              <a:buAutoNum type="arabicPeriod"/>
            </a:pPr>
            <a:r>
              <a:rPr lang="en-IN" b="1" dirty="0"/>
              <a:t>Propose </a:t>
            </a:r>
            <a:endParaRPr lang="en-IN" dirty="0"/>
          </a:p>
          <a:p>
            <a:pPr marL="457200" lvl="0" indent="-457200" algn="l">
              <a:buFont typeface="+mj-lt"/>
              <a:buAutoNum type="arabicPeriod"/>
            </a:pPr>
            <a:r>
              <a:rPr lang="en-IN" b="1" dirty="0"/>
              <a:t>Close</a:t>
            </a:r>
            <a:endParaRPr lang="en-IN"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3035194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Each stage consist of set of defined steps to be completed by salesperson, it works as checklist to salesperson by which important fields can be captured from prospect at early stage.</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4" name="Picture 3">
            <a:extLst>
              <a:ext uri="{FF2B5EF4-FFF2-40B4-BE49-F238E27FC236}">
                <a16:creationId xmlns:a16="http://schemas.microsoft.com/office/drawing/2014/main" id="{B94280C1-06EC-4C56-BED6-11547AFBF7C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58805" y="2865755"/>
            <a:ext cx="7737725" cy="3387558"/>
          </a:xfrm>
          <a:prstGeom prst="rect">
            <a:avLst/>
          </a:prstGeom>
          <a:noFill/>
          <a:ln>
            <a:solidFill>
              <a:schemeClr val="tx1"/>
            </a:solidFill>
          </a:ln>
        </p:spPr>
      </p:pic>
    </p:spTree>
    <p:extLst>
      <p:ext uri="{BB962C8B-B14F-4D97-AF65-F5344CB8AC3E}">
        <p14:creationId xmlns:p14="http://schemas.microsoft.com/office/powerpoint/2010/main" val="1078935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b="1" dirty="0"/>
              <a:t>NOTE:</a:t>
            </a:r>
            <a:r>
              <a:rPr lang="en-IN" dirty="0"/>
              <a:t> You can move forward and backwards in the business process by using Next Stage button. The active stage in BPF indicated by the position of the “double circle” icon in the process bar. As shown above “Qualify” is the current stage, when lead qualifies the current stage becomes “Develop”.</a:t>
            </a:r>
          </a:p>
          <a:p>
            <a:pPr algn="l"/>
            <a:r>
              <a:rPr lang="en-IN" dirty="0"/>
              <a:t>For example when you click on Qualify stage, then steps under it opens up for Salesperson as below:</a:t>
            </a:r>
          </a:p>
          <a:p>
            <a:pPr algn="l"/>
            <a:endParaRPr lang="en-IN"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5" name="Picture 4">
            <a:extLst>
              <a:ext uri="{FF2B5EF4-FFF2-40B4-BE49-F238E27FC236}">
                <a16:creationId xmlns:a16="http://schemas.microsoft.com/office/drawing/2014/main" id="{B558D258-5C36-4301-9991-2CB8DDDDACD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976482" y="3723966"/>
            <a:ext cx="3351530" cy="2959222"/>
          </a:xfrm>
          <a:prstGeom prst="rect">
            <a:avLst/>
          </a:prstGeom>
          <a:noFill/>
          <a:ln>
            <a:solidFill>
              <a:schemeClr val="tx1"/>
            </a:solidFill>
          </a:ln>
        </p:spPr>
      </p:pic>
    </p:spTree>
    <p:extLst>
      <p:ext uri="{BB962C8B-B14F-4D97-AF65-F5344CB8AC3E}">
        <p14:creationId xmlns:p14="http://schemas.microsoft.com/office/powerpoint/2010/main" val="2503917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b="1" dirty="0"/>
              <a:t>Qualify:</a:t>
            </a:r>
            <a:r>
              <a:rPr lang="en-IN" dirty="0"/>
              <a:t> Once you create the Lead in D365 by default it is on Qualify stage where Salesperson works with Lead to understand their needs better. Once salesperson identified that this lead has appropriate purchasing power then he qualifies the lead. Qualifying a lead in Dynamics 365 Sales converts it to an opportunity. </a:t>
            </a:r>
          </a:p>
          <a:p>
            <a:pPr marL="342900" indent="-342900" algn="l">
              <a:buFont typeface="Arial" panose="020B0604020202020204" pitchFamily="34" charset="0"/>
              <a:buChar char="•"/>
            </a:pPr>
            <a:r>
              <a:rPr lang="en-IN" b="1" dirty="0"/>
              <a:t>Develop:</a:t>
            </a:r>
            <a:r>
              <a:rPr lang="en-IN" dirty="0"/>
              <a:t> Once opportunity created from lead, on lead form you will experience current stage as Develop. The opportunity record is used to develop the details of the deal. Details such as the products and services they are interested in, estimated revenue, and time-lines like estimated closed date are added to the opportunity</a:t>
            </a:r>
          </a:p>
          <a:p>
            <a:pPr algn="l"/>
            <a:endParaRPr lang="en-IN"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3464286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b="1" dirty="0"/>
              <a:t>Propose:</a:t>
            </a:r>
            <a:r>
              <a:rPr lang="en-IN" dirty="0"/>
              <a:t> Once salesperson spent sufficient time on Opportunity, then now it's time to present your formal proposal (Quote) to your potential customer (Account or Contact). Which may or may not be asked for revision from customer. If asked for revision then salesperson can again present the revised Quote and try to close the deal.</a:t>
            </a:r>
          </a:p>
          <a:p>
            <a:pPr algn="l"/>
            <a:r>
              <a:rPr lang="en-IN" b="1" dirty="0"/>
              <a:t>Close:</a:t>
            </a:r>
            <a:r>
              <a:rPr lang="en-IN" dirty="0"/>
              <a:t> When the customer agrees to the quote, an order is generated. The quote and opportunity associated with the order are closed, after the order is fulfilled, an invoice is generated to bill the customer.</a:t>
            </a:r>
          </a:p>
          <a:p>
            <a:pPr algn="l"/>
            <a:r>
              <a:rPr lang="en-IN" dirty="0"/>
              <a:t> </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183507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OOB typical Sales Life Cycle</a:t>
            </a:r>
            <a:endParaRPr lang="en-IN"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t>The summary of the BPF stages summarized as below:</a:t>
            </a:r>
          </a:p>
          <a:p>
            <a:pPr algn="l"/>
            <a:endParaRPr lang="en-IN"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4" name="Picture 3">
            <a:extLst>
              <a:ext uri="{FF2B5EF4-FFF2-40B4-BE49-F238E27FC236}">
                <a16:creationId xmlns:a16="http://schemas.microsoft.com/office/drawing/2014/main" id="{4E3AF85E-02AE-4B97-9C5A-1775B5567F7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88227" y="1955855"/>
            <a:ext cx="9312220" cy="4068427"/>
          </a:xfrm>
          <a:prstGeom prst="rect">
            <a:avLst/>
          </a:prstGeom>
          <a:noFill/>
          <a:ln>
            <a:solidFill>
              <a:schemeClr val="tx1"/>
            </a:solidFill>
          </a:ln>
        </p:spPr>
      </p:pic>
    </p:spTree>
    <p:extLst>
      <p:ext uri="{BB962C8B-B14F-4D97-AF65-F5344CB8AC3E}">
        <p14:creationId xmlns:p14="http://schemas.microsoft.com/office/powerpoint/2010/main" val="2366610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Lead Qualification Process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When lead is qualified, the following values on the Lead record page control the outcome of the qualification process:</a:t>
            </a:r>
          </a:p>
          <a:p>
            <a:pPr marL="800089" lvl="1" indent="-342900" algn="l">
              <a:buFont typeface="Arial" panose="020B0604020202020204" pitchFamily="34" charset="0"/>
              <a:buChar char="•"/>
            </a:pPr>
            <a:r>
              <a:rPr lang="en-IN" b="1" dirty="0">
                <a:solidFill>
                  <a:schemeClr val="tx1">
                    <a:lumMod val="50000"/>
                    <a:lumOff val="50000"/>
                  </a:schemeClr>
                </a:solidFill>
              </a:rPr>
              <a:t>Name (First Name and Last Name):</a:t>
            </a:r>
            <a:r>
              <a:rPr lang="en-IN" dirty="0">
                <a:solidFill>
                  <a:schemeClr val="tx1">
                    <a:lumMod val="50000"/>
                    <a:lumOff val="50000"/>
                  </a:schemeClr>
                </a:solidFill>
              </a:rPr>
              <a:t> If this value entered, it becomes the full name of the new contact.</a:t>
            </a:r>
            <a:endParaRPr lang="en-IN" sz="2400" dirty="0">
              <a:solidFill>
                <a:schemeClr val="tx1">
                  <a:lumMod val="50000"/>
                  <a:lumOff val="50000"/>
                </a:schemeClr>
              </a:solidFill>
            </a:endParaRPr>
          </a:p>
          <a:p>
            <a:pPr marL="800089" lvl="1" indent="-342900" algn="l">
              <a:buFont typeface="Arial" panose="020B0604020202020204" pitchFamily="34" charset="0"/>
              <a:buChar char="•"/>
            </a:pPr>
            <a:r>
              <a:rPr lang="en-IN" b="1" dirty="0">
                <a:solidFill>
                  <a:schemeClr val="tx1">
                    <a:lumMod val="50000"/>
                    <a:lumOff val="50000"/>
                  </a:schemeClr>
                </a:solidFill>
              </a:rPr>
              <a:t>Company:</a:t>
            </a:r>
            <a:r>
              <a:rPr lang="en-IN" dirty="0">
                <a:solidFill>
                  <a:schemeClr val="tx1">
                    <a:lumMod val="50000"/>
                    <a:lumOff val="50000"/>
                  </a:schemeClr>
                </a:solidFill>
              </a:rPr>
              <a:t> This value becomes the name of the newly created account using the company name.</a:t>
            </a:r>
            <a:endParaRPr lang="en-IN" sz="2400" dirty="0">
              <a:solidFill>
                <a:schemeClr val="tx1">
                  <a:lumMod val="50000"/>
                  <a:lumOff val="50000"/>
                </a:schemeClr>
              </a:solidFill>
            </a:endParaRP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5" name="Picture 4">
            <a:extLst>
              <a:ext uri="{FF2B5EF4-FFF2-40B4-BE49-F238E27FC236}">
                <a16:creationId xmlns:a16="http://schemas.microsoft.com/office/drawing/2014/main" id="{C26BDCAC-6E5A-4D18-8D91-4646CE5D1F8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4526" y="3713052"/>
            <a:ext cx="6083673" cy="2432685"/>
          </a:xfrm>
          <a:prstGeom prst="rect">
            <a:avLst/>
          </a:prstGeom>
          <a:noFill/>
          <a:ln>
            <a:solidFill>
              <a:schemeClr val="tx1"/>
            </a:solidFill>
          </a:ln>
        </p:spPr>
      </p:pic>
    </p:spTree>
    <p:extLst>
      <p:ext uri="{BB962C8B-B14F-4D97-AF65-F5344CB8AC3E}">
        <p14:creationId xmlns:p14="http://schemas.microsoft.com/office/powerpoint/2010/main" val="3715613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Lead Qualification Process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When lead is qualified, the following value on the Opportunity record page control the outcome of the qualification process:</a:t>
            </a:r>
          </a:p>
          <a:p>
            <a:pPr marL="342900" indent="-342900" algn="l">
              <a:lnSpc>
                <a:spcPct val="120000"/>
              </a:lnSpc>
              <a:buFont typeface="Arial" panose="020B0604020202020204" pitchFamily="34" charset="0"/>
              <a:buChar char="•"/>
            </a:pPr>
            <a:r>
              <a:rPr lang="en-IN" b="1" dirty="0"/>
              <a:t>Title:</a:t>
            </a:r>
            <a:r>
              <a:rPr lang="en-IN" dirty="0"/>
              <a:t> This value comes from Title of the lead.</a:t>
            </a:r>
          </a:p>
          <a:p>
            <a:pPr marL="342900" indent="-342900" algn="l">
              <a:buFont typeface="Arial" panose="020B0604020202020204" pitchFamily="34" charset="0"/>
              <a:buChar char="•"/>
            </a:pPr>
            <a:r>
              <a:rPr lang="en-IN" b="1" dirty="0"/>
              <a:t>Originating Lead:</a:t>
            </a:r>
            <a:r>
              <a:rPr lang="en-IN" dirty="0"/>
              <a:t> This value populated with the qualified Lead record.</a:t>
            </a:r>
            <a:endParaRPr lang="en-IN" sz="2800" dirty="0"/>
          </a:p>
          <a:p>
            <a:pPr marL="342900" indent="-342900" algn="l">
              <a:buFont typeface="Arial" panose="020B0604020202020204" pitchFamily="34" charset="0"/>
              <a:buChar char="•"/>
            </a:pPr>
            <a:r>
              <a:rPr lang="en-IN" b="1" dirty="0"/>
              <a:t>Existing Account: </a:t>
            </a:r>
            <a:r>
              <a:rPr lang="en-IN" dirty="0"/>
              <a:t>This value populated with the Account created.</a:t>
            </a:r>
            <a:endParaRPr lang="en-IN" sz="2800" dirty="0"/>
          </a:p>
          <a:p>
            <a:pPr marL="342900" indent="-342900" algn="l">
              <a:buFont typeface="Arial" panose="020B0604020202020204" pitchFamily="34" charset="0"/>
              <a:buChar char="•"/>
            </a:pPr>
            <a:r>
              <a:rPr lang="en-IN" b="1" dirty="0"/>
              <a:t>Existing Contact: </a:t>
            </a:r>
            <a:r>
              <a:rPr lang="en-IN" dirty="0"/>
              <a:t>This value populated with the Contact created.</a:t>
            </a:r>
            <a:endParaRPr lang="en-IN" sz="2800"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3688839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Lead Qualification Process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b="1" dirty="0"/>
              <a:t>The Lead Qualification Lifecycle:</a:t>
            </a:r>
            <a:endParaRPr lang="en-IN" dirty="0"/>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pic>
        <p:nvPicPr>
          <p:cNvPr id="4" name="Picture 3">
            <a:extLst>
              <a:ext uri="{FF2B5EF4-FFF2-40B4-BE49-F238E27FC236}">
                <a16:creationId xmlns:a16="http://schemas.microsoft.com/office/drawing/2014/main" id="{9811EB1C-A1E4-407F-B221-DDAF634B8CB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9392" y="2176218"/>
            <a:ext cx="7082219" cy="3390863"/>
          </a:xfrm>
          <a:prstGeom prst="rect">
            <a:avLst/>
          </a:prstGeom>
          <a:noFill/>
          <a:ln>
            <a:solidFill>
              <a:schemeClr val="tx1"/>
            </a:solidFill>
          </a:ln>
        </p:spPr>
      </p:pic>
    </p:spTree>
    <p:extLst>
      <p:ext uri="{BB962C8B-B14F-4D97-AF65-F5344CB8AC3E}">
        <p14:creationId xmlns:p14="http://schemas.microsoft.com/office/powerpoint/2010/main" val="42827544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Lead Qualification Process</a:t>
            </a:r>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t>It is important to observe the status and status reason of the Lead form throughout the lead lifecycle. For e.g. when Lead created the Status of Lead form is Open and you can edit the form as form is editable. But once qualified/disqualified the Status of Lead becomes Qualified/Disqualified and you cannot edit the form as form is non editable (Read only).</a:t>
            </a:r>
          </a:p>
          <a:p>
            <a:pPr algn="l"/>
            <a:r>
              <a:rPr lang="en-IN" dirty="0"/>
              <a:t>Below is the summarized table depicting status and there corresponding status reasons and form behaviour:</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graphicFrame>
        <p:nvGraphicFramePr>
          <p:cNvPr id="5" name="Table 4">
            <a:extLst>
              <a:ext uri="{FF2B5EF4-FFF2-40B4-BE49-F238E27FC236}">
                <a16:creationId xmlns:a16="http://schemas.microsoft.com/office/drawing/2014/main" id="{208E47F5-62D2-4394-A069-8BF1E916978F}"/>
              </a:ext>
            </a:extLst>
          </p:cNvPr>
          <p:cNvGraphicFramePr>
            <a:graphicFrameLocks noGrp="1"/>
          </p:cNvGraphicFramePr>
          <p:nvPr>
            <p:extLst>
              <p:ext uri="{D42A27DB-BD31-4B8C-83A1-F6EECF244321}">
                <p14:modId xmlns:p14="http://schemas.microsoft.com/office/powerpoint/2010/main" val="3570592368"/>
              </p:ext>
            </p:extLst>
          </p:nvPr>
        </p:nvGraphicFramePr>
        <p:xfrm>
          <a:off x="900957" y="3845858"/>
          <a:ext cx="6193313" cy="2582266"/>
        </p:xfrm>
        <a:graphic>
          <a:graphicData uri="http://schemas.openxmlformats.org/drawingml/2006/table">
            <a:tbl>
              <a:tblPr firstRow="1" firstCol="1" bandRow="1">
                <a:tableStyleId>{5C22544A-7EE6-4342-B048-85BDC9FD1C3A}</a:tableStyleId>
              </a:tblPr>
              <a:tblGrid>
                <a:gridCol w="1315085">
                  <a:extLst>
                    <a:ext uri="{9D8B030D-6E8A-4147-A177-3AD203B41FA5}">
                      <a16:colId xmlns:a16="http://schemas.microsoft.com/office/drawing/2014/main" val="2387467086"/>
                    </a:ext>
                  </a:extLst>
                </a:gridCol>
                <a:gridCol w="2697437">
                  <a:extLst>
                    <a:ext uri="{9D8B030D-6E8A-4147-A177-3AD203B41FA5}">
                      <a16:colId xmlns:a16="http://schemas.microsoft.com/office/drawing/2014/main" val="652790637"/>
                    </a:ext>
                  </a:extLst>
                </a:gridCol>
                <a:gridCol w="2180791">
                  <a:extLst>
                    <a:ext uri="{9D8B030D-6E8A-4147-A177-3AD203B41FA5}">
                      <a16:colId xmlns:a16="http://schemas.microsoft.com/office/drawing/2014/main" val="1202039336"/>
                    </a:ext>
                  </a:extLst>
                </a:gridCol>
              </a:tblGrid>
              <a:tr h="367680">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Status</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Status Reason</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Comment</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049458"/>
                  </a:ext>
                </a:extLst>
              </a:tr>
              <a:tr h="384690">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Open</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New, Contacted</a:t>
                      </a:r>
                      <a:endParaRPr lang="en-IN" sz="1600" dirty="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a:solidFill>
                            <a:schemeClr val="tx1">
                              <a:lumMod val="95000"/>
                              <a:lumOff val="5000"/>
                            </a:schemeClr>
                          </a:solidFill>
                          <a:effectLst/>
                          <a:latin typeface="Trebuchet MS" panose="020B0603020202020204" pitchFamily="34" charset="0"/>
                        </a:rPr>
                        <a:t>Editable form</a:t>
                      </a:r>
                      <a:endParaRPr lang="en-IN" sz="160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29092604"/>
                  </a:ext>
                </a:extLst>
              </a:tr>
              <a:tr h="367680">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Qualified</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Qualified</a:t>
                      </a:r>
                      <a:endParaRPr lang="en-IN" sz="1600" dirty="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a:solidFill>
                            <a:schemeClr val="tx1">
                              <a:lumMod val="95000"/>
                              <a:lumOff val="5000"/>
                            </a:schemeClr>
                          </a:solidFill>
                          <a:effectLst/>
                          <a:latin typeface="Trebuchet MS" panose="020B0603020202020204" pitchFamily="34" charset="0"/>
                        </a:rPr>
                        <a:t>Read Only form</a:t>
                      </a:r>
                      <a:endParaRPr lang="en-IN" sz="160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162494"/>
                  </a:ext>
                </a:extLst>
              </a:tr>
              <a:tr h="1462216">
                <a:tc>
                  <a:txBody>
                    <a:bodyPr/>
                    <a:lstStyle/>
                    <a:p>
                      <a:pPr algn="ctr">
                        <a:lnSpc>
                          <a:spcPct val="107000"/>
                        </a:lnSpc>
                        <a:spcAft>
                          <a:spcPts val="0"/>
                        </a:spcAft>
                      </a:pPr>
                      <a:r>
                        <a:rPr lang="en-IN" sz="1600" dirty="0">
                          <a:solidFill>
                            <a:schemeClr val="bg1"/>
                          </a:solidFill>
                          <a:effectLst/>
                          <a:latin typeface="Trebuchet MS" panose="020B0603020202020204" pitchFamily="34" charset="0"/>
                        </a:rPr>
                        <a:t>Disqualified</a:t>
                      </a:r>
                      <a:endParaRPr lang="en-IN" sz="1600" dirty="0">
                        <a:solidFill>
                          <a:schemeClr val="bg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Lost</a:t>
                      </a:r>
                    </a:p>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Cannot contact</a:t>
                      </a:r>
                    </a:p>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No Longer Interested</a:t>
                      </a:r>
                    </a:p>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Cancelled</a:t>
                      </a:r>
                      <a:endParaRPr lang="en-IN" sz="1600" dirty="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600" dirty="0">
                          <a:solidFill>
                            <a:schemeClr val="tx1">
                              <a:lumMod val="95000"/>
                              <a:lumOff val="5000"/>
                            </a:schemeClr>
                          </a:solidFill>
                          <a:effectLst/>
                          <a:latin typeface="Trebuchet MS" panose="020B0603020202020204" pitchFamily="34" charset="0"/>
                        </a:rPr>
                        <a:t>Read Only form</a:t>
                      </a:r>
                      <a:endParaRPr lang="en-IN" sz="1600" dirty="0">
                        <a:solidFill>
                          <a:schemeClr val="tx1">
                            <a:lumMod val="95000"/>
                            <a:lumOff val="5000"/>
                          </a:schemeClr>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87267765"/>
                  </a:ext>
                </a:extLst>
              </a:tr>
            </a:tbl>
          </a:graphicData>
        </a:graphic>
      </p:graphicFrame>
    </p:spTree>
    <p:extLst>
      <p:ext uri="{BB962C8B-B14F-4D97-AF65-F5344CB8AC3E}">
        <p14:creationId xmlns:p14="http://schemas.microsoft.com/office/powerpoint/2010/main" val="4140408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Lead Reactivation Process</a:t>
            </a:r>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dirty="0"/>
              <a:t>By clicking on disqualify button from command bar you can disqualify the lead.</a:t>
            </a:r>
          </a:p>
          <a:p>
            <a:pPr marL="342900" indent="-342900" algn="l">
              <a:buFont typeface="Arial" panose="020B0604020202020204" pitchFamily="34" charset="0"/>
              <a:buChar char="•"/>
            </a:pPr>
            <a:r>
              <a:rPr lang="en-IN" dirty="0"/>
              <a:t>Occasionally, a lead that previously disqualified might need to reactivate. This might occur when, for example, someone who was not previously interested in your organization's products or services is now interested.</a:t>
            </a:r>
          </a:p>
          <a:p>
            <a:pPr marL="342900" indent="-342900" algn="l">
              <a:buFont typeface="Arial" panose="020B0604020202020204" pitchFamily="34" charset="0"/>
              <a:buChar char="•"/>
            </a:pPr>
            <a:r>
              <a:rPr lang="en-IN" b="1" i="1" u="sng" dirty="0"/>
              <a:t>Reference link:</a:t>
            </a:r>
          </a:p>
          <a:p>
            <a:pPr marL="342900" indent="-342900" algn="l">
              <a:buFont typeface="Arial" panose="020B0604020202020204" pitchFamily="34" charset="0"/>
              <a:buChar char="•"/>
            </a:pPr>
            <a:r>
              <a:rPr lang="en-IN" u="sng" dirty="0">
                <a:hlinkClick r:id="rId3"/>
              </a:rPr>
              <a:t>https://docs.microsoft.com/en-us/learn/modules/manage-leads-dynamics-365-sales/</a:t>
            </a:r>
            <a:r>
              <a:rPr lang="en-IN" dirty="0"/>
              <a:t> </a:t>
            </a:r>
          </a:p>
          <a:p>
            <a:pPr marL="342900" indent="-342900" algn="l">
              <a:lnSpc>
                <a:spcPct val="120000"/>
              </a:lnSpc>
              <a:buFont typeface="Arial" panose="020B0604020202020204" pitchFamily="34" charset="0"/>
              <a:buChar char="•"/>
            </a:pPr>
            <a:endParaRPr lang="en-US" dirty="0">
              <a:solidFill>
                <a:schemeClr val="tx1">
                  <a:lumMod val="50000"/>
                  <a:lumOff val="50000"/>
                </a:schemeClr>
              </a:solidFill>
            </a:endParaRPr>
          </a:p>
        </p:txBody>
      </p:sp>
    </p:spTree>
    <p:extLst>
      <p:ext uri="{BB962C8B-B14F-4D97-AF65-F5344CB8AC3E}">
        <p14:creationId xmlns:p14="http://schemas.microsoft.com/office/powerpoint/2010/main" val="2965854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Opportunity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lvl="0" algn="l"/>
            <a:r>
              <a:rPr lang="en-IN" dirty="0"/>
              <a:t>An opportunity is a qualified lead who is now almost ready to buy—in other words, a deal that you're ready to win.</a:t>
            </a:r>
            <a:endParaRPr lang="en-IN" sz="2800" dirty="0"/>
          </a:p>
          <a:p>
            <a:pPr lvl="0" algn="l"/>
            <a:r>
              <a:rPr lang="en-IN" dirty="0"/>
              <a:t>When you create an opportunity manually, you must specify an existing account or contact record. When opportunity created through the Lead qualification process then existing Account and/or contact gets linked to opportunity from lead.</a:t>
            </a:r>
            <a:endParaRPr lang="en-IN" sz="2800" dirty="0"/>
          </a:p>
          <a:p>
            <a:pPr lvl="0" algn="l"/>
            <a:r>
              <a:rPr lang="en-IN" dirty="0"/>
              <a:t>With an opportunity, you can forecast important data like:</a:t>
            </a:r>
            <a:endParaRPr lang="en-IN" sz="2800" dirty="0"/>
          </a:p>
          <a:p>
            <a:pPr marL="800089" lvl="1" indent="-342900" algn="l">
              <a:buFont typeface="Arial" panose="020B0604020202020204" pitchFamily="34" charset="0"/>
              <a:buChar char="•"/>
            </a:pPr>
            <a:r>
              <a:rPr lang="en-IN" sz="2400" dirty="0">
                <a:solidFill>
                  <a:schemeClr val="tx1">
                    <a:lumMod val="50000"/>
                    <a:lumOff val="50000"/>
                  </a:schemeClr>
                </a:solidFill>
              </a:rPr>
              <a:t>Sales</a:t>
            </a:r>
            <a:r>
              <a:rPr lang="en-IN" dirty="0"/>
              <a:t> </a:t>
            </a:r>
            <a:r>
              <a:rPr lang="en-IN" sz="2400" dirty="0">
                <a:solidFill>
                  <a:schemeClr val="tx1">
                    <a:lumMod val="50000"/>
                    <a:lumOff val="50000"/>
                  </a:schemeClr>
                </a:solidFill>
              </a:rPr>
              <a:t>revenue (Estimated revenue, Actual Revenue),</a:t>
            </a:r>
          </a:p>
          <a:p>
            <a:pPr marL="800089" lvl="1" indent="-342900" algn="l">
              <a:buFont typeface="Arial" panose="020B0604020202020204" pitchFamily="34" charset="0"/>
              <a:buChar char="•"/>
            </a:pPr>
            <a:r>
              <a:rPr lang="en-IN" sz="2400" dirty="0">
                <a:solidFill>
                  <a:schemeClr val="tx1">
                    <a:lumMod val="50000"/>
                    <a:lumOff val="50000"/>
                  </a:schemeClr>
                </a:solidFill>
              </a:rPr>
              <a:t>Set a </a:t>
            </a:r>
            <a:r>
              <a:rPr lang="en-IN" sz="2400" dirty="0">
                <a:solidFill>
                  <a:schemeClr val="bg2">
                    <a:lumMod val="50000"/>
                  </a:schemeClr>
                </a:solidFill>
              </a:rPr>
              <a:t>potential close date </a:t>
            </a:r>
            <a:r>
              <a:rPr lang="en-IN" sz="2400" dirty="0">
                <a:solidFill>
                  <a:schemeClr val="tx1">
                    <a:lumMod val="50000"/>
                    <a:lumOff val="50000"/>
                  </a:schemeClr>
                </a:solidFill>
              </a:rPr>
              <a:t>(Estimated close date, Actual close date)</a:t>
            </a:r>
          </a:p>
          <a:p>
            <a:pPr marL="800089" lvl="1" indent="-342900" algn="l">
              <a:buFont typeface="Arial" panose="020B0604020202020204" pitchFamily="34" charset="0"/>
              <a:buChar char="•"/>
            </a:pPr>
            <a:r>
              <a:rPr lang="en-IN" sz="2400" dirty="0">
                <a:solidFill>
                  <a:schemeClr val="tx1">
                    <a:lumMod val="50000"/>
                    <a:lumOff val="50000"/>
                  </a:schemeClr>
                </a:solidFill>
              </a:rPr>
              <a:t>Factors in a probability for the sale to occur.</a:t>
            </a:r>
          </a:p>
          <a:p>
            <a:pPr marL="342900" indent="-342900" algn="l">
              <a:lnSpc>
                <a:spcPct val="120000"/>
              </a:lnSpc>
              <a:buFont typeface="Arial" panose="020B0604020202020204" pitchFamily="34" charset="0"/>
              <a:buChar char="•"/>
            </a:pPr>
            <a:endParaRPr lang="en-US" dirty="0">
              <a:solidFill>
                <a:schemeClr val="bg2">
                  <a:lumMod val="50000"/>
                </a:schemeClr>
              </a:solidFill>
            </a:endParaRPr>
          </a:p>
        </p:txBody>
      </p:sp>
    </p:spTree>
    <p:extLst>
      <p:ext uri="{BB962C8B-B14F-4D97-AF65-F5344CB8AC3E}">
        <p14:creationId xmlns:p14="http://schemas.microsoft.com/office/powerpoint/2010/main" val="1698129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Opportunity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a:buFont typeface="Arial" panose="020B0604020202020204" pitchFamily="34" charset="0"/>
              <a:buChar char="•"/>
            </a:pPr>
            <a:r>
              <a:rPr lang="en-IN" dirty="0"/>
              <a:t>Pricing calculation depend upon the option you select in </a:t>
            </a:r>
            <a:r>
              <a:rPr lang="en-IN" b="1" dirty="0"/>
              <a:t>Revenue field.</a:t>
            </a:r>
            <a:r>
              <a:rPr lang="en-IN" dirty="0"/>
              <a:t> There is two option set field on opportunity entity called “Revenue”.</a:t>
            </a:r>
            <a:endParaRPr lang="en-IN" sz="2800" dirty="0"/>
          </a:p>
          <a:p>
            <a:pPr marL="342900" lvl="0" indent="-342900" algn="l">
              <a:buFont typeface="Arial" panose="020B0604020202020204" pitchFamily="34" charset="0"/>
              <a:buChar char="•"/>
            </a:pPr>
            <a:r>
              <a:rPr lang="en-IN" dirty="0"/>
              <a:t>Either let the system calculate the revenue of the Opportunity based on the Product Line Items (System Calculated) or you can enter yourself or add your own custom logic to it (User Provided).</a:t>
            </a:r>
            <a:endParaRPr lang="en-IN" sz="2800" dirty="0"/>
          </a:p>
          <a:p>
            <a:pPr marL="342900" indent="-342900" algn="l">
              <a:buFont typeface="Arial" panose="020B0604020202020204" pitchFamily="34" charset="0"/>
              <a:buChar char="•"/>
            </a:pPr>
            <a:r>
              <a:rPr lang="en-IN" dirty="0"/>
              <a:t>If Revenue= </a:t>
            </a:r>
            <a:r>
              <a:rPr lang="en-IN" b="1" dirty="0"/>
              <a:t>System Calculated</a:t>
            </a:r>
            <a:endParaRPr lang="en-IN" sz="2800" dirty="0"/>
          </a:p>
          <a:p>
            <a:pPr marL="800089" lvl="1" indent="-342900" algn="l">
              <a:lnSpc>
                <a:spcPct val="100000"/>
              </a:lnSpc>
              <a:buFont typeface="Arial" panose="020B0604020202020204" pitchFamily="34" charset="0"/>
              <a:buChar char="•"/>
            </a:pPr>
            <a:r>
              <a:rPr lang="en-IN" dirty="0">
                <a:solidFill>
                  <a:schemeClr val="bg2">
                    <a:lumMod val="50000"/>
                  </a:schemeClr>
                </a:solidFill>
              </a:rPr>
              <a:t>When you select System Calculated, the Est. Revenue field is locked and the Revenue is calculated from the Product Line Items.</a:t>
            </a:r>
            <a:endParaRPr lang="en-IN" sz="2400" dirty="0">
              <a:solidFill>
                <a:schemeClr val="bg2">
                  <a:lumMod val="50000"/>
                </a:schemeClr>
              </a:solidFill>
            </a:endParaRPr>
          </a:p>
          <a:p>
            <a:pPr marL="342900" indent="-342900" algn="l">
              <a:lnSpc>
                <a:spcPct val="120000"/>
              </a:lnSpc>
              <a:buFont typeface="Arial" panose="020B0604020202020204" pitchFamily="34" charset="0"/>
              <a:buChar char="•"/>
            </a:pPr>
            <a:endParaRPr lang="en-US" dirty="0">
              <a:solidFill>
                <a:schemeClr val="bg2">
                  <a:lumMod val="50000"/>
                </a:schemeClr>
              </a:solidFill>
            </a:endParaRPr>
          </a:p>
        </p:txBody>
      </p:sp>
      <p:pic>
        <p:nvPicPr>
          <p:cNvPr id="4" name="Picture 3">
            <a:extLst>
              <a:ext uri="{FF2B5EF4-FFF2-40B4-BE49-F238E27FC236}">
                <a16:creationId xmlns:a16="http://schemas.microsoft.com/office/drawing/2014/main" id="{BFC0441B-6894-4F26-B2AF-533F0DDB1F1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42464" y="4318093"/>
            <a:ext cx="6560242" cy="2282825"/>
          </a:xfrm>
          <a:prstGeom prst="rect">
            <a:avLst/>
          </a:prstGeom>
          <a:noFill/>
          <a:ln>
            <a:solidFill>
              <a:schemeClr val="tx1"/>
            </a:solidFill>
          </a:ln>
        </p:spPr>
      </p:pic>
    </p:spTree>
    <p:extLst>
      <p:ext uri="{BB962C8B-B14F-4D97-AF65-F5344CB8AC3E}">
        <p14:creationId xmlns:p14="http://schemas.microsoft.com/office/powerpoint/2010/main" val="1768673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Opportunity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dirty="0"/>
              <a:t>If Revenue=</a:t>
            </a:r>
            <a:r>
              <a:rPr lang="en-IN" b="1" dirty="0"/>
              <a:t>User Provided</a:t>
            </a:r>
            <a:endParaRPr lang="en-IN" sz="2800" dirty="0"/>
          </a:p>
          <a:p>
            <a:pPr marL="800089" lvl="1" indent="-342900" algn="l">
              <a:buFont typeface="Arial" panose="020B0604020202020204" pitchFamily="34" charset="0"/>
              <a:buChar char="•"/>
            </a:pPr>
            <a:r>
              <a:rPr lang="en-IN" dirty="0">
                <a:solidFill>
                  <a:schemeClr val="bg2">
                    <a:lumMod val="50000"/>
                  </a:schemeClr>
                </a:solidFill>
              </a:rPr>
              <a:t>When you select User provided, the Est. Revenue field is unlocked and the Est. Revenue is open to enter data into it.</a:t>
            </a:r>
            <a:endParaRPr lang="en-IN" sz="2400" dirty="0">
              <a:solidFill>
                <a:schemeClr val="bg2">
                  <a:lumMod val="50000"/>
                </a:schemeClr>
              </a:solidFill>
            </a:endParaRPr>
          </a:p>
          <a:p>
            <a:pPr marL="342900" indent="-342900" algn="l">
              <a:lnSpc>
                <a:spcPct val="120000"/>
              </a:lnSpc>
              <a:buFont typeface="Arial" panose="020B0604020202020204" pitchFamily="34" charset="0"/>
              <a:buChar char="•"/>
            </a:pPr>
            <a:endParaRPr lang="en-US" dirty="0">
              <a:solidFill>
                <a:schemeClr val="bg2">
                  <a:lumMod val="50000"/>
                </a:schemeClr>
              </a:solidFill>
            </a:endParaRPr>
          </a:p>
        </p:txBody>
      </p:sp>
      <p:pic>
        <p:nvPicPr>
          <p:cNvPr id="5" name="Picture 4">
            <a:extLst>
              <a:ext uri="{FF2B5EF4-FFF2-40B4-BE49-F238E27FC236}">
                <a16:creationId xmlns:a16="http://schemas.microsoft.com/office/drawing/2014/main" id="{B250D606-AE87-4090-B66B-519DA5522D1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29553" y="2299970"/>
            <a:ext cx="7126941" cy="3363410"/>
          </a:xfrm>
          <a:prstGeom prst="rect">
            <a:avLst/>
          </a:prstGeom>
          <a:noFill/>
          <a:ln>
            <a:solidFill>
              <a:schemeClr val="tx1"/>
            </a:solidFill>
          </a:ln>
        </p:spPr>
      </p:pic>
    </p:spTree>
    <p:extLst>
      <p:ext uri="{BB962C8B-B14F-4D97-AF65-F5344CB8AC3E}">
        <p14:creationId xmlns:p14="http://schemas.microsoft.com/office/powerpoint/2010/main" val="1628549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Opportunity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lnSpc>
                <a:spcPct val="120000"/>
              </a:lnSpc>
              <a:buFont typeface="Arial" panose="020B0604020202020204" pitchFamily="34" charset="0"/>
              <a:buChar char="•"/>
            </a:pPr>
            <a:r>
              <a:rPr lang="en-IN" dirty="0"/>
              <a:t>Opportunity Lifecycle</a:t>
            </a:r>
          </a:p>
          <a:p>
            <a:pPr marL="342900" indent="-342900" algn="l">
              <a:lnSpc>
                <a:spcPct val="120000"/>
              </a:lnSpc>
              <a:buFont typeface="Arial" panose="020B0604020202020204" pitchFamily="34" charset="0"/>
              <a:buChar char="•"/>
            </a:pPr>
            <a:r>
              <a:rPr lang="en-IN" b="1" i="1" u="sng" dirty="0"/>
              <a:t>Reference link:</a:t>
            </a:r>
          </a:p>
          <a:p>
            <a:pPr marL="342900" indent="-342900" algn="l">
              <a:lnSpc>
                <a:spcPct val="120000"/>
              </a:lnSpc>
              <a:buFont typeface="Arial" panose="020B0604020202020204" pitchFamily="34" charset="0"/>
              <a:buChar char="•"/>
            </a:pPr>
            <a:r>
              <a:rPr lang="en-IN" u="sng" dirty="0">
                <a:hlinkClick r:id="rId3"/>
              </a:rPr>
              <a:t>https://docs.microsoft.com/en-us/learn/modules/manage-opportunities-dynamics-365-sales/4-opportunity-management-lifecycle</a:t>
            </a:r>
            <a:r>
              <a:rPr lang="en-IN" dirty="0"/>
              <a:t> </a:t>
            </a:r>
            <a:endParaRPr lang="en-US" dirty="0">
              <a:solidFill>
                <a:schemeClr val="bg2">
                  <a:lumMod val="50000"/>
                </a:schemeClr>
              </a:solidFill>
            </a:endParaRPr>
          </a:p>
        </p:txBody>
      </p:sp>
      <p:graphicFrame>
        <p:nvGraphicFramePr>
          <p:cNvPr id="4" name="Table 3">
            <a:extLst>
              <a:ext uri="{FF2B5EF4-FFF2-40B4-BE49-F238E27FC236}">
                <a16:creationId xmlns:a16="http://schemas.microsoft.com/office/drawing/2014/main" id="{1AA79512-60E9-4F72-A178-187AA475FD15}"/>
              </a:ext>
            </a:extLst>
          </p:cNvPr>
          <p:cNvGraphicFramePr>
            <a:graphicFrameLocks noGrp="1"/>
          </p:cNvGraphicFramePr>
          <p:nvPr>
            <p:extLst>
              <p:ext uri="{D42A27DB-BD31-4B8C-83A1-F6EECF244321}">
                <p14:modId xmlns:p14="http://schemas.microsoft.com/office/powerpoint/2010/main" val="2978823045"/>
              </p:ext>
            </p:extLst>
          </p:nvPr>
        </p:nvGraphicFramePr>
        <p:xfrm>
          <a:off x="1293794" y="3297205"/>
          <a:ext cx="6169324" cy="3251508"/>
        </p:xfrm>
        <a:graphic>
          <a:graphicData uri="http://schemas.openxmlformats.org/drawingml/2006/table">
            <a:tbl>
              <a:tblPr firstRow="1" firstCol="1" bandRow="1">
                <a:tableStyleId>{5C22544A-7EE6-4342-B048-85BDC9FD1C3A}</a:tableStyleId>
              </a:tblPr>
              <a:tblGrid>
                <a:gridCol w="1606395">
                  <a:extLst>
                    <a:ext uri="{9D8B030D-6E8A-4147-A177-3AD203B41FA5}">
                      <a16:colId xmlns:a16="http://schemas.microsoft.com/office/drawing/2014/main" val="1098414094"/>
                    </a:ext>
                  </a:extLst>
                </a:gridCol>
                <a:gridCol w="2593940">
                  <a:extLst>
                    <a:ext uri="{9D8B030D-6E8A-4147-A177-3AD203B41FA5}">
                      <a16:colId xmlns:a16="http://schemas.microsoft.com/office/drawing/2014/main" val="3553005669"/>
                    </a:ext>
                  </a:extLst>
                </a:gridCol>
                <a:gridCol w="1968989">
                  <a:extLst>
                    <a:ext uri="{9D8B030D-6E8A-4147-A177-3AD203B41FA5}">
                      <a16:colId xmlns:a16="http://schemas.microsoft.com/office/drawing/2014/main" val="1270803377"/>
                    </a:ext>
                  </a:extLst>
                </a:gridCol>
              </a:tblGrid>
              <a:tr h="548094">
                <a:tc>
                  <a:txBody>
                    <a:bodyPr/>
                    <a:lstStyle/>
                    <a:p>
                      <a:pPr algn="ctr">
                        <a:lnSpc>
                          <a:spcPct val="107000"/>
                        </a:lnSpc>
                        <a:spcAft>
                          <a:spcPts val="0"/>
                        </a:spcAft>
                      </a:pPr>
                      <a:r>
                        <a:rPr lang="en-IN" sz="2000" dirty="0">
                          <a:effectLst/>
                          <a:latin typeface="Trebuchet MS" panose="020B0603020202020204" pitchFamily="34" charset="0"/>
                        </a:rPr>
                        <a:t>Status</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Status Reason</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Comment</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2659704"/>
                  </a:ext>
                </a:extLst>
              </a:tr>
              <a:tr h="1077660">
                <a:tc>
                  <a:txBody>
                    <a:bodyPr/>
                    <a:lstStyle/>
                    <a:p>
                      <a:pPr algn="ctr">
                        <a:lnSpc>
                          <a:spcPct val="107000"/>
                        </a:lnSpc>
                        <a:spcAft>
                          <a:spcPts val="0"/>
                        </a:spcAft>
                      </a:pPr>
                      <a:r>
                        <a:rPr lang="en-IN" sz="1800">
                          <a:effectLst/>
                          <a:latin typeface="Trebuchet MS" panose="020B0603020202020204" pitchFamily="34" charset="0"/>
                        </a:rPr>
                        <a:t>Open</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dirty="0">
                          <a:effectLst/>
                          <a:latin typeface="Trebuchet MS" panose="020B0603020202020204" pitchFamily="34" charset="0"/>
                        </a:rPr>
                        <a:t>In Progress</a:t>
                      </a:r>
                    </a:p>
                    <a:p>
                      <a:pPr algn="ctr">
                        <a:lnSpc>
                          <a:spcPct val="107000"/>
                        </a:lnSpc>
                        <a:spcAft>
                          <a:spcPts val="0"/>
                        </a:spcAft>
                      </a:pPr>
                      <a:r>
                        <a:rPr lang="en-IN" sz="1800" dirty="0">
                          <a:effectLst/>
                          <a:latin typeface="Trebuchet MS" panose="020B0603020202020204" pitchFamily="34" charset="0"/>
                        </a:rPr>
                        <a:t>On Hold</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dirty="0">
                          <a:effectLst/>
                          <a:latin typeface="Trebuchet MS" panose="020B0603020202020204" pitchFamily="34" charset="0"/>
                        </a:rPr>
                        <a:t>Editable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67117006"/>
                  </a:ext>
                </a:extLst>
              </a:tr>
              <a:tr h="548094">
                <a:tc>
                  <a:txBody>
                    <a:bodyPr/>
                    <a:lstStyle/>
                    <a:p>
                      <a:pPr algn="ctr">
                        <a:lnSpc>
                          <a:spcPct val="107000"/>
                        </a:lnSpc>
                        <a:spcAft>
                          <a:spcPts val="0"/>
                        </a:spcAft>
                      </a:pPr>
                      <a:r>
                        <a:rPr lang="en-IN" sz="1800">
                          <a:effectLst/>
                          <a:latin typeface="Trebuchet MS" panose="020B0603020202020204" pitchFamily="34" charset="0"/>
                        </a:rPr>
                        <a:t>Won</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a:effectLst/>
                          <a:latin typeface="Trebuchet MS" panose="020B0603020202020204" pitchFamily="34" charset="0"/>
                        </a:rPr>
                        <a:t>Won</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79474921"/>
                  </a:ext>
                </a:extLst>
              </a:tr>
              <a:tr h="1077660">
                <a:tc>
                  <a:txBody>
                    <a:bodyPr/>
                    <a:lstStyle/>
                    <a:p>
                      <a:pPr algn="ctr">
                        <a:lnSpc>
                          <a:spcPct val="107000"/>
                        </a:lnSpc>
                        <a:spcAft>
                          <a:spcPts val="0"/>
                        </a:spcAft>
                      </a:pPr>
                      <a:r>
                        <a:rPr lang="en-IN" sz="1800">
                          <a:effectLst/>
                          <a:latin typeface="Trebuchet MS" panose="020B0603020202020204" pitchFamily="34" charset="0"/>
                        </a:rPr>
                        <a:t>Lost</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dirty="0">
                          <a:effectLst/>
                          <a:latin typeface="Trebuchet MS" panose="020B0603020202020204" pitchFamily="34" charset="0"/>
                        </a:rPr>
                        <a:t>Cancelled</a:t>
                      </a:r>
                    </a:p>
                    <a:p>
                      <a:pPr algn="ctr">
                        <a:lnSpc>
                          <a:spcPct val="107000"/>
                        </a:lnSpc>
                        <a:spcAft>
                          <a:spcPts val="0"/>
                        </a:spcAft>
                      </a:pPr>
                      <a:r>
                        <a:rPr lang="en-IN" sz="1800" dirty="0">
                          <a:effectLst/>
                          <a:latin typeface="Trebuchet MS" panose="020B0603020202020204" pitchFamily="34" charset="0"/>
                        </a:rPr>
                        <a:t>Out-Sold</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8301461"/>
                  </a:ext>
                </a:extLst>
              </a:tr>
            </a:tbl>
          </a:graphicData>
        </a:graphic>
      </p:graphicFrame>
    </p:spTree>
    <p:extLst>
      <p:ext uri="{BB962C8B-B14F-4D97-AF65-F5344CB8AC3E}">
        <p14:creationId xmlns:p14="http://schemas.microsoft.com/office/powerpoint/2010/main" val="20971307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Quote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a:buFont typeface="Arial" panose="020B0604020202020204" pitchFamily="34" charset="0"/>
              <a:buChar char="•"/>
            </a:pPr>
            <a:r>
              <a:rPr lang="en-IN" dirty="0"/>
              <a:t>Quotes are record by which formal quotation/pricing are offered for the products to a customer.</a:t>
            </a:r>
          </a:p>
          <a:p>
            <a:pPr marL="342900" lvl="0" indent="-342900" algn="l">
              <a:buFont typeface="Arial" panose="020B0604020202020204" pitchFamily="34" charset="0"/>
              <a:buChar char="•"/>
            </a:pPr>
            <a:r>
              <a:rPr lang="en-IN" dirty="0"/>
              <a:t>Life-Cycle </a:t>
            </a:r>
          </a:p>
          <a:p>
            <a:pPr marL="342900" lvl="0" indent="-342900" algn="l">
              <a:buFont typeface="Arial" panose="020B0604020202020204" pitchFamily="34" charset="0"/>
              <a:buChar char="•"/>
            </a:pPr>
            <a:endParaRPr lang="en-IN" dirty="0"/>
          </a:p>
        </p:txBody>
      </p:sp>
      <p:graphicFrame>
        <p:nvGraphicFramePr>
          <p:cNvPr id="5" name="Table 4">
            <a:extLst>
              <a:ext uri="{FF2B5EF4-FFF2-40B4-BE49-F238E27FC236}">
                <a16:creationId xmlns:a16="http://schemas.microsoft.com/office/drawing/2014/main" id="{8C7A7237-39AE-4BC2-A116-4117D7780C16}"/>
              </a:ext>
            </a:extLst>
          </p:cNvPr>
          <p:cNvGraphicFramePr>
            <a:graphicFrameLocks noGrp="1"/>
          </p:cNvGraphicFramePr>
          <p:nvPr>
            <p:extLst>
              <p:ext uri="{D42A27DB-BD31-4B8C-83A1-F6EECF244321}">
                <p14:modId xmlns:p14="http://schemas.microsoft.com/office/powerpoint/2010/main" val="720505019"/>
              </p:ext>
            </p:extLst>
          </p:nvPr>
        </p:nvGraphicFramePr>
        <p:xfrm>
          <a:off x="1250579" y="2619039"/>
          <a:ext cx="8458197" cy="3412273"/>
        </p:xfrm>
        <a:graphic>
          <a:graphicData uri="http://schemas.openxmlformats.org/drawingml/2006/table">
            <a:tbl>
              <a:tblPr firstRow="1" firstCol="1" bandRow="1">
                <a:tableStyleId>{5C22544A-7EE6-4342-B048-85BDC9FD1C3A}</a:tableStyleId>
              </a:tblPr>
              <a:tblGrid>
                <a:gridCol w="2041349">
                  <a:extLst>
                    <a:ext uri="{9D8B030D-6E8A-4147-A177-3AD203B41FA5}">
                      <a16:colId xmlns:a16="http://schemas.microsoft.com/office/drawing/2014/main" val="589961565"/>
                    </a:ext>
                  </a:extLst>
                </a:gridCol>
                <a:gridCol w="1747519">
                  <a:extLst>
                    <a:ext uri="{9D8B030D-6E8A-4147-A177-3AD203B41FA5}">
                      <a16:colId xmlns:a16="http://schemas.microsoft.com/office/drawing/2014/main" val="3183175151"/>
                    </a:ext>
                  </a:extLst>
                </a:gridCol>
                <a:gridCol w="4669329">
                  <a:extLst>
                    <a:ext uri="{9D8B030D-6E8A-4147-A177-3AD203B41FA5}">
                      <a16:colId xmlns:a16="http://schemas.microsoft.com/office/drawing/2014/main" val="4139563182"/>
                    </a:ext>
                  </a:extLst>
                </a:gridCol>
              </a:tblGrid>
              <a:tr h="949326">
                <a:tc>
                  <a:txBody>
                    <a:bodyPr/>
                    <a:lstStyle/>
                    <a:p>
                      <a:pPr algn="l">
                        <a:lnSpc>
                          <a:spcPct val="107000"/>
                        </a:lnSpc>
                        <a:spcAft>
                          <a:spcPts val="0"/>
                        </a:spcAft>
                      </a:pPr>
                      <a:r>
                        <a:rPr lang="en-IN" sz="1800" dirty="0">
                          <a:effectLst/>
                          <a:latin typeface="Trebuchet MS" panose="020B0603020202020204" pitchFamily="34" charset="0"/>
                        </a:rPr>
                        <a:t>Status(State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Status Reason (Status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Comment</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4889261"/>
                  </a:ext>
                </a:extLst>
              </a:tr>
              <a:tr h="505160">
                <a:tc>
                  <a:txBody>
                    <a:bodyPr/>
                    <a:lstStyle/>
                    <a:p>
                      <a:pPr algn="l">
                        <a:lnSpc>
                          <a:spcPct val="107000"/>
                        </a:lnSpc>
                        <a:spcAft>
                          <a:spcPts val="0"/>
                        </a:spcAft>
                      </a:pPr>
                      <a:r>
                        <a:rPr lang="en-IN" sz="1600">
                          <a:effectLst/>
                          <a:latin typeface="Trebuchet MS" panose="020B0603020202020204" pitchFamily="34" charset="0"/>
                        </a:rPr>
                        <a:t>Draft</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a:effectLst/>
                          <a:latin typeface="Trebuchet MS" panose="020B0603020202020204" pitchFamily="34" charset="0"/>
                        </a:rPr>
                        <a:t>In Progress</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dirty="0">
                          <a:effectLst/>
                          <a:latin typeface="Trebuchet MS" panose="020B0603020202020204" pitchFamily="34" charset="0"/>
                        </a:rPr>
                        <a:t>Editable form</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5995316"/>
                  </a:ext>
                </a:extLst>
              </a:tr>
              <a:tr h="505160">
                <a:tc>
                  <a:txBody>
                    <a:bodyPr/>
                    <a:lstStyle/>
                    <a:p>
                      <a:pPr algn="l">
                        <a:lnSpc>
                          <a:spcPct val="107000"/>
                        </a:lnSpc>
                        <a:spcAft>
                          <a:spcPts val="0"/>
                        </a:spcAft>
                      </a:pPr>
                      <a:r>
                        <a:rPr lang="en-IN" sz="1600">
                          <a:effectLst/>
                          <a:latin typeface="Trebuchet MS" panose="020B0603020202020204" pitchFamily="34" charset="0"/>
                        </a:rPr>
                        <a:t>Active</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a:effectLst/>
                          <a:latin typeface="Trebuchet MS" panose="020B0603020202020204" pitchFamily="34" charset="0"/>
                        </a:rPr>
                        <a:t>In Progress or Open</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dirty="0">
                          <a:effectLst/>
                          <a:latin typeface="Trebuchet MS" panose="020B0603020202020204" pitchFamily="34" charset="0"/>
                        </a:rPr>
                        <a:t>Read Only form. It can be won or closed or revised</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75256466"/>
                  </a:ext>
                </a:extLst>
              </a:tr>
              <a:tr h="482823">
                <a:tc>
                  <a:txBody>
                    <a:bodyPr/>
                    <a:lstStyle/>
                    <a:p>
                      <a:pPr algn="l">
                        <a:lnSpc>
                          <a:spcPct val="107000"/>
                        </a:lnSpc>
                        <a:spcAft>
                          <a:spcPts val="0"/>
                        </a:spcAft>
                      </a:pPr>
                      <a:r>
                        <a:rPr lang="en-IN" sz="1600">
                          <a:effectLst/>
                          <a:latin typeface="Trebuchet MS" panose="020B0603020202020204" pitchFamily="34" charset="0"/>
                        </a:rPr>
                        <a:t>Won</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a:effectLst/>
                          <a:latin typeface="Trebuchet MS" panose="020B0603020202020204" pitchFamily="34" charset="0"/>
                        </a:rPr>
                        <a:t>Won</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dirty="0">
                          <a:effectLst/>
                          <a:latin typeface="Trebuchet MS" panose="020B0603020202020204" pitchFamily="34" charset="0"/>
                        </a:rPr>
                        <a:t>Read Only form status become won when associated with an order</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93084114"/>
                  </a:ext>
                </a:extLst>
              </a:tr>
              <a:tr h="949326">
                <a:tc>
                  <a:txBody>
                    <a:bodyPr/>
                    <a:lstStyle/>
                    <a:p>
                      <a:pPr algn="l">
                        <a:lnSpc>
                          <a:spcPct val="107000"/>
                        </a:lnSpc>
                        <a:spcAft>
                          <a:spcPts val="0"/>
                        </a:spcAft>
                      </a:pPr>
                      <a:r>
                        <a:rPr lang="en-IN" sz="1600">
                          <a:effectLst/>
                          <a:latin typeface="Trebuchet MS" panose="020B0603020202020204" pitchFamily="34" charset="0"/>
                        </a:rPr>
                        <a:t>Closed</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a:effectLst/>
                          <a:latin typeface="Trebuchet MS" panose="020B0603020202020204" pitchFamily="34" charset="0"/>
                        </a:rPr>
                        <a:t>Lost, Cancelled or Revised</a:t>
                      </a:r>
                      <a:endParaRPr lang="en-IN" sz="16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600" dirty="0">
                          <a:effectLst/>
                          <a:latin typeface="Trebuchet MS" panose="020B0603020202020204" pitchFamily="34" charset="0"/>
                        </a:rPr>
                        <a:t>Read Only form. It can be revised only if previously draft or active quote with same quote number does not exist.</a:t>
                      </a:r>
                      <a:endParaRPr lang="en-IN" sz="16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00134166"/>
                  </a:ext>
                </a:extLst>
              </a:tr>
            </a:tbl>
          </a:graphicData>
        </a:graphic>
      </p:graphicFrame>
    </p:spTree>
    <p:extLst>
      <p:ext uri="{BB962C8B-B14F-4D97-AF65-F5344CB8AC3E}">
        <p14:creationId xmlns:p14="http://schemas.microsoft.com/office/powerpoint/2010/main" val="120503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Quote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fontAlgn="base">
              <a:buFont typeface="Arial" panose="020B0604020202020204" pitchFamily="34" charset="0"/>
              <a:buChar char="•"/>
            </a:pPr>
            <a:r>
              <a:rPr lang="en-IN" b="1" dirty="0"/>
              <a:t>Draft</a:t>
            </a:r>
            <a:endParaRPr lang="en-IN" dirty="0"/>
          </a:p>
          <a:p>
            <a:pPr marL="800089" lvl="1" indent="-342900" algn="l" fontAlgn="base">
              <a:buFont typeface="Arial" panose="020B0604020202020204" pitchFamily="34" charset="0"/>
              <a:buChar char="•"/>
            </a:pPr>
            <a:r>
              <a:rPr lang="en-IN" dirty="0">
                <a:solidFill>
                  <a:schemeClr val="bg2">
                    <a:lumMod val="50000"/>
                  </a:schemeClr>
                </a:solidFill>
              </a:rPr>
              <a:t>When quotes created, they are in draft status.</a:t>
            </a:r>
          </a:p>
          <a:p>
            <a:pPr marL="800089" lvl="1" indent="-342900" algn="l" fontAlgn="base">
              <a:buFont typeface="Arial" panose="020B0604020202020204" pitchFamily="34" charset="0"/>
              <a:buChar char="•"/>
            </a:pPr>
            <a:r>
              <a:rPr lang="en-IN" dirty="0">
                <a:solidFill>
                  <a:schemeClr val="bg2">
                    <a:lumMod val="50000"/>
                  </a:schemeClr>
                </a:solidFill>
              </a:rPr>
              <a:t>Draft quotes are editable.</a:t>
            </a:r>
          </a:p>
          <a:p>
            <a:pPr marL="800089" lvl="1" indent="-342900" algn="l" fontAlgn="base">
              <a:buFont typeface="Arial" panose="020B0604020202020204" pitchFamily="34" charset="0"/>
              <a:buChar char="•"/>
            </a:pPr>
            <a:r>
              <a:rPr lang="en-IN" dirty="0">
                <a:solidFill>
                  <a:schemeClr val="bg2">
                    <a:lumMod val="50000"/>
                  </a:schemeClr>
                </a:solidFill>
              </a:rPr>
              <a:t>Draft quotes need to be activated before progressing.</a:t>
            </a:r>
          </a:p>
          <a:p>
            <a:pPr marL="342900" lvl="0" indent="-342900" algn="l" fontAlgn="base">
              <a:buFont typeface="Arial" panose="020B0604020202020204" pitchFamily="34" charset="0"/>
              <a:buChar char="•"/>
            </a:pPr>
            <a:r>
              <a:rPr lang="en-IN" b="1" dirty="0"/>
              <a:t>Active</a:t>
            </a:r>
            <a:endParaRPr lang="en-IN" dirty="0"/>
          </a:p>
          <a:p>
            <a:pPr marL="800089" lvl="1" indent="-342900" algn="l" fontAlgn="base">
              <a:buFont typeface="Arial" panose="020B0604020202020204" pitchFamily="34" charset="0"/>
              <a:buChar char="•"/>
            </a:pPr>
            <a:r>
              <a:rPr lang="en-IN" dirty="0">
                <a:solidFill>
                  <a:schemeClr val="bg2">
                    <a:lumMod val="50000"/>
                  </a:schemeClr>
                </a:solidFill>
              </a:rPr>
              <a:t>Active quotes can be printed and presented to the customer.</a:t>
            </a:r>
          </a:p>
          <a:p>
            <a:pPr marL="800089" lvl="1" indent="-342900" algn="l" fontAlgn="base">
              <a:buFont typeface="Arial" panose="020B0604020202020204" pitchFamily="34" charset="0"/>
              <a:buChar char="•"/>
            </a:pPr>
            <a:r>
              <a:rPr lang="en-IN" dirty="0">
                <a:solidFill>
                  <a:schemeClr val="bg2">
                    <a:lumMod val="50000"/>
                  </a:schemeClr>
                </a:solidFill>
              </a:rPr>
              <a:t>Active quotes are read-only.</a:t>
            </a:r>
          </a:p>
          <a:p>
            <a:pPr marL="800089" lvl="1" indent="-342900" algn="l" fontAlgn="base">
              <a:buFont typeface="Arial" panose="020B0604020202020204" pitchFamily="34" charset="0"/>
              <a:buChar char="•"/>
            </a:pPr>
            <a:r>
              <a:rPr lang="en-IN" dirty="0">
                <a:solidFill>
                  <a:schemeClr val="bg2">
                    <a:lumMod val="50000"/>
                  </a:schemeClr>
                </a:solidFill>
              </a:rPr>
              <a:t>Orders created from an active quote by clicking on Create Order button.</a:t>
            </a:r>
          </a:p>
          <a:p>
            <a:pPr marL="800089" lvl="1" indent="-342900" algn="l" fontAlgn="base">
              <a:buFont typeface="Arial" panose="020B0604020202020204" pitchFamily="34" charset="0"/>
              <a:buChar char="•"/>
            </a:pPr>
            <a:r>
              <a:rPr lang="en-IN" dirty="0">
                <a:solidFill>
                  <a:schemeClr val="bg2">
                    <a:lumMod val="50000"/>
                  </a:schemeClr>
                </a:solidFill>
              </a:rPr>
              <a:t>Active quotes can be marked as won or lost.</a:t>
            </a:r>
          </a:p>
          <a:p>
            <a:pPr marL="800089" lvl="1" indent="-342900" algn="l" fontAlgn="base">
              <a:buFont typeface="Arial" panose="020B0604020202020204" pitchFamily="34" charset="0"/>
              <a:buChar char="•"/>
            </a:pPr>
            <a:r>
              <a:rPr lang="en-IN" dirty="0">
                <a:solidFill>
                  <a:schemeClr val="bg2">
                    <a:lumMod val="50000"/>
                  </a:schemeClr>
                </a:solidFill>
              </a:rPr>
              <a:t>Active quotes available for revision. Which closes the current version and creates a new version of the quote in a draft status and revision ID of next quote get incremented by 1.</a:t>
            </a:r>
          </a:p>
          <a:p>
            <a:pPr marL="800089" lvl="1" indent="-342900" algn="l" fontAlgn="base">
              <a:buFont typeface="Arial" panose="020B0604020202020204" pitchFamily="34" charset="0"/>
              <a:buChar char="•"/>
            </a:pPr>
            <a:endParaRPr lang="en-IN" dirty="0">
              <a:solidFill>
                <a:schemeClr val="bg2">
                  <a:lumMod val="50000"/>
                </a:schemeClr>
              </a:solidFill>
            </a:endParaRPr>
          </a:p>
          <a:p>
            <a:pPr marL="800089" lvl="1" indent="-342900" algn="l" fontAlgn="base">
              <a:buFont typeface="Arial" panose="020B0604020202020204" pitchFamily="34" charset="0"/>
              <a:buChar char="•"/>
            </a:pPr>
            <a:endParaRPr lang="en-IN" dirty="0">
              <a:solidFill>
                <a:schemeClr val="bg2">
                  <a:lumMod val="50000"/>
                </a:schemeClr>
              </a:solidFill>
            </a:endParaRPr>
          </a:p>
          <a:p>
            <a:pPr marL="800089" lvl="1" indent="-342900" algn="l" fontAlgn="base">
              <a:buFont typeface="Arial" panose="020B0604020202020204" pitchFamily="34" charset="0"/>
              <a:buChar char="•"/>
            </a:pPr>
            <a:endParaRPr lang="en-IN" dirty="0">
              <a:solidFill>
                <a:schemeClr val="bg2">
                  <a:lumMod val="50000"/>
                </a:schemeClr>
              </a:solidFill>
            </a:endParaRPr>
          </a:p>
          <a:p>
            <a:pPr marL="342900" lvl="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4187429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sz="3600" dirty="0"/>
              <a:t>Quote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fontAlgn="base">
              <a:buFont typeface="Arial" panose="020B0604020202020204" pitchFamily="34" charset="0"/>
              <a:buChar char="•"/>
            </a:pPr>
            <a:r>
              <a:rPr lang="en-IN" b="1" dirty="0"/>
              <a:t>Won</a:t>
            </a:r>
            <a:endParaRPr lang="en-IN" sz="2800" dirty="0"/>
          </a:p>
          <a:p>
            <a:pPr marL="800089" lvl="1" indent="-342900" algn="l" fontAlgn="base">
              <a:buFont typeface="Arial" panose="020B0604020202020204" pitchFamily="34" charset="0"/>
              <a:buChar char="•"/>
            </a:pPr>
            <a:r>
              <a:rPr lang="en-IN" dirty="0">
                <a:solidFill>
                  <a:schemeClr val="bg2">
                    <a:lumMod val="50000"/>
                  </a:schemeClr>
                </a:solidFill>
              </a:rPr>
              <a:t>Status changes to won when quote accepted by customer. Simply when order is placed means we won the quote.</a:t>
            </a:r>
          </a:p>
          <a:p>
            <a:pPr marL="800089" lvl="1" indent="-342900" algn="l" fontAlgn="base">
              <a:buFont typeface="Arial" panose="020B0604020202020204" pitchFamily="34" charset="0"/>
              <a:buChar char="•"/>
            </a:pPr>
            <a:r>
              <a:rPr lang="en-IN" dirty="0">
                <a:solidFill>
                  <a:schemeClr val="bg2">
                    <a:lumMod val="50000"/>
                  </a:schemeClr>
                </a:solidFill>
              </a:rPr>
              <a:t>Won quotes are read-only.</a:t>
            </a:r>
          </a:p>
          <a:p>
            <a:pPr marL="1257277" lvl="2" indent="-342900" algn="l" fontAlgn="base">
              <a:buFont typeface="Arial" panose="020B0604020202020204" pitchFamily="34" charset="0"/>
              <a:buChar char="•"/>
            </a:pPr>
            <a:endParaRPr lang="en-IN" dirty="0">
              <a:solidFill>
                <a:schemeClr val="bg2">
                  <a:lumMod val="50000"/>
                </a:schemeClr>
              </a:solidFill>
            </a:endParaRPr>
          </a:p>
          <a:p>
            <a:pPr marL="342900" lvl="0" indent="-342900" algn="l" fontAlgn="base">
              <a:buFont typeface="Arial" panose="020B0604020202020204" pitchFamily="34" charset="0"/>
              <a:buChar char="•"/>
            </a:pPr>
            <a:r>
              <a:rPr lang="en-IN" b="1" dirty="0"/>
              <a:t>Closed</a:t>
            </a:r>
            <a:endParaRPr lang="en-IN" sz="2800" dirty="0"/>
          </a:p>
          <a:p>
            <a:pPr marL="800089" lvl="1" indent="-342900" algn="l" fontAlgn="base">
              <a:buFont typeface="Arial" panose="020B0604020202020204" pitchFamily="34" charset="0"/>
              <a:buChar char="•"/>
            </a:pPr>
            <a:r>
              <a:rPr lang="en-IN" dirty="0">
                <a:solidFill>
                  <a:schemeClr val="bg2">
                    <a:lumMod val="50000"/>
                  </a:schemeClr>
                </a:solidFill>
              </a:rPr>
              <a:t>Quotes can be closed because they have been lost, cancelled or revised.</a:t>
            </a:r>
          </a:p>
          <a:p>
            <a:pPr marL="800089" lvl="1" indent="-342900" algn="l" fontAlgn="base">
              <a:buFont typeface="Arial" panose="020B0604020202020204" pitchFamily="34" charset="0"/>
              <a:buChar char="•"/>
            </a:pPr>
            <a:r>
              <a:rPr lang="en-IN" dirty="0">
                <a:solidFill>
                  <a:schemeClr val="bg2">
                    <a:lumMod val="50000"/>
                  </a:schemeClr>
                </a:solidFill>
              </a:rPr>
              <a:t>Closed quotes are read-only.</a:t>
            </a:r>
          </a:p>
          <a:p>
            <a:pPr marL="1257277" lvl="2" indent="-342900" algn="l" fontAlgn="base">
              <a:buFont typeface="Arial" panose="020B0604020202020204" pitchFamily="34" charset="0"/>
              <a:buChar char="•"/>
            </a:pPr>
            <a:endParaRPr lang="en-IN" dirty="0">
              <a:solidFill>
                <a:schemeClr val="bg2">
                  <a:lumMod val="50000"/>
                </a:schemeClr>
              </a:solidFill>
            </a:endParaRPr>
          </a:p>
          <a:p>
            <a:pPr marL="342900" indent="-342900" algn="l" fontAlgn="base">
              <a:buFont typeface="Arial" panose="020B0604020202020204" pitchFamily="34" charset="0"/>
              <a:buChar char="•"/>
            </a:pPr>
            <a:r>
              <a:rPr lang="en-IN" b="1" i="1" u="sng" dirty="0"/>
              <a:t>Reference link:</a:t>
            </a:r>
          </a:p>
          <a:p>
            <a:pPr marL="342900" indent="-342900" algn="l" fontAlgn="base">
              <a:buFont typeface="Arial" panose="020B0604020202020204" pitchFamily="34" charset="0"/>
              <a:buChar char="•"/>
            </a:pPr>
            <a:r>
              <a:rPr lang="en-IN" u="sng" dirty="0">
                <a:hlinkClick r:id="rId3"/>
              </a:rPr>
              <a:t>https://docs.microsoft.com/en-us/learn/modules/process-sales-orders-dynamics-365-sales/2-quotes-and-quote-management</a:t>
            </a:r>
            <a:r>
              <a:rPr lang="en-IN" dirty="0"/>
              <a:t> </a:t>
            </a:r>
            <a:endParaRPr lang="en-IN" dirty="0">
              <a:solidFill>
                <a:schemeClr val="bg2">
                  <a:lumMod val="50000"/>
                </a:schemeClr>
              </a:solidFill>
            </a:endParaRPr>
          </a:p>
          <a:p>
            <a:pPr marL="342900" lvl="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6291924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Order and Invoice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fontAlgn="base">
              <a:buFont typeface="Arial" panose="020B0604020202020204" pitchFamily="34" charset="0"/>
              <a:buChar char="•"/>
            </a:pPr>
            <a:r>
              <a:rPr lang="en-IN" dirty="0"/>
              <a:t>When customer accept the quote. That is when we win the quote. We convert the quote into order. The process of converting a quote to an order is done by selecting the </a:t>
            </a:r>
            <a:r>
              <a:rPr lang="en-IN" b="1" dirty="0"/>
              <a:t>Create order</a:t>
            </a:r>
            <a:r>
              <a:rPr lang="en-IN" dirty="0"/>
              <a:t> button on the command bar.</a:t>
            </a:r>
          </a:p>
          <a:p>
            <a:pPr algn="l" fontAlgn="base"/>
            <a:r>
              <a:rPr lang="en-IN" dirty="0"/>
              <a:t> </a:t>
            </a:r>
          </a:p>
          <a:p>
            <a:pPr marL="342900" indent="-342900" algn="l" fontAlgn="base">
              <a:buFont typeface="Arial" panose="020B0604020202020204" pitchFamily="34" charset="0"/>
              <a:buChar char="•"/>
            </a:pPr>
            <a:r>
              <a:rPr lang="en-IN" dirty="0"/>
              <a:t>When the order is created, the contents/information of the quote are added to the order record and the quote is won also system won the corresponding opportunity as “Close Opportunity” is set as yes.</a:t>
            </a:r>
          </a:p>
          <a:p>
            <a:pPr algn="l" fontAlgn="base"/>
            <a:r>
              <a:rPr lang="en-IN" dirty="0"/>
              <a:t> </a:t>
            </a:r>
          </a:p>
          <a:p>
            <a:pPr algn="l" fontAlgn="base"/>
            <a:r>
              <a:rPr lang="en-IN" b="1" dirty="0"/>
              <a:t>NOTE: </a:t>
            </a:r>
            <a:r>
              <a:rPr lang="en-IN" dirty="0"/>
              <a:t>Actual revenue field on opportunity calculated from the quote as “Calculate actual revenue from quotes” is set as Yes.</a:t>
            </a:r>
          </a:p>
          <a:p>
            <a:pPr fontAlgn="base"/>
            <a:r>
              <a:rPr lang="en-IN" b="1" dirty="0"/>
              <a:t> </a:t>
            </a:r>
            <a:endParaRPr lang="en-IN" dirty="0"/>
          </a:p>
          <a:p>
            <a:pPr marL="342900" lvl="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6761692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Order and Invoice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lvl="0" indent="-342900" algn="l">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CADCC56F-9BBC-44AC-ADB9-DFFACC477AE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100324" y="1194620"/>
            <a:ext cx="4184818" cy="3731615"/>
          </a:xfrm>
          <a:prstGeom prst="rect">
            <a:avLst/>
          </a:prstGeom>
          <a:noFill/>
          <a:ln>
            <a:solidFill>
              <a:schemeClr val="tx1"/>
            </a:solidFill>
          </a:ln>
        </p:spPr>
      </p:pic>
    </p:spTree>
    <p:extLst>
      <p:ext uri="{BB962C8B-B14F-4D97-AF65-F5344CB8AC3E}">
        <p14:creationId xmlns:p14="http://schemas.microsoft.com/office/powerpoint/2010/main" val="10290207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Order and Invoice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b="1" dirty="0"/>
              <a:t>The Order Lifecycle</a:t>
            </a:r>
          </a:p>
          <a:p>
            <a:pPr marL="342900" indent="-342900" algn="l">
              <a:buFont typeface="Arial" panose="020B0604020202020204" pitchFamily="34" charset="0"/>
              <a:buChar char="•"/>
            </a:pPr>
            <a:endParaRPr lang="en-IN" dirty="0"/>
          </a:p>
          <a:p>
            <a:pPr marL="342900" lvl="0" indent="-342900" algn="l">
              <a:buFont typeface="Arial" panose="020B0604020202020204" pitchFamily="34" charset="0"/>
              <a:buChar char="•"/>
            </a:pPr>
            <a:endParaRPr lang="en-IN" dirty="0"/>
          </a:p>
        </p:txBody>
      </p:sp>
      <p:graphicFrame>
        <p:nvGraphicFramePr>
          <p:cNvPr id="5" name="Table 4">
            <a:extLst>
              <a:ext uri="{FF2B5EF4-FFF2-40B4-BE49-F238E27FC236}">
                <a16:creationId xmlns:a16="http://schemas.microsoft.com/office/drawing/2014/main" id="{BBD80180-652C-4C84-ADBC-ED094D288734}"/>
              </a:ext>
            </a:extLst>
          </p:cNvPr>
          <p:cNvGraphicFramePr>
            <a:graphicFrameLocks noGrp="1"/>
          </p:cNvGraphicFramePr>
          <p:nvPr>
            <p:extLst>
              <p:ext uri="{D42A27DB-BD31-4B8C-83A1-F6EECF244321}">
                <p14:modId xmlns:p14="http://schemas.microsoft.com/office/powerpoint/2010/main" val="1354377826"/>
              </p:ext>
            </p:extLst>
          </p:nvPr>
        </p:nvGraphicFramePr>
        <p:xfrm>
          <a:off x="1129553" y="1801906"/>
          <a:ext cx="8538882" cy="2560386"/>
        </p:xfrm>
        <a:graphic>
          <a:graphicData uri="http://schemas.openxmlformats.org/drawingml/2006/table">
            <a:tbl>
              <a:tblPr firstRow="1" firstCol="1" bandRow="1">
                <a:tableStyleId>{5C22544A-7EE6-4342-B048-85BDC9FD1C3A}</a:tableStyleId>
              </a:tblPr>
              <a:tblGrid>
                <a:gridCol w="2489880">
                  <a:extLst>
                    <a:ext uri="{9D8B030D-6E8A-4147-A177-3AD203B41FA5}">
                      <a16:colId xmlns:a16="http://schemas.microsoft.com/office/drawing/2014/main" val="781002494"/>
                    </a:ext>
                  </a:extLst>
                </a:gridCol>
                <a:gridCol w="3744860">
                  <a:extLst>
                    <a:ext uri="{9D8B030D-6E8A-4147-A177-3AD203B41FA5}">
                      <a16:colId xmlns:a16="http://schemas.microsoft.com/office/drawing/2014/main" val="4260119579"/>
                    </a:ext>
                  </a:extLst>
                </a:gridCol>
                <a:gridCol w="2304142">
                  <a:extLst>
                    <a:ext uri="{9D8B030D-6E8A-4147-A177-3AD203B41FA5}">
                      <a16:colId xmlns:a16="http://schemas.microsoft.com/office/drawing/2014/main" val="931130314"/>
                    </a:ext>
                  </a:extLst>
                </a:gridCol>
              </a:tblGrid>
              <a:tr h="632778">
                <a:tc>
                  <a:txBody>
                    <a:bodyPr/>
                    <a:lstStyle/>
                    <a:p>
                      <a:pPr algn="l">
                        <a:lnSpc>
                          <a:spcPct val="107000"/>
                        </a:lnSpc>
                        <a:spcAft>
                          <a:spcPts val="0"/>
                        </a:spcAft>
                      </a:pPr>
                      <a:r>
                        <a:rPr lang="en-IN" sz="1800" dirty="0">
                          <a:effectLst/>
                          <a:latin typeface="Trebuchet MS" panose="020B0603020202020204" pitchFamily="34" charset="0"/>
                        </a:rPr>
                        <a:t>Status(State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Status Reason (Status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a:effectLst/>
                          <a:latin typeface="Trebuchet MS" panose="020B0603020202020204" pitchFamily="34" charset="0"/>
                        </a:rPr>
                        <a:t>Comment</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8782744"/>
                  </a:ext>
                </a:extLst>
              </a:tr>
              <a:tr h="662052">
                <a:tc>
                  <a:txBody>
                    <a:bodyPr/>
                    <a:lstStyle/>
                    <a:p>
                      <a:pPr algn="l">
                        <a:lnSpc>
                          <a:spcPct val="107000"/>
                        </a:lnSpc>
                        <a:spcAft>
                          <a:spcPts val="0"/>
                        </a:spcAft>
                      </a:pPr>
                      <a:r>
                        <a:rPr lang="en-IN" sz="1800">
                          <a:effectLst/>
                          <a:latin typeface="Trebuchet MS" panose="020B0603020202020204" pitchFamily="34" charset="0"/>
                        </a:rPr>
                        <a:t>Active</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New, Pending, On hold</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a:effectLst/>
                          <a:latin typeface="Trebuchet MS" panose="020B0603020202020204" pitchFamily="34" charset="0"/>
                        </a:rPr>
                        <a:t>Editable form</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943867"/>
                  </a:ext>
                </a:extLst>
              </a:tr>
              <a:tr h="632778">
                <a:tc>
                  <a:txBody>
                    <a:bodyPr/>
                    <a:lstStyle/>
                    <a:p>
                      <a:pPr algn="l">
                        <a:lnSpc>
                          <a:spcPct val="107000"/>
                        </a:lnSpc>
                        <a:spcAft>
                          <a:spcPts val="0"/>
                        </a:spcAft>
                      </a:pPr>
                      <a:r>
                        <a:rPr lang="en-IN" sz="1800">
                          <a:effectLst/>
                          <a:latin typeface="Trebuchet MS" panose="020B0603020202020204" pitchFamily="34" charset="0"/>
                        </a:rPr>
                        <a:t>Cancelled</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No Money</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32090914"/>
                  </a:ext>
                </a:extLst>
              </a:tr>
              <a:tr h="632778">
                <a:tc>
                  <a:txBody>
                    <a:bodyPr/>
                    <a:lstStyle/>
                    <a:p>
                      <a:pPr algn="l">
                        <a:lnSpc>
                          <a:spcPct val="107000"/>
                        </a:lnSpc>
                        <a:spcAft>
                          <a:spcPts val="0"/>
                        </a:spcAft>
                      </a:pPr>
                      <a:r>
                        <a:rPr lang="en-IN" sz="1800">
                          <a:effectLst/>
                          <a:latin typeface="Trebuchet MS" panose="020B0603020202020204" pitchFamily="34" charset="0"/>
                        </a:rPr>
                        <a:t>Fulfilled </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a:effectLst/>
                          <a:latin typeface="Trebuchet MS" panose="020B0603020202020204" pitchFamily="34" charset="0"/>
                        </a:rPr>
                        <a:t>Complete, Partial</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8307811"/>
                  </a:ext>
                </a:extLst>
              </a:tr>
            </a:tbl>
          </a:graphicData>
        </a:graphic>
      </p:graphicFrame>
    </p:spTree>
    <p:extLst>
      <p:ext uri="{BB962C8B-B14F-4D97-AF65-F5344CB8AC3E}">
        <p14:creationId xmlns:p14="http://schemas.microsoft.com/office/powerpoint/2010/main" val="4269220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Order and Invoice Management</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fontAlgn="base">
              <a:buFont typeface="Arial" panose="020B0604020202020204" pitchFamily="34" charset="0"/>
              <a:buChar char="•"/>
            </a:pPr>
            <a:r>
              <a:rPr lang="en-IN" b="1" dirty="0"/>
              <a:t>The Invoice Lifecycle</a:t>
            </a:r>
          </a:p>
          <a:p>
            <a:pPr marL="800089" lvl="1" indent="-342900" algn="l" fontAlgn="base">
              <a:buFont typeface="Arial" panose="020B0604020202020204" pitchFamily="34" charset="0"/>
              <a:buChar char="•"/>
            </a:pPr>
            <a:r>
              <a:rPr lang="en-IN" dirty="0">
                <a:solidFill>
                  <a:schemeClr val="bg2">
                    <a:lumMod val="50000"/>
                  </a:schemeClr>
                </a:solidFill>
              </a:rPr>
              <a:t>When Order fulfilled, by clicking on “Create Invoice” button Invoice get created for requesting the payment from customer.</a:t>
            </a:r>
          </a:p>
          <a:p>
            <a:pPr marL="342900" indent="-342900" algn="l" fontAlgn="base">
              <a:buFont typeface="Arial" panose="020B0604020202020204" pitchFamily="34" charset="0"/>
              <a:buChar char="•"/>
            </a:pPr>
            <a:r>
              <a:rPr lang="en-IN" b="1" dirty="0"/>
              <a:t>Note:</a:t>
            </a:r>
            <a:r>
              <a:rPr lang="en-IN" dirty="0"/>
              <a:t> Confirm Invoice set the status reason as Billed.</a:t>
            </a:r>
          </a:p>
          <a:p>
            <a:pPr marL="342900" indent="-342900" algn="l" fontAlgn="base">
              <a:buFont typeface="Arial" panose="020B0604020202020204" pitchFamily="34" charset="0"/>
              <a:buChar char="•"/>
            </a:pPr>
            <a:r>
              <a:rPr lang="en-IN" b="1" i="1" u="sng" dirty="0"/>
              <a:t>Reference link:</a:t>
            </a:r>
            <a:endParaRPr lang="en-IN" dirty="0"/>
          </a:p>
          <a:p>
            <a:pPr marL="342900" indent="-342900" algn="l">
              <a:buFont typeface="Arial" panose="020B0604020202020204" pitchFamily="34" charset="0"/>
              <a:buChar char="•"/>
            </a:pPr>
            <a:r>
              <a:rPr lang="en-IN" u="sng" dirty="0">
                <a:hlinkClick r:id="rId3"/>
              </a:rPr>
              <a:t>https://docs.microsoft.com/en-us/learn/modules/process-sales-orders-dynamics-365-sales/3-orders-and-invoices</a:t>
            </a:r>
            <a:endParaRPr lang="en-IN" dirty="0"/>
          </a:p>
          <a:p>
            <a:pPr marL="342900" lvl="0" indent="-342900" algn="l">
              <a:buFont typeface="Arial" panose="020B0604020202020204" pitchFamily="34" charset="0"/>
              <a:buChar char="•"/>
            </a:pPr>
            <a:endParaRPr lang="en-IN" dirty="0"/>
          </a:p>
        </p:txBody>
      </p:sp>
      <p:graphicFrame>
        <p:nvGraphicFramePr>
          <p:cNvPr id="4" name="Table 3">
            <a:extLst>
              <a:ext uri="{FF2B5EF4-FFF2-40B4-BE49-F238E27FC236}">
                <a16:creationId xmlns:a16="http://schemas.microsoft.com/office/drawing/2014/main" id="{A6AF76FF-61B0-4429-A603-AE3AEE055A9D}"/>
              </a:ext>
            </a:extLst>
          </p:cNvPr>
          <p:cNvGraphicFramePr>
            <a:graphicFrameLocks noGrp="1"/>
          </p:cNvGraphicFramePr>
          <p:nvPr>
            <p:extLst>
              <p:ext uri="{D42A27DB-BD31-4B8C-83A1-F6EECF244321}">
                <p14:modId xmlns:p14="http://schemas.microsoft.com/office/powerpoint/2010/main" val="846596650"/>
              </p:ext>
            </p:extLst>
          </p:nvPr>
        </p:nvGraphicFramePr>
        <p:xfrm>
          <a:off x="816086" y="4034116"/>
          <a:ext cx="9470913" cy="2514597"/>
        </p:xfrm>
        <a:graphic>
          <a:graphicData uri="http://schemas.openxmlformats.org/drawingml/2006/table">
            <a:tbl>
              <a:tblPr firstRow="1" firstCol="1" bandRow="1">
                <a:tableStyleId>{5C22544A-7EE6-4342-B048-85BDC9FD1C3A}</a:tableStyleId>
              </a:tblPr>
              <a:tblGrid>
                <a:gridCol w="2069269">
                  <a:extLst>
                    <a:ext uri="{9D8B030D-6E8A-4147-A177-3AD203B41FA5}">
                      <a16:colId xmlns:a16="http://schemas.microsoft.com/office/drawing/2014/main" val="4176950554"/>
                    </a:ext>
                  </a:extLst>
                </a:gridCol>
                <a:gridCol w="4549758">
                  <a:extLst>
                    <a:ext uri="{9D8B030D-6E8A-4147-A177-3AD203B41FA5}">
                      <a16:colId xmlns:a16="http://schemas.microsoft.com/office/drawing/2014/main" val="4113340177"/>
                    </a:ext>
                  </a:extLst>
                </a:gridCol>
                <a:gridCol w="2851886">
                  <a:extLst>
                    <a:ext uri="{9D8B030D-6E8A-4147-A177-3AD203B41FA5}">
                      <a16:colId xmlns:a16="http://schemas.microsoft.com/office/drawing/2014/main" val="2306420373"/>
                    </a:ext>
                  </a:extLst>
                </a:gridCol>
              </a:tblGrid>
              <a:tr h="627533">
                <a:tc>
                  <a:txBody>
                    <a:bodyPr/>
                    <a:lstStyle/>
                    <a:p>
                      <a:pPr algn="l">
                        <a:lnSpc>
                          <a:spcPct val="107000"/>
                        </a:lnSpc>
                        <a:spcAft>
                          <a:spcPts val="0"/>
                        </a:spcAft>
                      </a:pPr>
                      <a:r>
                        <a:rPr lang="en-IN" sz="1800" dirty="0">
                          <a:effectLst/>
                          <a:latin typeface="Trebuchet MS" panose="020B0603020202020204" pitchFamily="34" charset="0"/>
                        </a:rPr>
                        <a:t>Status(State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Status Reason (Status code)</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Comment</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27331804"/>
                  </a:ext>
                </a:extLst>
              </a:tr>
              <a:tr h="656564">
                <a:tc>
                  <a:txBody>
                    <a:bodyPr/>
                    <a:lstStyle/>
                    <a:p>
                      <a:pPr algn="l">
                        <a:lnSpc>
                          <a:spcPct val="107000"/>
                        </a:lnSpc>
                        <a:spcAft>
                          <a:spcPts val="0"/>
                        </a:spcAft>
                      </a:pPr>
                      <a:r>
                        <a:rPr lang="en-IN" sz="1800">
                          <a:effectLst/>
                          <a:latin typeface="Trebuchet MS" panose="020B0603020202020204" pitchFamily="34" charset="0"/>
                        </a:rPr>
                        <a:t>Active</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New, Partially shipped, Billed</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Editable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92312030"/>
                  </a:ext>
                </a:extLst>
              </a:tr>
              <a:tr h="627533">
                <a:tc>
                  <a:txBody>
                    <a:bodyPr/>
                    <a:lstStyle/>
                    <a:p>
                      <a:pPr algn="l">
                        <a:lnSpc>
                          <a:spcPct val="107000"/>
                        </a:lnSpc>
                        <a:spcAft>
                          <a:spcPts val="0"/>
                        </a:spcAft>
                      </a:pPr>
                      <a:r>
                        <a:rPr lang="en-IN" sz="1800">
                          <a:effectLst/>
                          <a:latin typeface="Trebuchet MS" panose="020B0603020202020204" pitchFamily="34" charset="0"/>
                        </a:rPr>
                        <a:t>Cancelled</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Cancelled</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0703152"/>
                  </a:ext>
                </a:extLst>
              </a:tr>
              <a:tr h="602967">
                <a:tc>
                  <a:txBody>
                    <a:bodyPr/>
                    <a:lstStyle/>
                    <a:p>
                      <a:pPr algn="l">
                        <a:lnSpc>
                          <a:spcPct val="107000"/>
                        </a:lnSpc>
                        <a:spcAft>
                          <a:spcPts val="0"/>
                        </a:spcAft>
                      </a:pPr>
                      <a:r>
                        <a:rPr lang="en-IN" sz="1800">
                          <a:effectLst/>
                          <a:latin typeface="Trebuchet MS" panose="020B0603020202020204" pitchFamily="34" charset="0"/>
                        </a:rPr>
                        <a:t>Paid</a:t>
                      </a:r>
                      <a:endParaRPr lang="en-IN" sz="18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Complete, Partial</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800" dirty="0">
                          <a:effectLst/>
                          <a:latin typeface="Trebuchet MS" panose="020B0603020202020204" pitchFamily="34" charset="0"/>
                        </a:rPr>
                        <a:t>Read Only form</a:t>
                      </a:r>
                      <a:endParaRPr lang="en-IN" sz="18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3650164"/>
                  </a:ext>
                </a:extLst>
              </a:tr>
            </a:tbl>
          </a:graphicData>
        </a:graphic>
      </p:graphicFrame>
    </p:spTree>
    <p:extLst>
      <p:ext uri="{BB962C8B-B14F-4D97-AF65-F5344CB8AC3E}">
        <p14:creationId xmlns:p14="http://schemas.microsoft.com/office/powerpoint/2010/main" val="1592136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dirty="0"/>
              <a:t>System pricing calculation work on below fields:</a:t>
            </a:r>
          </a:p>
          <a:p>
            <a:pPr marL="342900" lvl="0" indent="-342900" algn="l">
              <a:buFont typeface="Arial" panose="020B0604020202020204" pitchFamily="34" charset="0"/>
              <a:buChar char="•"/>
            </a:pPr>
            <a:r>
              <a:rPr lang="en-IN" b="1" dirty="0"/>
              <a:t>On Quote/Order Products: </a:t>
            </a:r>
            <a:r>
              <a:rPr lang="en-IN" dirty="0"/>
              <a:t>Price Per Unit, Volume Discount, Amount and Extended Amount.</a:t>
            </a:r>
          </a:p>
          <a:p>
            <a:pPr marL="342900" lvl="0" indent="-342900" algn="l">
              <a:buFont typeface="Arial" panose="020B0604020202020204" pitchFamily="34" charset="0"/>
              <a:buChar char="•"/>
            </a:pPr>
            <a:r>
              <a:rPr lang="en-IN" b="1" dirty="0"/>
              <a:t>On Quotes/Orders: </a:t>
            </a:r>
            <a:r>
              <a:rPr lang="en-IN" dirty="0"/>
              <a:t>Detail Amount, Pre-Freight Amount, Total Amount, Total Line Item Discount Amount, and Total Discount Amount.           </a:t>
            </a:r>
          </a:p>
          <a:p>
            <a:pPr marL="342900" lvl="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3216480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marL="342900" indent="-342900" algn="l">
              <a:buFont typeface="Arial" panose="020B0604020202020204" pitchFamily="34" charset="0"/>
              <a:buChar char="•"/>
            </a:pPr>
            <a:r>
              <a:rPr lang="en-IN" b="1" dirty="0">
                <a:solidFill>
                  <a:schemeClr val="bg2">
                    <a:lumMod val="50000"/>
                  </a:schemeClr>
                </a:solidFill>
              </a:rPr>
              <a:t>NOTES:</a:t>
            </a:r>
            <a:endParaRPr lang="en-IN" sz="2800" dirty="0">
              <a:solidFill>
                <a:schemeClr val="bg2">
                  <a:lumMod val="50000"/>
                </a:schemeClr>
              </a:solidFill>
            </a:endParaRPr>
          </a:p>
          <a:p>
            <a:pPr marL="800089" lvl="1" indent="-342900" algn="l">
              <a:buFont typeface="Arial" panose="020B0604020202020204" pitchFamily="34" charset="0"/>
              <a:buChar char="•"/>
            </a:pPr>
            <a:r>
              <a:rPr lang="en-IN" dirty="0">
                <a:solidFill>
                  <a:schemeClr val="bg2">
                    <a:lumMod val="50000"/>
                  </a:schemeClr>
                </a:solidFill>
              </a:rPr>
              <a:t>On Quote/Order Products the Tax is not system calculated.</a:t>
            </a:r>
            <a:endParaRPr lang="en-IN" sz="2400" dirty="0">
              <a:solidFill>
                <a:schemeClr val="bg2">
                  <a:lumMod val="50000"/>
                </a:schemeClr>
              </a:solidFill>
            </a:endParaRPr>
          </a:p>
          <a:p>
            <a:pPr marL="800089" lvl="1" indent="-342900" algn="l">
              <a:buFont typeface="Arial" panose="020B0604020202020204" pitchFamily="34" charset="0"/>
              <a:buChar char="•"/>
            </a:pPr>
            <a:r>
              <a:rPr lang="en-IN" dirty="0">
                <a:solidFill>
                  <a:schemeClr val="bg2">
                    <a:lumMod val="50000"/>
                  </a:schemeClr>
                </a:solidFill>
              </a:rPr>
              <a:t>By default, the Total Line Item Discount Amount and Total Discount Amount are not displayed on the Quote/Order form.</a:t>
            </a:r>
            <a:endParaRPr lang="en-IN" sz="2400" dirty="0">
              <a:solidFill>
                <a:schemeClr val="bg2">
                  <a:lumMod val="50000"/>
                </a:schemeClr>
              </a:solidFill>
            </a:endParaRPr>
          </a:p>
          <a:p>
            <a:pPr marL="342900" lvl="0" indent="-342900" algn="l">
              <a:buFont typeface="Arial" panose="020B0604020202020204" pitchFamily="34" charset="0"/>
              <a:buChar char="•"/>
            </a:pPr>
            <a:endParaRPr lang="en-IN" dirty="0"/>
          </a:p>
        </p:txBody>
      </p:sp>
      <p:pic>
        <p:nvPicPr>
          <p:cNvPr id="4" name="Picture 3">
            <a:extLst>
              <a:ext uri="{FF2B5EF4-FFF2-40B4-BE49-F238E27FC236}">
                <a16:creationId xmlns:a16="http://schemas.microsoft.com/office/drawing/2014/main" id="{715568FA-9BE8-4687-8645-27D0418D86B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088" y="2810436"/>
            <a:ext cx="11041626" cy="3442877"/>
          </a:xfrm>
          <a:prstGeom prst="rect">
            <a:avLst/>
          </a:prstGeom>
          <a:noFill/>
          <a:ln>
            <a:noFill/>
          </a:ln>
        </p:spPr>
      </p:pic>
    </p:spTree>
    <p:extLst>
      <p:ext uri="{BB962C8B-B14F-4D97-AF65-F5344CB8AC3E}">
        <p14:creationId xmlns:p14="http://schemas.microsoft.com/office/powerpoint/2010/main" val="24790879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fontScale="92500" lnSpcReduction="10000"/>
          </a:bodyPr>
          <a:lstStyle/>
          <a:p>
            <a:pPr marL="342900" indent="-342900" algn="l">
              <a:buFont typeface="Arial" panose="020B0604020202020204" pitchFamily="34" charset="0"/>
              <a:buChar char="•"/>
            </a:pPr>
            <a:r>
              <a:rPr lang="en-IN" sz="2600" b="1" dirty="0">
                <a:highlight>
                  <a:srgbClr val="FFFF00"/>
                </a:highlight>
              </a:rPr>
              <a:t>The pricing fields for Quote/Order products are calculated as follows:</a:t>
            </a:r>
            <a:endParaRPr lang="en-IN" sz="2600" dirty="0">
              <a:highlight>
                <a:srgbClr val="FFFF00"/>
              </a:highlight>
            </a:endParaRPr>
          </a:p>
          <a:p>
            <a:pPr marL="457200" indent="-457200" algn="l">
              <a:buFont typeface="+mj-lt"/>
              <a:buAutoNum type="arabicPeriod"/>
            </a:pPr>
            <a:r>
              <a:rPr lang="en-IN" sz="2600" b="1" dirty="0">
                <a:solidFill>
                  <a:schemeClr val="bg2">
                    <a:lumMod val="50000"/>
                  </a:schemeClr>
                </a:solidFill>
              </a:rPr>
              <a:t>Price per unit: </a:t>
            </a:r>
          </a:p>
          <a:p>
            <a:pPr lvl="1" algn="l"/>
            <a:r>
              <a:rPr lang="en-IN" sz="2200" dirty="0">
                <a:solidFill>
                  <a:schemeClr val="bg2">
                    <a:lumMod val="50000"/>
                  </a:schemeClr>
                </a:solidFill>
              </a:rPr>
              <a:t>When the Pricing option is set to ‘</a:t>
            </a:r>
            <a:r>
              <a:rPr lang="en-IN" sz="2200" b="1" dirty="0">
                <a:solidFill>
                  <a:schemeClr val="bg2">
                    <a:lumMod val="50000"/>
                  </a:schemeClr>
                </a:solidFill>
              </a:rPr>
              <a:t>Use Default’</a:t>
            </a:r>
            <a:r>
              <a:rPr lang="en-IN" sz="2200" dirty="0">
                <a:solidFill>
                  <a:schemeClr val="bg2">
                    <a:lumMod val="50000"/>
                  </a:schemeClr>
                </a:solidFill>
              </a:rPr>
              <a:t>, the Price Per Unit is calculated based on the configuration of the Price List Item identified using the Price List on the Quote/Order, the Product and the Unit on the Order/Quote Product. </a:t>
            </a:r>
          </a:p>
          <a:p>
            <a:pPr algn="l"/>
            <a:r>
              <a:rPr lang="en-IN" sz="2600" dirty="0">
                <a:solidFill>
                  <a:schemeClr val="bg2">
                    <a:lumMod val="50000"/>
                  </a:schemeClr>
                </a:solidFill>
              </a:rPr>
              <a:t>    The Pricing Method configured on the Price List Item could be one of the following:</a:t>
            </a:r>
          </a:p>
          <a:p>
            <a:pPr algn="l"/>
            <a:r>
              <a:rPr lang="en-IN" sz="2600" dirty="0"/>
              <a:t>• Currency Amount</a:t>
            </a:r>
            <a:br>
              <a:rPr lang="en-IN" sz="2600" dirty="0"/>
            </a:br>
            <a:r>
              <a:rPr lang="en-IN" sz="2600" dirty="0"/>
              <a:t>• Percent of List (i.e. Percent of List Price) </a:t>
            </a:r>
            <a:br>
              <a:rPr lang="en-IN" sz="2600" dirty="0"/>
            </a:br>
            <a:r>
              <a:rPr lang="en-IN" sz="2600" dirty="0"/>
              <a:t>• Percent Mark-up (of either Current Cost or Standard Cost)</a:t>
            </a:r>
            <a:br>
              <a:rPr lang="en-IN" sz="2600" dirty="0"/>
            </a:br>
            <a:r>
              <a:rPr lang="en-IN" sz="2600" dirty="0"/>
              <a:t>• Percent Margin (of either Current Cost or Standard Cost)</a:t>
            </a:r>
          </a:p>
          <a:p>
            <a:pPr algn="l"/>
            <a:r>
              <a:rPr lang="en-IN" sz="2600" dirty="0"/>
              <a:t>When the Pricing option is set to ‘</a:t>
            </a:r>
            <a:r>
              <a:rPr lang="en-IN" sz="2600" b="1" dirty="0"/>
              <a:t>Override Pricing’</a:t>
            </a:r>
            <a:r>
              <a:rPr lang="en-IN" sz="2600" dirty="0"/>
              <a:t>, as is the case when adding a Write-In Product to the Quote/Order, the Price per Unit must be manually entered by the User.</a:t>
            </a:r>
          </a:p>
          <a:p>
            <a:pPr algn="l"/>
            <a:r>
              <a:rPr lang="en-IN" sz="2600" dirty="0"/>
              <a:t> </a:t>
            </a:r>
          </a:p>
          <a:p>
            <a:pPr algn="l"/>
            <a:endParaRPr lang="en-IN" dirty="0">
              <a:solidFill>
                <a:schemeClr val="bg2">
                  <a:lumMod val="50000"/>
                </a:schemeClr>
              </a:solidFill>
            </a:endParaRPr>
          </a:p>
          <a:p>
            <a:pPr marL="1714466" lvl="3" indent="-342900" algn="l">
              <a:buFont typeface="Arial" panose="020B0604020202020204" pitchFamily="34" charset="0"/>
              <a:buChar char="•"/>
            </a:pPr>
            <a:endParaRPr lang="en-IN" dirty="0">
              <a:solidFill>
                <a:schemeClr val="bg2">
                  <a:lumMod val="50000"/>
                </a:schemeClr>
              </a:solidFill>
            </a:endParaRPr>
          </a:p>
          <a:p>
            <a:pPr marL="800089" lvl="1"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1969349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solidFill>
                  <a:schemeClr val="bg2">
                    <a:lumMod val="50000"/>
                  </a:schemeClr>
                </a:solidFill>
              </a:rPr>
              <a:t>2. </a:t>
            </a:r>
            <a:r>
              <a:rPr lang="en-IN" b="1" dirty="0"/>
              <a:t>Volume Discount</a:t>
            </a:r>
            <a:endParaRPr lang="en-IN" dirty="0"/>
          </a:p>
          <a:p>
            <a:pPr lvl="1" algn="l"/>
            <a:r>
              <a:rPr lang="en-IN" dirty="0">
                <a:solidFill>
                  <a:schemeClr val="bg2">
                    <a:lumMod val="50000"/>
                  </a:schemeClr>
                </a:solidFill>
              </a:rPr>
              <a:t>The Volume Discount is calculated if a Discount List is associated with the Price List Item and the Quantity falls within one of the Quantity Breaks configured in the Discount List.</a:t>
            </a:r>
          </a:p>
          <a:p>
            <a:pPr lvl="1" algn="l"/>
            <a:r>
              <a:rPr lang="en-IN" dirty="0">
                <a:solidFill>
                  <a:schemeClr val="bg2">
                    <a:lumMod val="50000"/>
                  </a:schemeClr>
                </a:solidFill>
              </a:rPr>
              <a:t>Discount Lists may be configured to apply the same Discount or different Discounts based on Quantity.</a:t>
            </a:r>
          </a:p>
          <a:p>
            <a:pPr lvl="1" algn="l"/>
            <a:r>
              <a:rPr lang="en-IN" dirty="0">
                <a:solidFill>
                  <a:schemeClr val="bg2">
                    <a:lumMod val="50000"/>
                  </a:schemeClr>
                </a:solidFill>
              </a:rPr>
              <a:t>The calculated Discount is a Discount on the Price per Unit and may be configured as a Percentage or as an Amount. If the Price per Unit is $1,000 and the Quantity is 10 and the Discount List associated with the Price List Item provides a 10% Discount or a $100 Discount for the specified Quantity, then the Volume Discount will be $100.</a:t>
            </a:r>
          </a:p>
          <a:p>
            <a:pPr algn="l"/>
            <a:r>
              <a:rPr lang="en-IN" dirty="0">
                <a:solidFill>
                  <a:schemeClr val="bg2">
                    <a:lumMod val="50000"/>
                  </a:schemeClr>
                </a:solidFill>
              </a:rPr>
              <a:t>3. </a:t>
            </a:r>
            <a:r>
              <a:rPr lang="en-IN" b="1" dirty="0"/>
              <a:t>Amount</a:t>
            </a:r>
            <a:endParaRPr lang="en-IN" dirty="0"/>
          </a:p>
          <a:p>
            <a:pPr lvl="1" algn="l"/>
            <a:r>
              <a:rPr lang="en-IN" dirty="0">
                <a:solidFill>
                  <a:schemeClr val="bg2">
                    <a:lumMod val="50000"/>
                  </a:schemeClr>
                </a:solidFill>
              </a:rPr>
              <a:t>The Amount is (Price per Unit - Volume Discount) * Quantity; e.g. ($1000 - $100) * 10 = $9,000.</a:t>
            </a:r>
          </a:p>
          <a:p>
            <a:pPr algn="l"/>
            <a:endParaRPr lang="en-IN" dirty="0">
              <a:solidFill>
                <a:schemeClr val="bg2">
                  <a:lumMod val="50000"/>
                </a:schemeClr>
              </a:solidFill>
            </a:endParaRPr>
          </a:p>
          <a:p>
            <a:pPr marL="1714466" lvl="3" indent="-342900" algn="l">
              <a:buFont typeface="Arial" panose="020B0604020202020204" pitchFamily="34" charset="0"/>
              <a:buChar char="•"/>
            </a:pPr>
            <a:endParaRPr lang="en-IN" dirty="0">
              <a:solidFill>
                <a:schemeClr val="bg2">
                  <a:lumMod val="50000"/>
                </a:schemeClr>
              </a:solidFill>
            </a:endParaRPr>
          </a:p>
          <a:p>
            <a:pPr marL="800089" lvl="1"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19615816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t>4. </a:t>
            </a:r>
            <a:r>
              <a:rPr lang="en-IN" b="1" dirty="0"/>
              <a:t>Extended Amount</a:t>
            </a:r>
          </a:p>
          <a:p>
            <a:pPr lvl="1" algn="l"/>
            <a:r>
              <a:rPr lang="en-IN" dirty="0">
                <a:solidFill>
                  <a:schemeClr val="bg2">
                    <a:lumMod val="50000"/>
                  </a:schemeClr>
                </a:solidFill>
              </a:rPr>
              <a:t>There are two methods by which the Extended Amount might be calculated depend on the ‘Discount Calculation Method’ setting selected under App Settings. </a:t>
            </a:r>
          </a:p>
          <a:p>
            <a:pPr lvl="1" algn="l"/>
            <a:r>
              <a:rPr lang="en-IN" dirty="0">
                <a:solidFill>
                  <a:schemeClr val="bg2">
                    <a:lumMod val="50000"/>
                  </a:schemeClr>
                </a:solidFill>
              </a:rPr>
              <a:t>By default, this setting is configured as ‘Line Item’ and results in the Extended Amount being calculated as explained:</a:t>
            </a:r>
          </a:p>
          <a:p>
            <a:pPr lvl="1" algn="l"/>
            <a:endParaRPr lang="en-IN" dirty="0">
              <a:solidFill>
                <a:schemeClr val="bg2">
                  <a:lumMod val="50000"/>
                </a:schemeClr>
              </a:solidFill>
            </a:endParaRPr>
          </a:p>
          <a:p>
            <a:pPr algn="l"/>
            <a:endParaRPr lang="en-IN" dirty="0"/>
          </a:p>
        </p:txBody>
      </p:sp>
      <p:pic>
        <p:nvPicPr>
          <p:cNvPr id="4" name="Picture 3">
            <a:extLst>
              <a:ext uri="{FF2B5EF4-FFF2-40B4-BE49-F238E27FC236}">
                <a16:creationId xmlns:a16="http://schemas.microsoft.com/office/drawing/2014/main" id="{AE085BA2-7E4D-47C2-B8F3-A899A5D24E27}"/>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402771" y="3020658"/>
            <a:ext cx="8951465" cy="2642722"/>
          </a:xfrm>
          <a:prstGeom prst="rect">
            <a:avLst/>
          </a:prstGeom>
          <a:noFill/>
          <a:ln>
            <a:solidFill>
              <a:schemeClr val="tx1"/>
            </a:solidFill>
          </a:ln>
        </p:spPr>
      </p:pic>
    </p:spTree>
    <p:extLst>
      <p:ext uri="{BB962C8B-B14F-4D97-AF65-F5344CB8AC3E}">
        <p14:creationId xmlns:p14="http://schemas.microsoft.com/office/powerpoint/2010/main" val="25008390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058693"/>
          </a:xfrm>
        </p:spPr>
        <p:txBody>
          <a:bodyPr>
            <a:normAutofit/>
          </a:bodyPr>
          <a:lstStyle/>
          <a:p>
            <a:pPr algn="l"/>
            <a:r>
              <a:rPr lang="en-IN" dirty="0"/>
              <a:t>• (((Price Per Unit - Volume Discount) * Quantity) - Discount Amount) + Tax; e.g. (($1,000 - $100) * 10) - $100) + $1,335 = $10,235. Note: In this example, the pre-Tax amount is $8,990.</a:t>
            </a:r>
          </a:p>
          <a:p>
            <a:pPr algn="l"/>
            <a:endParaRPr lang="en-IN" dirty="0"/>
          </a:p>
          <a:p>
            <a:pPr algn="l"/>
            <a:r>
              <a:rPr lang="en-IN" dirty="0"/>
              <a:t> </a:t>
            </a:r>
          </a:p>
        </p:txBody>
      </p:sp>
      <p:pic>
        <p:nvPicPr>
          <p:cNvPr id="5" name="Picture 4">
            <a:extLst>
              <a:ext uri="{FF2B5EF4-FFF2-40B4-BE49-F238E27FC236}">
                <a16:creationId xmlns:a16="http://schemas.microsoft.com/office/drawing/2014/main" id="{3F4D2B1B-487D-4586-8B8F-4C80EEA1012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087" y="2716306"/>
            <a:ext cx="10141006" cy="2703008"/>
          </a:xfrm>
          <a:prstGeom prst="rect">
            <a:avLst/>
          </a:prstGeom>
          <a:noFill/>
          <a:ln>
            <a:noFill/>
          </a:ln>
        </p:spPr>
      </p:pic>
    </p:spTree>
    <p:extLst>
      <p:ext uri="{BB962C8B-B14F-4D97-AF65-F5344CB8AC3E}">
        <p14:creationId xmlns:p14="http://schemas.microsoft.com/office/powerpoint/2010/main" val="42718258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4F88101-52ED-43F0-BB10-BB4D89903ED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087" y="4263585"/>
            <a:ext cx="9948433" cy="2306002"/>
          </a:xfrm>
          <a:prstGeom prst="rect">
            <a:avLst/>
          </a:prstGeom>
          <a:noFill/>
          <a:ln>
            <a:noFill/>
          </a:ln>
        </p:spPr>
      </p:pic>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0"/>
            <a:ext cx="11041627" cy="5278435"/>
          </a:xfrm>
        </p:spPr>
        <p:txBody>
          <a:bodyPr>
            <a:normAutofit/>
          </a:bodyPr>
          <a:lstStyle/>
          <a:p>
            <a:pPr marL="342900" indent="-342900" algn="l">
              <a:buFont typeface="Arial" panose="020B0604020202020204" pitchFamily="34" charset="0"/>
              <a:buChar char="•"/>
            </a:pPr>
            <a:r>
              <a:rPr lang="en-IN" dirty="0"/>
              <a:t>However, if the ‘Discount Calculation Method’ setting is set to ‘Per Unit’, then the Extended Amount is calculated as follows:</a:t>
            </a:r>
          </a:p>
          <a:p>
            <a:pPr algn="l"/>
            <a:r>
              <a:rPr lang="en-IN" dirty="0"/>
              <a:t>• (((Price Per Unit - Volume Discount) * Quantity) - (Quantity * Discount Amount)) + Tax; e.g. (($1,000 - $100) * 10) - (10 * $100)) + $1,200 = $9,200. Note: In this example, the pre-Tax amount is $8,000.</a:t>
            </a:r>
          </a:p>
          <a:p>
            <a:pPr algn="l"/>
            <a:r>
              <a:rPr lang="en-IN" b="1" dirty="0"/>
              <a:t>NOTE</a:t>
            </a:r>
            <a:r>
              <a:rPr lang="en-IN" dirty="0"/>
              <a:t>: The difference between the ‘Line Item’ calculation and the ‘Per Unit’ calculation is the addition of the Quantity as a multiplier of the Discount Amount.</a:t>
            </a:r>
          </a:p>
          <a:p>
            <a:pPr algn="l"/>
            <a:endParaRPr lang="en-IN" dirty="0"/>
          </a:p>
          <a:p>
            <a:pPr marL="342900" indent="-342900" algn="l">
              <a:buFont typeface="Arial" panose="020B0604020202020204" pitchFamily="34" charset="0"/>
              <a:buChar char="•"/>
            </a:pPr>
            <a:endParaRPr lang="en-IN" dirty="0"/>
          </a:p>
          <a:p>
            <a:pPr algn="l"/>
            <a:endParaRPr lang="en-IN" dirty="0"/>
          </a:p>
          <a:p>
            <a:pPr algn="l"/>
            <a:r>
              <a:rPr lang="en-IN" dirty="0"/>
              <a:t> </a:t>
            </a:r>
          </a:p>
        </p:txBody>
      </p:sp>
    </p:spTree>
    <p:extLst>
      <p:ext uri="{BB962C8B-B14F-4D97-AF65-F5344CB8AC3E}">
        <p14:creationId xmlns:p14="http://schemas.microsoft.com/office/powerpoint/2010/main" val="33424602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1"/>
            <a:ext cx="11041627" cy="4910344"/>
          </a:xfrm>
        </p:spPr>
        <p:txBody>
          <a:bodyPr>
            <a:normAutofit/>
          </a:bodyPr>
          <a:lstStyle/>
          <a:p>
            <a:pPr marL="342900" indent="-342900" algn="l">
              <a:buFont typeface="Arial" panose="020B0604020202020204" pitchFamily="34" charset="0"/>
              <a:buChar char="•"/>
            </a:pPr>
            <a:endParaRPr lang="en-IN" dirty="0"/>
          </a:p>
          <a:p>
            <a:pPr algn="l"/>
            <a:endParaRPr lang="en-IN" dirty="0"/>
          </a:p>
          <a:p>
            <a:pPr algn="l"/>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816087" y="1194620"/>
            <a:ext cx="11041627" cy="5278435"/>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r>
              <a:rPr lang="en-IN" dirty="0">
                <a:highlight>
                  <a:srgbClr val="FFFF00"/>
                </a:highlight>
              </a:rPr>
              <a:t>The pricing fields for Quotes/Orders are calculated as follows</a:t>
            </a:r>
            <a:r>
              <a:rPr lang="en-IN" b="1" i="1" u="sng" dirty="0"/>
              <a:t>:</a:t>
            </a:r>
            <a:endParaRPr lang="en-IN" dirty="0"/>
          </a:p>
          <a:p>
            <a:pPr marL="457200" indent="-457200" algn="l">
              <a:lnSpc>
                <a:spcPct val="100000"/>
              </a:lnSpc>
              <a:buFont typeface="+mj-lt"/>
              <a:buAutoNum type="arabicPeriod"/>
            </a:pPr>
            <a:r>
              <a:rPr lang="en-IN" b="1" dirty="0"/>
              <a:t>Detail Amount</a:t>
            </a:r>
          </a:p>
          <a:p>
            <a:pPr lvl="1" algn="l">
              <a:lnSpc>
                <a:spcPct val="100000"/>
              </a:lnSpc>
            </a:pPr>
            <a:r>
              <a:rPr lang="en-IN" dirty="0">
                <a:solidFill>
                  <a:schemeClr val="bg2">
                    <a:lumMod val="50000"/>
                  </a:schemeClr>
                </a:solidFill>
              </a:rPr>
              <a:t>The Detail Amount is the sum of the ((Amount - Discount) + Tax) from all the related Quote/Order Products; e.g. $26,700. The Detail Amount is Tax Exclusive, i.e. it is not the sum of the Extended Amount from all the related Quote/Order Products.</a:t>
            </a:r>
          </a:p>
          <a:p>
            <a:pPr marL="457200" indent="-457200" algn="l">
              <a:lnSpc>
                <a:spcPct val="100000"/>
              </a:lnSpc>
              <a:buFont typeface="+mj-lt"/>
              <a:buAutoNum type="arabicPeriod"/>
            </a:pPr>
            <a:r>
              <a:rPr lang="en-IN" b="1" dirty="0"/>
              <a:t>Pre Freight Amount</a:t>
            </a:r>
            <a:endParaRPr lang="en-IN" dirty="0"/>
          </a:p>
          <a:p>
            <a:pPr lvl="1" algn="l">
              <a:lnSpc>
                <a:spcPct val="100000"/>
              </a:lnSpc>
            </a:pPr>
            <a:r>
              <a:rPr lang="en-IN" dirty="0">
                <a:solidFill>
                  <a:schemeClr val="bg2">
                    <a:lumMod val="50000"/>
                  </a:schemeClr>
                </a:solidFill>
              </a:rPr>
              <a:t>The Pre-Freight Amount is (Detail Amount - Discount Percent) - Discount Amount; e.g. ($26,700 - 10%) - $2,670 = $21,360.</a:t>
            </a:r>
          </a:p>
          <a:p>
            <a:pPr lvl="1" algn="l">
              <a:lnSpc>
                <a:spcPct val="100000"/>
              </a:lnSpc>
            </a:pPr>
            <a:r>
              <a:rPr lang="en-IN" dirty="0">
                <a:solidFill>
                  <a:schemeClr val="bg2">
                    <a:lumMod val="50000"/>
                  </a:schemeClr>
                </a:solidFill>
              </a:rPr>
              <a:t>It is important to know that the Discount Percent is subtracted prior to the Discount Amount</a:t>
            </a:r>
            <a:r>
              <a:rPr lang="en-IN" sz="2400" dirty="0">
                <a:solidFill>
                  <a:schemeClr val="bg2">
                    <a:lumMod val="50000"/>
                  </a:schemeClr>
                </a:solidFill>
              </a:rPr>
              <a:t>. </a:t>
            </a:r>
          </a:p>
          <a:p>
            <a:pPr algn="l">
              <a:lnSpc>
                <a:spcPct val="100000"/>
              </a:lnSpc>
            </a:pPr>
            <a:r>
              <a:rPr lang="en-IN" sz="2800" dirty="0">
                <a:solidFill>
                  <a:schemeClr val="bg2">
                    <a:lumMod val="50000"/>
                  </a:schemeClr>
                </a:solidFill>
              </a:rPr>
              <a:t>3.</a:t>
            </a:r>
            <a:r>
              <a:rPr lang="en-IN" b="1" dirty="0"/>
              <a:t> Total Tax</a:t>
            </a:r>
          </a:p>
          <a:p>
            <a:pPr lvl="1" algn="l">
              <a:lnSpc>
                <a:spcPct val="100000"/>
              </a:lnSpc>
            </a:pPr>
            <a:r>
              <a:rPr lang="en-IN" dirty="0">
                <a:solidFill>
                  <a:schemeClr val="bg2">
                    <a:lumMod val="50000"/>
                  </a:schemeClr>
                </a:solidFill>
              </a:rPr>
              <a:t>The Total Tax is the sum of the Tax from all the related Quote/Order Products; e.g. $4,005.</a:t>
            </a:r>
          </a:p>
          <a:p>
            <a:pPr algn="l">
              <a:lnSpc>
                <a:spcPct val="100000"/>
              </a:lnSpc>
            </a:pPr>
            <a:endParaRPr lang="en-IN" dirty="0"/>
          </a:p>
          <a:p>
            <a:pPr algn="l">
              <a:lnSpc>
                <a:spcPct val="100000"/>
              </a:lnSpc>
            </a:pPr>
            <a:endParaRPr lang="en-IN" sz="2800" dirty="0">
              <a:solidFill>
                <a:schemeClr val="bg2">
                  <a:lumMod val="50000"/>
                </a:schemeClr>
              </a:solidFill>
            </a:endParaRPr>
          </a:p>
          <a:p>
            <a:pPr algn="l">
              <a:lnSpc>
                <a:spcPct val="100000"/>
              </a:lnSpc>
            </a:pPr>
            <a:endParaRPr lang="en-IN" dirty="0">
              <a:solidFill>
                <a:schemeClr val="bg2">
                  <a:lumMod val="50000"/>
                </a:schemeClr>
              </a:solidFill>
            </a:endParaRPr>
          </a:p>
          <a:p>
            <a:pPr lvl="1" algn="l">
              <a:lnSpc>
                <a:spcPct val="100000"/>
              </a:lnSpc>
            </a:pPr>
            <a:endParaRPr lang="en-IN" sz="2400" dirty="0">
              <a:solidFill>
                <a:schemeClr val="bg2">
                  <a:lumMod val="50000"/>
                </a:schemeClr>
              </a:solidFill>
            </a:endParaRPr>
          </a:p>
          <a:p>
            <a:pPr marL="457200" indent="-457200" algn="l">
              <a:lnSpc>
                <a:spcPct val="100000"/>
              </a:lnSpc>
              <a:buFont typeface="+mj-lt"/>
              <a:buAutoNum type="arabicPeriod"/>
            </a:pPr>
            <a:endParaRPr lang="en-IN" dirty="0"/>
          </a:p>
          <a:p>
            <a:pPr algn="l">
              <a:lnSpc>
                <a:spcPct val="100000"/>
              </a:lnSpc>
            </a:pPr>
            <a:endParaRPr lang="en-IN" dirty="0"/>
          </a:p>
          <a:p>
            <a:pPr marL="342900" indent="-342900" algn="l">
              <a:lnSpc>
                <a:spcPct val="100000"/>
              </a:lnSpc>
              <a:buFont typeface="Arial" panose="020B0604020202020204" pitchFamily="34" charset="0"/>
              <a:buChar char="•"/>
            </a:pPr>
            <a:endParaRPr lang="en-IN" dirty="0"/>
          </a:p>
          <a:p>
            <a:pPr algn="l">
              <a:lnSpc>
                <a:spcPct val="100000"/>
              </a:lnSpc>
            </a:pPr>
            <a:endParaRPr lang="en-IN" dirty="0"/>
          </a:p>
          <a:p>
            <a:pPr algn="l">
              <a:lnSpc>
                <a:spcPct val="100000"/>
              </a:lnSpc>
            </a:pPr>
            <a:r>
              <a:rPr lang="en-IN" dirty="0"/>
              <a:t> </a:t>
            </a:r>
          </a:p>
        </p:txBody>
      </p:sp>
    </p:spTree>
    <p:extLst>
      <p:ext uri="{BB962C8B-B14F-4D97-AF65-F5344CB8AC3E}">
        <p14:creationId xmlns:p14="http://schemas.microsoft.com/office/powerpoint/2010/main" val="34750441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rmAutofit/>
          </a:bodyPr>
          <a:lstStyle/>
          <a:p>
            <a:pPr lvl="0"/>
            <a:r>
              <a:rPr lang="en-IN" dirty="0"/>
              <a:t>System Pricing Calculations</a:t>
            </a:r>
            <a:endParaRPr lang="en-IN" sz="3200" dirty="0"/>
          </a:p>
        </p:txBody>
      </p:sp>
      <p:sp>
        <p:nvSpPr>
          <p:cNvPr id="3" name="Subtitle 2"/>
          <p:cNvSpPr>
            <a:spLocks noGrp="1"/>
          </p:cNvSpPr>
          <p:nvPr>
            <p:ph type="subTitle" idx="1"/>
          </p:nvPr>
        </p:nvSpPr>
        <p:spPr>
          <a:xfrm>
            <a:off x="816087" y="1194621"/>
            <a:ext cx="11041627" cy="4910344"/>
          </a:xfrm>
        </p:spPr>
        <p:txBody>
          <a:bodyPr>
            <a:normAutofit/>
          </a:bodyPr>
          <a:lstStyle/>
          <a:p>
            <a:pPr marL="342900" indent="-342900" algn="l">
              <a:buFont typeface="Arial" panose="020B0604020202020204" pitchFamily="34" charset="0"/>
              <a:buChar char="•"/>
            </a:pPr>
            <a:endParaRPr lang="en-IN" dirty="0"/>
          </a:p>
          <a:p>
            <a:pPr algn="l"/>
            <a:endParaRPr lang="en-IN" dirty="0"/>
          </a:p>
          <a:p>
            <a:pPr algn="l"/>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816087" y="1194620"/>
            <a:ext cx="11041627" cy="5278435"/>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IN" b="1" dirty="0"/>
              <a:t>4. Total Amount</a:t>
            </a:r>
            <a:endParaRPr lang="en-IN" dirty="0"/>
          </a:p>
          <a:p>
            <a:pPr lvl="1" algn="l"/>
            <a:r>
              <a:rPr lang="en-IN" sz="2400" dirty="0">
                <a:solidFill>
                  <a:schemeClr val="bg2">
                    <a:lumMod val="50000"/>
                  </a:schemeClr>
                </a:solidFill>
              </a:rPr>
              <a:t>The Total Amount is Pre-Freight Amount + Freight Amount + Total Tax; e.g. $21,360 + $0 + $4,005 = $25,365.</a:t>
            </a:r>
          </a:p>
          <a:p>
            <a:pPr algn="l"/>
            <a:r>
              <a:rPr lang="en-IN" b="1" dirty="0"/>
              <a:t>5. Total Line Item Discount Amount</a:t>
            </a:r>
            <a:endParaRPr lang="en-IN" dirty="0"/>
          </a:p>
          <a:p>
            <a:pPr lvl="1" algn="l"/>
            <a:r>
              <a:rPr lang="en-IN" sz="2400" dirty="0">
                <a:solidFill>
                  <a:schemeClr val="bg2">
                    <a:lumMod val="50000"/>
                  </a:schemeClr>
                </a:solidFill>
              </a:rPr>
              <a:t>The Total Line Item Discount Amount is the sum of the Manual Discount from all the related Quote/Order Products; e.g. $300.00</a:t>
            </a:r>
          </a:p>
          <a:p>
            <a:pPr algn="l"/>
            <a:r>
              <a:rPr lang="en-IN" b="1" dirty="0"/>
              <a:t>6. Total Discount Amount</a:t>
            </a:r>
            <a:endParaRPr lang="en-IN" dirty="0"/>
          </a:p>
          <a:p>
            <a:pPr lvl="1" algn="l"/>
            <a:r>
              <a:rPr lang="en-IN" sz="2400" dirty="0">
                <a:solidFill>
                  <a:schemeClr val="bg2">
                    <a:lumMod val="50000"/>
                  </a:schemeClr>
                </a:solidFill>
              </a:rPr>
              <a:t>The Total Discount Amount is the sum of the Total Line Item Discount Amount + Discount Percent + Discount Amount; e.g. $2,670 + $2,670 + $300 = $5,640.</a:t>
            </a:r>
          </a:p>
          <a:p>
            <a:pPr lvl="1" algn="l">
              <a:lnSpc>
                <a:spcPct val="100000"/>
              </a:lnSpc>
            </a:pPr>
            <a:endParaRPr lang="en-IN" sz="2400" dirty="0">
              <a:solidFill>
                <a:schemeClr val="bg2">
                  <a:lumMod val="50000"/>
                </a:schemeClr>
              </a:solidFill>
            </a:endParaRPr>
          </a:p>
          <a:p>
            <a:pPr algn="l">
              <a:lnSpc>
                <a:spcPct val="100000"/>
              </a:lnSpc>
            </a:pPr>
            <a:endParaRPr lang="en-IN" sz="2800" dirty="0">
              <a:solidFill>
                <a:schemeClr val="bg2">
                  <a:lumMod val="50000"/>
                </a:schemeClr>
              </a:solidFill>
            </a:endParaRPr>
          </a:p>
          <a:p>
            <a:pPr algn="l">
              <a:lnSpc>
                <a:spcPct val="100000"/>
              </a:lnSpc>
            </a:pPr>
            <a:endParaRPr lang="en-IN" dirty="0">
              <a:solidFill>
                <a:schemeClr val="bg2">
                  <a:lumMod val="50000"/>
                </a:schemeClr>
              </a:solidFill>
            </a:endParaRPr>
          </a:p>
          <a:p>
            <a:pPr lvl="1" algn="l">
              <a:lnSpc>
                <a:spcPct val="100000"/>
              </a:lnSpc>
            </a:pPr>
            <a:endParaRPr lang="en-IN" sz="2400" dirty="0">
              <a:solidFill>
                <a:schemeClr val="bg2">
                  <a:lumMod val="50000"/>
                </a:schemeClr>
              </a:solidFill>
            </a:endParaRPr>
          </a:p>
          <a:p>
            <a:pPr marL="457200" indent="-457200" algn="l">
              <a:lnSpc>
                <a:spcPct val="100000"/>
              </a:lnSpc>
              <a:buFont typeface="+mj-lt"/>
              <a:buAutoNum type="arabicPeriod"/>
            </a:pPr>
            <a:endParaRPr lang="en-IN" dirty="0"/>
          </a:p>
          <a:p>
            <a:pPr algn="l">
              <a:lnSpc>
                <a:spcPct val="100000"/>
              </a:lnSpc>
            </a:pPr>
            <a:endParaRPr lang="en-IN" dirty="0"/>
          </a:p>
          <a:p>
            <a:pPr marL="342900" indent="-342900" algn="l">
              <a:lnSpc>
                <a:spcPct val="100000"/>
              </a:lnSpc>
              <a:buFont typeface="Arial" panose="020B0604020202020204" pitchFamily="34" charset="0"/>
              <a:buChar char="•"/>
            </a:pPr>
            <a:endParaRPr lang="en-IN" dirty="0"/>
          </a:p>
          <a:p>
            <a:pPr algn="l">
              <a:lnSpc>
                <a:spcPct val="100000"/>
              </a:lnSpc>
            </a:pPr>
            <a:endParaRPr lang="en-IN" dirty="0"/>
          </a:p>
          <a:p>
            <a:pPr algn="l">
              <a:lnSpc>
                <a:spcPct val="100000"/>
              </a:lnSpc>
            </a:pPr>
            <a:r>
              <a:rPr lang="en-IN" dirty="0"/>
              <a:t> </a:t>
            </a:r>
          </a:p>
        </p:txBody>
      </p:sp>
    </p:spTree>
    <p:extLst>
      <p:ext uri="{BB962C8B-B14F-4D97-AF65-F5344CB8AC3E}">
        <p14:creationId xmlns:p14="http://schemas.microsoft.com/office/powerpoint/2010/main" val="17160293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sz="3200" dirty="0"/>
              <a:t>Other References: BizAppsGuru Video links:</a:t>
            </a:r>
          </a:p>
        </p:txBody>
      </p:sp>
      <p:sp>
        <p:nvSpPr>
          <p:cNvPr id="3" name="Subtitle 2"/>
          <p:cNvSpPr>
            <a:spLocks noGrp="1"/>
          </p:cNvSpPr>
          <p:nvPr>
            <p:ph type="subTitle" idx="1"/>
          </p:nvPr>
        </p:nvSpPr>
        <p:spPr>
          <a:xfrm>
            <a:off x="816087" y="1194621"/>
            <a:ext cx="11041627" cy="4910344"/>
          </a:xfrm>
        </p:spPr>
        <p:txBody>
          <a:bodyPr>
            <a:normAutofit/>
          </a:bodyPr>
          <a:lstStyle/>
          <a:p>
            <a:pPr marL="342900" indent="-342900" algn="l">
              <a:buFont typeface="Arial" panose="020B0604020202020204" pitchFamily="34" charset="0"/>
              <a:buChar char="•"/>
            </a:pPr>
            <a:endParaRPr lang="en-IN" dirty="0"/>
          </a:p>
          <a:p>
            <a:pPr algn="l"/>
            <a:endParaRPr lang="en-IN" dirty="0"/>
          </a:p>
          <a:p>
            <a:pPr algn="l"/>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816087" y="1194620"/>
            <a:ext cx="11041627" cy="5278435"/>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IN" u="sng" dirty="0">
                <a:hlinkClick r:id="rId3"/>
              </a:rPr>
              <a:t>https://www.youtube.com/watch?v=LLxBzRETYKU&amp;list=PLjsvdMzSVSzXqJcIZyKjg5W79wIKIAnvQ&amp;index=2</a:t>
            </a:r>
            <a:r>
              <a:rPr lang="en-IN" dirty="0"/>
              <a:t> </a:t>
            </a:r>
          </a:p>
          <a:p>
            <a:pPr marL="342900" indent="-342900" algn="l">
              <a:buFont typeface="Arial" panose="020B0604020202020204" pitchFamily="34" charset="0"/>
              <a:buChar char="•"/>
            </a:pPr>
            <a:r>
              <a:rPr lang="en-IN" u="sng" dirty="0">
                <a:hlinkClick r:id="rId4"/>
              </a:rPr>
              <a:t>https://www.youtube.com/watch?v=xIS7xxnxtNY&amp;list=PLjsvdMzSVSzXqJcIZyKjg5W79wIKIAnvQ&amp;index=3</a:t>
            </a:r>
            <a:r>
              <a:rPr lang="en-IN" dirty="0"/>
              <a:t> </a:t>
            </a:r>
          </a:p>
          <a:p>
            <a:pPr marL="342900" indent="-342900" algn="l">
              <a:buFont typeface="Arial" panose="020B0604020202020204" pitchFamily="34" charset="0"/>
              <a:buChar char="•"/>
            </a:pPr>
            <a:r>
              <a:rPr lang="en-IN" u="sng" dirty="0">
                <a:hlinkClick r:id="rId5"/>
              </a:rPr>
              <a:t>https://www.youtube.com/watch?v=7YJZJEZzFdI&amp;list=PLjsvdMzSVSzXqJcIZyKjg5W79wIKIAnvQ&amp;index=6</a:t>
            </a:r>
            <a:r>
              <a:rPr lang="en-IN" dirty="0"/>
              <a:t> </a:t>
            </a:r>
          </a:p>
          <a:p>
            <a:pPr marL="457200" indent="-457200" algn="l">
              <a:lnSpc>
                <a:spcPct val="100000"/>
              </a:lnSpc>
              <a:buFont typeface="Arial" panose="020B0604020202020204" pitchFamily="34" charset="0"/>
              <a:buChar char="•"/>
            </a:pPr>
            <a:endParaRPr lang="en-IN" sz="2800" dirty="0">
              <a:solidFill>
                <a:schemeClr val="bg2">
                  <a:lumMod val="50000"/>
                </a:schemeClr>
              </a:solidFill>
            </a:endParaRPr>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marL="800089" lvl="1" indent="-342900" algn="l">
              <a:lnSpc>
                <a:spcPct val="100000"/>
              </a:lnSpc>
              <a:buFont typeface="Arial" panose="020B0604020202020204" pitchFamily="34" charset="0"/>
              <a:buChar char="•"/>
            </a:pPr>
            <a:endParaRPr lang="en-IN" sz="2400" dirty="0">
              <a:solidFill>
                <a:schemeClr val="bg2">
                  <a:lumMod val="50000"/>
                </a:schemeClr>
              </a:solidFill>
            </a:endParaRPr>
          </a:p>
          <a:p>
            <a:pPr marL="457200" indent="-4572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r>
              <a:rPr lang="en-IN" dirty="0"/>
              <a:t> </a:t>
            </a:r>
          </a:p>
        </p:txBody>
      </p:sp>
    </p:spTree>
    <p:extLst>
      <p:ext uri="{BB962C8B-B14F-4D97-AF65-F5344CB8AC3E}">
        <p14:creationId xmlns:p14="http://schemas.microsoft.com/office/powerpoint/2010/main" val="7828119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Catalog</a:t>
            </a:r>
          </a:p>
        </p:txBody>
      </p:sp>
      <p:sp>
        <p:nvSpPr>
          <p:cNvPr id="3" name="Subtitle 2"/>
          <p:cNvSpPr>
            <a:spLocks noGrp="1"/>
          </p:cNvSpPr>
          <p:nvPr>
            <p:ph type="subTitle" idx="1"/>
          </p:nvPr>
        </p:nvSpPr>
        <p:spPr>
          <a:xfrm>
            <a:off x="816087" y="1046704"/>
            <a:ext cx="11041627" cy="4910344"/>
          </a:xfrm>
        </p:spPr>
        <p:txBody>
          <a:bodyPr>
            <a:normAutofit fontScale="25000" lnSpcReduction="20000"/>
          </a:bodyPr>
          <a:lstStyle/>
          <a:p>
            <a:pPr marL="457200" lvl="0" indent="-457200" algn="l">
              <a:lnSpc>
                <a:spcPct val="120000"/>
              </a:lnSpc>
              <a:buFont typeface="Arial" panose="020B0604020202020204" pitchFamily="34" charset="0"/>
              <a:buChar char="•"/>
            </a:pPr>
            <a:r>
              <a:rPr lang="en-IN" sz="9600" b="1" dirty="0"/>
              <a:t>Product Catalog Introduction</a:t>
            </a:r>
            <a:endParaRPr lang="en-IN" sz="9600" dirty="0"/>
          </a:p>
          <a:p>
            <a:pPr marL="457200" lvl="0" indent="-457200" algn="l">
              <a:lnSpc>
                <a:spcPct val="120000"/>
              </a:lnSpc>
              <a:buFont typeface="Arial" panose="020B0604020202020204" pitchFamily="34" charset="0"/>
              <a:buChar char="•"/>
            </a:pPr>
            <a:r>
              <a:rPr lang="en-IN" sz="9600" b="1" dirty="0"/>
              <a:t>Components of the Product Catalog</a:t>
            </a:r>
            <a:endParaRPr lang="en-IN" sz="9600" dirty="0"/>
          </a:p>
          <a:p>
            <a:pPr marL="457200" lvl="0" indent="-457200" algn="l">
              <a:lnSpc>
                <a:spcPct val="120000"/>
              </a:lnSpc>
              <a:buFont typeface="Arial" panose="020B0604020202020204" pitchFamily="34" charset="0"/>
              <a:buChar char="•"/>
            </a:pPr>
            <a:r>
              <a:rPr lang="en-IN" sz="9600" b="1" dirty="0"/>
              <a:t>Define Price list item and Pricing Method </a:t>
            </a:r>
            <a:endParaRPr lang="en-IN" sz="9600" dirty="0"/>
          </a:p>
          <a:p>
            <a:pPr marL="457200" lvl="0" indent="-457200" algn="l">
              <a:lnSpc>
                <a:spcPct val="120000"/>
              </a:lnSpc>
              <a:buFont typeface="Arial" panose="020B0604020202020204" pitchFamily="34" charset="0"/>
              <a:buChar char="•"/>
            </a:pPr>
            <a:r>
              <a:rPr lang="en-IN" sz="9600" b="1" dirty="0"/>
              <a:t>Re-parenting a product</a:t>
            </a:r>
            <a:endParaRPr lang="en-IN" sz="9600" dirty="0"/>
          </a:p>
          <a:p>
            <a:pPr marL="457200" lvl="0" indent="-457200" algn="l">
              <a:lnSpc>
                <a:spcPct val="120000"/>
              </a:lnSpc>
              <a:buFont typeface="Arial" panose="020B0604020202020204" pitchFamily="34" charset="0"/>
              <a:buChar char="•"/>
            </a:pPr>
            <a:r>
              <a:rPr lang="en-IN" sz="9600" b="1" dirty="0"/>
              <a:t>Product properties and Relationship</a:t>
            </a:r>
            <a:endParaRPr lang="en-IN" sz="9600" dirty="0"/>
          </a:p>
          <a:p>
            <a:pPr marL="457200" lvl="0" indent="-457200" algn="l">
              <a:lnSpc>
                <a:spcPct val="120000"/>
              </a:lnSpc>
              <a:buFont typeface="Arial" panose="020B0604020202020204" pitchFamily="34" charset="0"/>
              <a:buChar char="•"/>
            </a:pPr>
            <a:r>
              <a:rPr lang="en-IN" sz="9600" b="1" dirty="0"/>
              <a:t>Publishing, Cloning, Revising, and Retiring Products</a:t>
            </a:r>
            <a:endParaRPr lang="en-IN" sz="9600" dirty="0"/>
          </a:p>
          <a:p>
            <a:pPr marL="457200" lvl="0" indent="-457200" algn="l">
              <a:lnSpc>
                <a:spcPct val="120000"/>
              </a:lnSpc>
              <a:buFont typeface="Arial" panose="020B0604020202020204" pitchFamily="34" charset="0"/>
              <a:buChar char="•"/>
            </a:pPr>
            <a:r>
              <a:rPr lang="en-IN" sz="9600" b="1" dirty="0"/>
              <a:t>Prices Calculations for Product Bundles</a:t>
            </a:r>
            <a:endParaRPr lang="en-IN" sz="9600" dirty="0"/>
          </a:p>
          <a:p>
            <a:pPr marL="457200" lvl="0" indent="-457200" algn="l">
              <a:lnSpc>
                <a:spcPct val="120000"/>
              </a:lnSpc>
              <a:buFont typeface="Arial" panose="020B0604020202020204" pitchFamily="34" charset="0"/>
              <a:buChar char="•"/>
            </a:pPr>
            <a:r>
              <a:rPr lang="en-IN" sz="9600" b="1" dirty="0"/>
              <a:t>Enhanced experience for adding products</a:t>
            </a:r>
            <a:endParaRPr lang="en-IN" sz="9600" dirty="0"/>
          </a:p>
          <a:p>
            <a:pPr marL="457200" lvl="0" indent="-457200" algn="l">
              <a:lnSpc>
                <a:spcPct val="120000"/>
              </a:lnSpc>
              <a:buFont typeface="Arial" panose="020B0604020202020204" pitchFamily="34" charset="0"/>
              <a:buChar char="•"/>
            </a:pPr>
            <a:r>
              <a:rPr lang="en-IN" sz="9600" b="1" dirty="0"/>
              <a:t>Product Catalog settings</a:t>
            </a:r>
            <a:endParaRPr lang="en-IN" sz="9600" dirty="0"/>
          </a:p>
          <a:p>
            <a:pPr marL="457200" lvl="0" indent="-457200" algn="l">
              <a:lnSpc>
                <a:spcPct val="120000"/>
              </a:lnSpc>
              <a:buFont typeface="Arial" panose="020B0604020202020204" pitchFamily="34" charset="0"/>
              <a:buChar char="•"/>
            </a:pPr>
            <a:r>
              <a:rPr lang="en-IN" sz="9600" b="1" dirty="0"/>
              <a:t>Price Calculation for Opportunity, Quote, Order, and Invoice records</a:t>
            </a:r>
            <a:endParaRPr lang="en-IN" sz="9600" dirty="0"/>
          </a:p>
          <a:p>
            <a:pPr marL="342900" indent="-342900" algn="l">
              <a:buFont typeface="Arial" panose="020B0604020202020204" pitchFamily="34" charset="0"/>
              <a:buChar char="•"/>
            </a:pPr>
            <a:endParaRPr lang="en-IN" dirty="0"/>
          </a:p>
          <a:p>
            <a:pPr algn="l"/>
            <a:endParaRPr lang="en-IN" dirty="0"/>
          </a:p>
          <a:p>
            <a:pPr algn="l"/>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sz="2800" dirty="0">
              <a:solidFill>
                <a:schemeClr val="bg2">
                  <a:lumMod val="50000"/>
                </a:schemeClr>
              </a:solidFill>
            </a:endParaRPr>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marL="800089" lvl="1" indent="-342900" algn="l">
              <a:lnSpc>
                <a:spcPct val="100000"/>
              </a:lnSpc>
              <a:buFont typeface="Arial" panose="020B0604020202020204" pitchFamily="34" charset="0"/>
              <a:buChar char="•"/>
            </a:pPr>
            <a:endParaRPr lang="en-IN" sz="2400" dirty="0">
              <a:solidFill>
                <a:schemeClr val="bg2">
                  <a:lumMod val="50000"/>
                </a:schemeClr>
              </a:solidFill>
            </a:endParaRPr>
          </a:p>
          <a:p>
            <a:pPr marL="457200" indent="-4572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algn="l">
              <a:lnSpc>
                <a:spcPct val="100000"/>
              </a:lnSpc>
            </a:pPr>
            <a:r>
              <a:rPr lang="en-IN" dirty="0"/>
              <a:t> </a:t>
            </a:r>
          </a:p>
        </p:txBody>
      </p:sp>
    </p:spTree>
    <p:extLst>
      <p:ext uri="{BB962C8B-B14F-4D97-AF65-F5344CB8AC3E}">
        <p14:creationId xmlns:p14="http://schemas.microsoft.com/office/powerpoint/2010/main" val="23768924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Catalog Introduction</a:t>
            </a:r>
          </a:p>
        </p:txBody>
      </p:sp>
      <p:sp>
        <p:nvSpPr>
          <p:cNvPr id="3" name="Subtitle 2"/>
          <p:cNvSpPr>
            <a:spLocks noGrp="1"/>
          </p:cNvSpPr>
          <p:nvPr>
            <p:ph type="subTitle" idx="1"/>
          </p:nvPr>
        </p:nvSpPr>
        <p:spPr>
          <a:xfrm>
            <a:off x="816087" y="1046704"/>
            <a:ext cx="11041627" cy="4910344"/>
          </a:xfrm>
        </p:spPr>
        <p:txBody>
          <a:bodyPr>
            <a:normAutofit fontScale="40000" lnSpcReduction="20000"/>
          </a:bodyPr>
          <a:lstStyle/>
          <a:p>
            <a:pPr marL="342900" indent="-342900" algn="l">
              <a:lnSpc>
                <a:spcPct val="120000"/>
              </a:lnSpc>
              <a:buFont typeface="Arial" panose="020B0604020202020204" pitchFamily="34" charset="0"/>
              <a:buChar char="•"/>
            </a:pPr>
            <a:r>
              <a:rPr lang="en-IN" sz="6000" dirty="0"/>
              <a:t>A product Catalog is a collection of products and services that an organization sells and provides to customers. It includes pricing information. A typical product catalog not only includes a list of the products that an organization sells but also defines different pricing tiers, like retail and wholesale, and quantity levels on how a product will be sold.</a:t>
            </a:r>
          </a:p>
          <a:p>
            <a:pPr marL="342900" indent="-342900" algn="l">
              <a:lnSpc>
                <a:spcPct val="120000"/>
              </a:lnSpc>
              <a:buFont typeface="Arial" panose="020B0604020202020204" pitchFamily="34" charset="0"/>
              <a:buChar char="•"/>
            </a:pPr>
            <a:r>
              <a:rPr lang="en-IN" sz="6000" dirty="0"/>
              <a:t>Microsoft Dynamics 365 includes a product catalog that lets organizations create a rich product classification system that supports the following actions:</a:t>
            </a:r>
          </a:p>
          <a:p>
            <a:pPr marL="342900" indent="-342900" algn="l">
              <a:buFont typeface="Arial" panose="020B0604020202020204" pitchFamily="34" charset="0"/>
              <a:buChar char="•"/>
            </a:pPr>
            <a:endParaRPr lang="en-IN" dirty="0"/>
          </a:p>
          <a:p>
            <a:pPr marL="342900" indent="-342900" algn="l">
              <a:buFont typeface="Arial" panose="020B0604020202020204" pitchFamily="34" charset="0"/>
              <a:buChar char="•"/>
            </a:pPr>
            <a:endParaRPr lang="en-IN" dirty="0"/>
          </a:p>
          <a:p>
            <a:pPr algn="l"/>
            <a:endParaRPr lang="en-IN" dirty="0"/>
          </a:p>
          <a:p>
            <a:pPr algn="l"/>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1913596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Catalog Introduction</a:t>
            </a:r>
          </a:p>
        </p:txBody>
      </p:sp>
      <p:sp>
        <p:nvSpPr>
          <p:cNvPr id="3" name="Subtitle 2"/>
          <p:cNvSpPr>
            <a:spLocks noGrp="1"/>
          </p:cNvSpPr>
          <p:nvPr>
            <p:ph type="subTitle" idx="1"/>
          </p:nvPr>
        </p:nvSpPr>
        <p:spPr>
          <a:xfrm>
            <a:off x="816087" y="1046704"/>
            <a:ext cx="11041627" cy="4910344"/>
          </a:xfrm>
        </p:spPr>
        <p:txBody>
          <a:bodyPr>
            <a:noAutofit/>
          </a:bodyPr>
          <a:lstStyle/>
          <a:p>
            <a:pPr marL="342900" indent="-342900" algn="l">
              <a:lnSpc>
                <a:spcPct val="120000"/>
              </a:lnSpc>
              <a:buFont typeface="Arial" panose="020B0604020202020204" pitchFamily="34" charset="0"/>
              <a:buChar char="•"/>
            </a:pPr>
            <a:r>
              <a:rPr lang="en-IN" dirty="0"/>
              <a:t>Define a hierarchical structure of product families and products that have configurable properties (attributes). These attributes help you reduce the number of product stock-keeping units (SKUs) that are required to maintain your product catalog.</a:t>
            </a:r>
          </a:p>
          <a:p>
            <a:pPr marL="342900" indent="-342900" algn="l">
              <a:lnSpc>
                <a:spcPct val="120000"/>
              </a:lnSpc>
              <a:buFont typeface="Arial" panose="020B0604020202020204" pitchFamily="34" charset="0"/>
              <a:buChar char="•"/>
            </a:pPr>
            <a:r>
              <a:rPr lang="en-IN" dirty="0"/>
              <a:t>Sell individual products, or group them into bundles and kits. A bundle or a kit is a collection of products that are sold as a single unit. Product bundling is useful for grouping products in such a way that customers will benefit from the full line of products. It also lets you offer discounts on bundled products.</a:t>
            </a:r>
          </a:p>
          <a:p>
            <a:pPr marL="342900" indent="-342900" algn="l">
              <a:lnSpc>
                <a:spcPct val="120000"/>
              </a:lnSpc>
              <a:buFont typeface="Arial" panose="020B0604020202020204" pitchFamily="34" charset="0"/>
              <a:buChar char="•"/>
            </a:pPr>
            <a:endParaRPr lang="en-IN" dirty="0"/>
          </a:p>
          <a:p>
            <a:pPr algn="l">
              <a:lnSpc>
                <a:spcPct val="120000"/>
              </a:lnSpc>
            </a:pPr>
            <a:endParaRPr lang="en-IN" dirty="0"/>
          </a:p>
          <a:p>
            <a:pPr algn="l">
              <a:lnSpc>
                <a:spcPct val="120000"/>
              </a:lnSpc>
            </a:pPr>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6723451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Catalog Introduction</a:t>
            </a:r>
          </a:p>
        </p:txBody>
      </p:sp>
      <p:sp>
        <p:nvSpPr>
          <p:cNvPr id="3" name="Subtitle 2"/>
          <p:cNvSpPr>
            <a:spLocks noGrp="1"/>
          </p:cNvSpPr>
          <p:nvPr>
            <p:ph type="subTitle" idx="1"/>
          </p:nvPr>
        </p:nvSpPr>
        <p:spPr>
          <a:xfrm>
            <a:off x="816087" y="1046704"/>
            <a:ext cx="11041627" cy="4910344"/>
          </a:xfrm>
        </p:spPr>
        <p:txBody>
          <a:bodyPr>
            <a:noAutofit/>
          </a:bodyPr>
          <a:lstStyle/>
          <a:p>
            <a:pPr marL="342900" lvl="0" indent="-342900" algn="l">
              <a:lnSpc>
                <a:spcPct val="100000"/>
              </a:lnSpc>
              <a:buFont typeface="Arial" panose="020B0604020202020204" pitchFamily="34" charset="0"/>
              <a:buChar char="•"/>
            </a:pPr>
            <a:r>
              <a:rPr lang="en-IN" dirty="0"/>
              <a:t>Define related products in the system. (For example, these related products might be the substitute, cross-sell, up-sell, or accessory products.) The related products for a product are shown to sales agents as suggestions when they add the product to an opportunity, quote, order, or invoice.</a:t>
            </a:r>
          </a:p>
          <a:p>
            <a:pPr marL="342900" indent="-342900" algn="l">
              <a:lnSpc>
                <a:spcPct val="120000"/>
              </a:lnSpc>
              <a:buFont typeface="Arial" panose="020B0604020202020204" pitchFamily="34" charset="0"/>
              <a:buChar char="•"/>
            </a:pPr>
            <a:r>
              <a:rPr lang="en-IN" dirty="0"/>
              <a:t>Define multiple pricing and discounting models. You can also use custom pricing instead of the Dynamics 365 system pricing to calculate prices when you associate a product or bundle with an opportunity, quote, order, or invoice. Additionally, you can select whether to apply discounts for products at the per-unit level or the line level.</a:t>
            </a:r>
          </a:p>
          <a:p>
            <a:pPr marL="342900" indent="-342900" algn="l">
              <a:lnSpc>
                <a:spcPct val="120000"/>
              </a:lnSpc>
              <a:buFont typeface="Arial" panose="020B0604020202020204" pitchFamily="34" charset="0"/>
              <a:buChar char="•"/>
            </a:pPr>
            <a:endParaRPr lang="en-IN" dirty="0"/>
          </a:p>
          <a:p>
            <a:pPr algn="l">
              <a:lnSpc>
                <a:spcPct val="120000"/>
              </a:lnSpc>
            </a:pPr>
            <a:endParaRPr lang="en-IN" dirty="0"/>
          </a:p>
          <a:p>
            <a:pPr algn="l">
              <a:lnSpc>
                <a:spcPct val="120000"/>
              </a:lnSpc>
            </a:pPr>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24526478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Catalog Introduction</a:t>
            </a:r>
          </a:p>
        </p:txBody>
      </p:sp>
      <p:sp>
        <p:nvSpPr>
          <p:cNvPr id="3" name="Subtitle 2"/>
          <p:cNvSpPr>
            <a:spLocks noGrp="1"/>
          </p:cNvSpPr>
          <p:nvPr>
            <p:ph type="subTitle" idx="1"/>
          </p:nvPr>
        </p:nvSpPr>
        <p:spPr>
          <a:xfrm>
            <a:off x="816087" y="1046703"/>
            <a:ext cx="11041627" cy="4964131"/>
          </a:xfrm>
        </p:spPr>
        <p:txBody>
          <a:bodyPr>
            <a:noAutofit/>
          </a:bodyPr>
          <a:lstStyle/>
          <a:p>
            <a:pPr marL="342900" lvl="0" indent="-342900" algn="l">
              <a:lnSpc>
                <a:spcPct val="100000"/>
              </a:lnSpc>
              <a:buFont typeface="Arial" panose="020B0604020202020204" pitchFamily="34" charset="0"/>
              <a:buChar char="•"/>
            </a:pPr>
            <a:r>
              <a:rPr lang="en-IN" dirty="0"/>
              <a:t>Specify whether the price level (that is, the price list) should be automatically set for an opportunity, quote, order, or invoice, based on the user's sales territory relationship.</a:t>
            </a:r>
          </a:p>
          <a:p>
            <a:pPr marL="342900" indent="-342900" algn="l">
              <a:lnSpc>
                <a:spcPct val="100000"/>
              </a:lnSpc>
              <a:buFont typeface="Arial" panose="020B0604020202020204" pitchFamily="34" charset="0"/>
              <a:buChar char="•"/>
            </a:pPr>
            <a:r>
              <a:rPr lang="en-IN" dirty="0"/>
              <a:t>Specify localized values for some product properties (attributes) to make the product names and descriptions available in user-preferred languages.</a:t>
            </a:r>
          </a:p>
          <a:p>
            <a:pPr marL="342900" lvl="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algn="l">
              <a:lnSpc>
                <a:spcPct val="100000"/>
              </a:lnSpc>
            </a:pPr>
            <a:endParaRPr lang="en-IN" dirty="0"/>
          </a:p>
          <a:p>
            <a:pPr algn="l">
              <a:lnSpc>
                <a:spcPct val="100000"/>
              </a:lnSpc>
            </a:pPr>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2554168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Components of the Product Catalog</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The Dynamics 365 product catalog consists of four components:</a:t>
            </a:r>
          </a:p>
          <a:p>
            <a:pPr marL="342900" indent="-342900" algn="l">
              <a:lnSpc>
                <a:spcPct val="100000"/>
              </a:lnSpc>
              <a:buFont typeface="Arial" panose="020B0604020202020204" pitchFamily="34" charset="0"/>
              <a:buChar char="•"/>
            </a:pPr>
            <a:r>
              <a:rPr lang="en-IN" b="1" dirty="0"/>
              <a:t>Unit groups:</a:t>
            </a:r>
            <a:r>
              <a:rPr lang="en-IN" dirty="0"/>
              <a:t> </a:t>
            </a:r>
          </a:p>
          <a:p>
            <a:pPr lvl="1" algn="l">
              <a:lnSpc>
                <a:spcPct val="100000"/>
              </a:lnSpc>
            </a:pPr>
            <a:r>
              <a:rPr lang="en-IN" dirty="0">
                <a:solidFill>
                  <a:schemeClr val="bg2">
                    <a:lumMod val="50000"/>
                  </a:schemeClr>
                </a:solidFill>
              </a:rPr>
              <a:t>A unit group defines how a product is packaged for sale. Among other values, it defines the units of measure that the product or service is sold in. For example, an organization that sells gaming systems might sell them individually on a crate that includes 12 individual gaming systems. An organization that provides services to customers might sell its services in increments of hours, days, or weeks.</a:t>
            </a:r>
          </a:p>
          <a:p>
            <a:pPr marL="342900" indent="-342900" algn="l">
              <a:lnSpc>
                <a:spcPct val="100000"/>
              </a:lnSpc>
              <a:buFont typeface="Arial" panose="020B0604020202020204" pitchFamily="34" charset="0"/>
              <a:buChar char="•"/>
            </a:pPr>
            <a:r>
              <a:rPr lang="en-IN" b="1" dirty="0"/>
              <a:t>Products:</a:t>
            </a:r>
            <a:r>
              <a:rPr lang="en-IN" dirty="0"/>
              <a:t> </a:t>
            </a:r>
          </a:p>
          <a:p>
            <a:pPr lvl="1" algn="l">
              <a:lnSpc>
                <a:spcPct val="100000"/>
              </a:lnSpc>
            </a:pPr>
            <a:r>
              <a:rPr lang="en-IN" dirty="0">
                <a:solidFill>
                  <a:schemeClr val="bg2">
                    <a:lumMod val="50000"/>
                  </a:schemeClr>
                </a:solidFill>
              </a:rPr>
              <a:t>A product represents the type of product that a company might keep in inventory, a custom-built product, or a service that's provided to a customer. For example, a beauty salon's product list might include different hair styling products and also services like haircuts, hair colouring, and spa services.</a:t>
            </a:r>
          </a:p>
          <a:p>
            <a:pPr algn="l">
              <a:lnSpc>
                <a:spcPct val="100000"/>
              </a:lnSpc>
            </a:pPr>
            <a:endParaRPr lang="en-IN" dirty="0"/>
          </a:p>
          <a:p>
            <a:pPr lvl="0" algn="l">
              <a:lnSpc>
                <a:spcPct val="100000"/>
              </a:lnSpc>
            </a:pPr>
            <a:endParaRPr lang="en-IN" dirty="0"/>
          </a:p>
          <a:p>
            <a:pPr marL="342900" lvl="0" indent="-342900" algn="l">
              <a:lnSpc>
                <a:spcPct val="100000"/>
              </a:lnSpc>
              <a:buFont typeface="Arial" panose="020B0604020202020204" pitchFamily="34" charset="0"/>
              <a:buChar char="•"/>
            </a:pPr>
            <a:endParaRPr lang="en-IN" dirty="0"/>
          </a:p>
          <a:p>
            <a:pPr marL="342900" indent="-342900" algn="l">
              <a:lnSpc>
                <a:spcPct val="100000"/>
              </a:lnSpc>
              <a:buFont typeface="Arial" panose="020B0604020202020204" pitchFamily="34" charset="0"/>
              <a:buChar char="•"/>
            </a:pPr>
            <a:endParaRPr lang="en-IN" dirty="0"/>
          </a:p>
          <a:p>
            <a:pPr algn="l">
              <a:lnSpc>
                <a:spcPct val="100000"/>
              </a:lnSpc>
            </a:pPr>
            <a:endParaRPr lang="en-IN" dirty="0"/>
          </a:p>
          <a:p>
            <a:pPr algn="l">
              <a:lnSpc>
                <a:spcPct val="100000"/>
              </a:lnSpc>
            </a:pPr>
            <a:r>
              <a:rPr lang="en-IN" dirty="0"/>
              <a:t> </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24629361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Components of the Product Catalog</a:t>
            </a:r>
          </a:p>
        </p:txBody>
      </p:sp>
      <p:sp>
        <p:nvSpPr>
          <p:cNvPr id="3" name="Subtitle 2"/>
          <p:cNvSpPr>
            <a:spLocks noGrp="1"/>
          </p:cNvSpPr>
          <p:nvPr>
            <p:ph type="subTitle" idx="1"/>
          </p:nvPr>
        </p:nvSpPr>
        <p:spPr>
          <a:xfrm>
            <a:off x="816087" y="1046703"/>
            <a:ext cx="11041627" cy="4964131"/>
          </a:xfrm>
        </p:spPr>
        <p:txBody>
          <a:bodyPr>
            <a:noAutofit/>
          </a:bodyPr>
          <a:lstStyle/>
          <a:p>
            <a:pPr marL="342900" indent="-342900" algn="l">
              <a:lnSpc>
                <a:spcPct val="100000"/>
              </a:lnSpc>
              <a:buFont typeface="Arial" panose="020B0604020202020204" pitchFamily="34" charset="0"/>
              <a:buChar char="•"/>
            </a:pPr>
            <a:r>
              <a:rPr lang="en-IN" b="1" dirty="0"/>
              <a:t>Price lists:</a:t>
            </a:r>
            <a:endParaRPr lang="en-IN" dirty="0"/>
          </a:p>
          <a:p>
            <a:pPr lvl="1" algn="l">
              <a:lnSpc>
                <a:spcPct val="100000"/>
              </a:lnSpc>
            </a:pPr>
            <a:r>
              <a:rPr lang="en-IN" dirty="0">
                <a:solidFill>
                  <a:schemeClr val="bg2">
                    <a:lumMod val="50000"/>
                  </a:schemeClr>
                </a:solidFill>
              </a:rPr>
              <a:t>A price list is a set of prices that are charged for products under specific circumstances. For example, an organization might have multiple price lists to accommodate seasonal variations, specials, or the different markets that the organization sells to (like government, commercial, and education).</a:t>
            </a:r>
          </a:p>
          <a:p>
            <a:pPr marL="342900" indent="-342900" algn="l">
              <a:lnSpc>
                <a:spcPct val="100000"/>
              </a:lnSpc>
              <a:buFont typeface="Arial" panose="020B0604020202020204" pitchFamily="34" charset="0"/>
              <a:buChar char="•"/>
            </a:pPr>
            <a:r>
              <a:rPr lang="en-IN" b="1" dirty="0"/>
              <a:t>Discount lists:</a:t>
            </a:r>
          </a:p>
          <a:p>
            <a:pPr lvl="1" algn="l">
              <a:lnSpc>
                <a:spcPct val="100000"/>
              </a:lnSpc>
            </a:pPr>
            <a:r>
              <a:rPr lang="en-IN" dirty="0">
                <a:solidFill>
                  <a:schemeClr val="bg2">
                    <a:lumMod val="50000"/>
                  </a:schemeClr>
                </a:solidFill>
              </a:rPr>
              <a:t>A discount list lets organizations offer products or services at different prices, depending on the quantity that's bought. For example, a small vendor that buys five TVs to sell in its store might pay 350.00 US dollars per TV. A large vendor that buys 500 TVs to sell in multiple locations might pay 300 US dollars per TV.</a:t>
            </a:r>
          </a:p>
          <a:p>
            <a:pPr marL="342900" indent="-342900" algn="l">
              <a:lnSpc>
                <a:spcPct val="100000"/>
              </a:lnSpc>
              <a:buFont typeface="Arial" panose="020B0604020202020204" pitchFamily="34" charset="0"/>
              <a:buChar char="•"/>
            </a:pPr>
            <a:endParaRPr lang="en-IN" b="1" dirty="0"/>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7914536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Components of the Product Catalog</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b="1" i="1" dirty="0"/>
              <a:t>Note: </a:t>
            </a:r>
            <a:r>
              <a:rPr lang="en-IN" i="1" dirty="0"/>
              <a:t>Of all the components in the preceding list, only discount lists aren't required. All other components must be set up for any organization that will use the product catalog.</a:t>
            </a:r>
            <a:endParaRPr lang="en-IN" dirty="0"/>
          </a:p>
          <a:p>
            <a:pPr algn="l"/>
            <a:r>
              <a:rPr lang="en-IN" dirty="0"/>
              <a:t>Because of the way that units, discounts, and prices are linked, you must create the components in a product catalog in the following order.</a:t>
            </a:r>
          </a:p>
          <a:p>
            <a:pPr algn="l"/>
            <a:r>
              <a:rPr lang="en-IN" b="1" dirty="0"/>
              <a:t>Reference Link</a:t>
            </a:r>
            <a:r>
              <a:rPr lang="en-IN" dirty="0"/>
              <a:t>: </a:t>
            </a:r>
            <a:r>
              <a:rPr lang="en-IN" u="sng" dirty="0">
                <a:hlinkClick r:id="rId3"/>
              </a:rPr>
              <a:t>https://docs.microsoft.com/en-us/dynamics365/sales/set-up-product-catalog-walkthrough</a:t>
            </a:r>
            <a:r>
              <a:rPr lang="en-IN" dirty="0"/>
              <a:t> </a:t>
            </a:r>
          </a:p>
          <a:p>
            <a:pPr algn="l"/>
            <a:endParaRPr lang="en-IN" dirty="0"/>
          </a:p>
          <a:p>
            <a:pPr algn="l"/>
            <a:endParaRPr lang="en-IN" dirty="0"/>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19670252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Components of the Product Catalog</a:t>
            </a:r>
          </a:p>
        </p:txBody>
      </p:sp>
      <p:sp>
        <p:nvSpPr>
          <p:cNvPr id="3" name="Subtitle 2"/>
          <p:cNvSpPr>
            <a:spLocks noGrp="1"/>
          </p:cNvSpPr>
          <p:nvPr>
            <p:ph type="subTitle" idx="1"/>
          </p:nvPr>
        </p:nvSpPr>
        <p:spPr>
          <a:xfrm>
            <a:off x="816087" y="1046703"/>
            <a:ext cx="11041627" cy="4964131"/>
          </a:xfrm>
        </p:spPr>
        <p:txBody>
          <a:bodyPr>
            <a:noAutofit/>
          </a:bodyPr>
          <a:lstStyle/>
          <a:p>
            <a:pPr algn="l"/>
            <a:endParaRPr lang="en-IN" dirty="0"/>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pic>
        <p:nvPicPr>
          <p:cNvPr id="6" name="Picture 5">
            <a:extLst>
              <a:ext uri="{FF2B5EF4-FFF2-40B4-BE49-F238E27FC236}">
                <a16:creationId xmlns:a16="http://schemas.microsoft.com/office/drawing/2014/main" id="{23B7FC90-7906-4066-A163-7FE48F6364C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168594" y="1032388"/>
            <a:ext cx="3783965" cy="5556671"/>
          </a:xfrm>
          <a:prstGeom prst="rect">
            <a:avLst/>
          </a:prstGeom>
          <a:noFill/>
          <a:ln>
            <a:solidFill>
              <a:schemeClr val="tx1"/>
            </a:solidFill>
          </a:ln>
        </p:spPr>
      </p:pic>
    </p:spTree>
    <p:extLst>
      <p:ext uri="{BB962C8B-B14F-4D97-AF65-F5344CB8AC3E}">
        <p14:creationId xmlns:p14="http://schemas.microsoft.com/office/powerpoint/2010/main" val="13057527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Before products can be defined, an organization must define units to define how its products can be sold. Units are the quantities or measurements in which you sell your products or services in. For example, an organization that sells gardening supplies might sell seeds in individual packets, boxes that have multiple packets, or pallets that have multiple boxes. Each one of those selling options represents a unit. A unit group is a collection of these different units.</a:t>
            </a:r>
          </a:p>
          <a:p>
            <a:pPr algn="l"/>
            <a:r>
              <a:rPr lang="en-IN" dirty="0"/>
              <a:t>Let's look at another example, where an organization sells bottles of water.</a:t>
            </a:r>
          </a:p>
          <a:p>
            <a:pPr algn="l"/>
            <a:endParaRPr lang="en-IN" dirty="0"/>
          </a:p>
          <a:p>
            <a:pPr algn="l"/>
            <a:endParaRPr lang="en-IN" dirty="0"/>
          </a:p>
          <a:p>
            <a:pPr algn="l"/>
            <a:endParaRPr lang="en-IN" dirty="0"/>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pic>
        <p:nvPicPr>
          <p:cNvPr id="6" name="Picture 5" descr="Unit groups: Bottles of water. Each, 6 pack, 12 pack, case (24), and pallet (12 cases).">
            <a:extLst>
              <a:ext uri="{FF2B5EF4-FFF2-40B4-BE49-F238E27FC236}">
                <a16:creationId xmlns:a16="http://schemas.microsoft.com/office/drawing/2014/main" id="{9E1CC74A-E37F-4ADF-A1D1-BA32F6F64EE7}"/>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2606" y="4156044"/>
            <a:ext cx="3684270" cy="2018665"/>
          </a:xfrm>
          <a:prstGeom prst="rect">
            <a:avLst/>
          </a:prstGeom>
          <a:noFill/>
          <a:ln>
            <a:noFill/>
          </a:ln>
        </p:spPr>
      </p:pic>
    </p:spTree>
    <p:extLst>
      <p:ext uri="{BB962C8B-B14F-4D97-AF65-F5344CB8AC3E}">
        <p14:creationId xmlns:p14="http://schemas.microsoft.com/office/powerpoint/2010/main" val="1596579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A unit group has been created to define how bottles of water can be sold. A single bottle of water is represented by a unit of </a:t>
            </a:r>
            <a:r>
              <a:rPr lang="en-IN" i="1" dirty="0"/>
              <a:t>each</a:t>
            </a:r>
            <a:r>
              <a:rPr lang="en-IN" dirty="0"/>
              <a:t>. Each additional unit represents different quantities of units:</a:t>
            </a:r>
          </a:p>
          <a:p>
            <a:pPr marL="342900" lvl="0" indent="-342900" algn="l">
              <a:buFont typeface="Arial" panose="020B0604020202020204" pitchFamily="34" charset="0"/>
              <a:buChar char="•"/>
            </a:pPr>
            <a:r>
              <a:rPr lang="en-IN" b="1" dirty="0"/>
              <a:t>Each:</a:t>
            </a:r>
            <a:r>
              <a:rPr lang="en-IN" dirty="0"/>
              <a:t> This unit represents a single bottle of water.</a:t>
            </a:r>
          </a:p>
          <a:p>
            <a:pPr marL="342900" lvl="0" indent="-342900" algn="l">
              <a:buFont typeface="Arial" panose="020B0604020202020204" pitchFamily="34" charset="0"/>
              <a:buChar char="•"/>
            </a:pPr>
            <a:r>
              <a:rPr lang="en-IN" b="1" dirty="0"/>
              <a:t>6-pack:</a:t>
            </a:r>
            <a:r>
              <a:rPr lang="en-IN" dirty="0"/>
              <a:t> This unit represents six bottles of water.</a:t>
            </a:r>
          </a:p>
          <a:p>
            <a:pPr marL="342900" lvl="0" indent="-342900" algn="l">
              <a:buFont typeface="Arial" panose="020B0604020202020204" pitchFamily="34" charset="0"/>
              <a:buChar char="•"/>
            </a:pPr>
            <a:r>
              <a:rPr lang="en-IN" b="1" dirty="0"/>
              <a:t>12-pack:</a:t>
            </a:r>
            <a:r>
              <a:rPr lang="en-IN" dirty="0"/>
              <a:t> This unit represents twelve bottles of water.</a:t>
            </a:r>
          </a:p>
          <a:p>
            <a:pPr marL="342900" lvl="0" indent="-342900" algn="l">
              <a:buFont typeface="Arial" panose="020B0604020202020204" pitchFamily="34" charset="0"/>
              <a:buChar char="•"/>
            </a:pPr>
            <a:r>
              <a:rPr lang="en-IN" b="1" dirty="0"/>
              <a:t>Case:</a:t>
            </a:r>
            <a:r>
              <a:rPr lang="en-IN" dirty="0"/>
              <a:t> This unit represents 24 bottles of water.</a:t>
            </a:r>
          </a:p>
          <a:p>
            <a:pPr algn="l"/>
            <a:r>
              <a:rPr lang="en-IN" dirty="0"/>
              <a:t>Each of these units is based on single quantities. But your organization might also sell to wholesalers who deal in larger quantities. To handle this scenario, you can define a unit that's, a </a:t>
            </a:r>
            <a:r>
              <a:rPr lang="en-IN" i="1" dirty="0"/>
              <a:t>pallet</a:t>
            </a:r>
            <a:r>
              <a:rPr lang="en-IN" dirty="0"/>
              <a:t>, that represents 12 cases of water.</a:t>
            </a:r>
          </a:p>
          <a:p>
            <a:pPr marL="342900" indent="-342900" algn="l">
              <a:buFont typeface="Arial" panose="020B0604020202020204" pitchFamily="34" charset="0"/>
              <a:buChar char="•"/>
            </a:pPr>
            <a:endParaRPr lang="en-IN" dirty="0"/>
          </a:p>
          <a:p>
            <a:pPr algn="l"/>
            <a:endParaRPr lang="en-IN" dirty="0"/>
          </a:p>
          <a:p>
            <a:pPr algn="l"/>
            <a:endParaRPr lang="en-IN" dirty="0"/>
          </a:p>
          <a:p>
            <a:pPr marL="342900" indent="-342900" algn="l">
              <a:lnSpc>
                <a:spcPct val="100000"/>
              </a:lnSpc>
              <a:buFont typeface="Arial" panose="020B0604020202020204" pitchFamily="34" charset="0"/>
              <a:buChar char="•"/>
            </a:pPr>
            <a:endParaRPr lang="en-IN" dirty="0">
              <a:solidFill>
                <a:schemeClr val="bg2">
                  <a:lumMod val="50000"/>
                </a:schemeClr>
              </a:solidFill>
            </a:endParaRP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2064675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To define unit groups, go to </a:t>
            </a:r>
            <a:r>
              <a:rPr lang="en-IN" b="1" dirty="0"/>
              <a:t>App Settings</a:t>
            </a:r>
            <a:r>
              <a:rPr lang="en-IN" dirty="0"/>
              <a:t> in the Sales Hub app. For every unit group, a primary unit is defined. The primary unit usually represents a single quantity of the item that's being sold. Additional units that are added are then based on a specific number of base units. For example, an organization that sells services might define an </a:t>
            </a:r>
            <a:r>
              <a:rPr lang="en-IN" i="1" dirty="0"/>
              <a:t>hour</a:t>
            </a:r>
            <a:r>
              <a:rPr lang="en-IN" dirty="0"/>
              <a:t> as the primary unit for a unit group. This organization can then define a second unit, </a:t>
            </a:r>
            <a:r>
              <a:rPr lang="en-IN" i="1" dirty="0"/>
              <a:t>day</a:t>
            </a:r>
            <a:r>
              <a:rPr lang="en-IN" dirty="0"/>
              <a:t>, that represents eight hours.</a:t>
            </a:r>
          </a:p>
          <a:p>
            <a:pPr algn="l">
              <a:lnSpc>
                <a:spcPct val="100000"/>
              </a:lnSpc>
            </a:pPr>
            <a:r>
              <a:rPr lang="en-IN" dirty="0"/>
              <a:t>The following table expands on this example.</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graphicFrame>
        <p:nvGraphicFramePr>
          <p:cNvPr id="4" name="Table 3">
            <a:extLst>
              <a:ext uri="{FF2B5EF4-FFF2-40B4-BE49-F238E27FC236}">
                <a16:creationId xmlns:a16="http://schemas.microsoft.com/office/drawing/2014/main" id="{CCD0B5EE-6A12-4F05-A4E8-8BC11FD071AE}"/>
              </a:ext>
            </a:extLst>
          </p:cNvPr>
          <p:cNvGraphicFramePr>
            <a:graphicFrameLocks noGrp="1"/>
          </p:cNvGraphicFramePr>
          <p:nvPr>
            <p:extLst>
              <p:ext uri="{D42A27DB-BD31-4B8C-83A1-F6EECF244321}">
                <p14:modId xmlns:p14="http://schemas.microsoft.com/office/powerpoint/2010/main" val="3050956405"/>
              </p:ext>
            </p:extLst>
          </p:nvPr>
        </p:nvGraphicFramePr>
        <p:xfrm>
          <a:off x="1035723" y="4047752"/>
          <a:ext cx="7839336" cy="2104345"/>
        </p:xfrm>
        <a:graphic>
          <a:graphicData uri="http://schemas.openxmlformats.org/drawingml/2006/table">
            <a:tbl>
              <a:tblPr firstRow="1" firstCol="1" bandRow="1">
                <a:tableStyleId>{5C22544A-7EE6-4342-B048-85BDC9FD1C3A}</a:tableStyleId>
              </a:tblPr>
              <a:tblGrid>
                <a:gridCol w="2893227">
                  <a:extLst>
                    <a:ext uri="{9D8B030D-6E8A-4147-A177-3AD203B41FA5}">
                      <a16:colId xmlns:a16="http://schemas.microsoft.com/office/drawing/2014/main" val="2153118732"/>
                    </a:ext>
                  </a:extLst>
                </a:gridCol>
                <a:gridCol w="2679506">
                  <a:extLst>
                    <a:ext uri="{9D8B030D-6E8A-4147-A177-3AD203B41FA5}">
                      <a16:colId xmlns:a16="http://schemas.microsoft.com/office/drawing/2014/main" val="459330098"/>
                    </a:ext>
                  </a:extLst>
                </a:gridCol>
                <a:gridCol w="2266603">
                  <a:extLst>
                    <a:ext uri="{9D8B030D-6E8A-4147-A177-3AD203B41FA5}">
                      <a16:colId xmlns:a16="http://schemas.microsoft.com/office/drawing/2014/main" val="296178004"/>
                    </a:ext>
                  </a:extLst>
                </a:gridCol>
              </a:tblGrid>
              <a:tr h="566373">
                <a:tc>
                  <a:txBody>
                    <a:bodyPr/>
                    <a:lstStyle/>
                    <a:p>
                      <a:pPr algn="ctr">
                        <a:lnSpc>
                          <a:spcPct val="107000"/>
                        </a:lnSpc>
                        <a:spcAft>
                          <a:spcPts val="0"/>
                        </a:spcAft>
                      </a:pPr>
                      <a:r>
                        <a:rPr lang="en-IN" sz="2000" dirty="0">
                          <a:effectLst/>
                          <a:latin typeface="Trebuchet MS" panose="020B0603020202020204" pitchFamily="34" charset="0"/>
                        </a:rPr>
                        <a:t>Unit name</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Base unit</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a:effectLst/>
                          <a:latin typeface="Trebuchet MS" panose="020B0603020202020204" pitchFamily="34" charset="0"/>
                        </a:rPr>
                        <a:t>Quantity (Base units)</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3358856"/>
                  </a:ext>
                </a:extLst>
              </a:tr>
              <a:tr h="566373">
                <a:tc>
                  <a:txBody>
                    <a:bodyPr/>
                    <a:lstStyle/>
                    <a:p>
                      <a:pPr algn="ctr">
                        <a:lnSpc>
                          <a:spcPct val="107000"/>
                        </a:lnSpc>
                        <a:spcAft>
                          <a:spcPts val="0"/>
                        </a:spcAft>
                      </a:pPr>
                      <a:r>
                        <a:rPr lang="en-IN" sz="2000">
                          <a:effectLst/>
                          <a:latin typeface="Trebuchet MS" panose="020B0603020202020204" pitchFamily="34" charset="0"/>
                        </a:rPr>
                        <a:t>Hour (Primary unit)</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Not applicable</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1</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3258897"/>
                  </a:ext>
                </a:extLst>
              </a:tr>
              <a:tr h="276779">
                <a:tc>
                  <a:txBody>
                    <a:bodyPr/>
                    <a:lstStyle/>
                    <a:p>
                      <a:pPr algn="ctr">
                        <a:lnSpc>
                          <a:spcPct val="107000"/>
                        </a:lnSpc>
                        <a:spcAft>
                          <a:spcPts val="0"/>
                        </a:spcAft>
                      </a:pPr>
                      <a:r>
                        <a:rPr lang="en-IN" sz="2000">
                          <a:effectLst/>
                          <a:latin typeface="Trebuchet MS" panose="020B0603020202020204" pitchFamily="34" charset="0"/>
                        </a:rPr>
                        <a:t>Day</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a:effectLst/>
                          <a:latin typeface="Trebuchet MS" panose="020B0603020202020204" pitchFamily="34" charset="0"/>
                        </a:rPr>
                        <a:t>Hour</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8</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392963"/>
                  </a:ext>
                </a:extLst>
              </a:tr>
              <a:tr h="276779">
                <a:tc>
                  <a:txBody>
                    <a:bodyPr/>
                    <a:lstStyle/>
                    <a:p>
                      <a:pPr algn="ctr">
                        <a:lnSpc>
                          <a:spcPct val="107000"/>
                        </a:lnSpc>
                        <a:spcAft>
                          <a:spcPts val="0"/>
                        </a:spcAft>
                      </a:pPr>
                      <a:r>
                        <a:rPr lang="en-IN" sz="2000">
                          <a:effectLst/>
                          <a:latin typeface="Trebuchet MS" panose="020B0603020202020204" pitchFamily="34" charset="0"/>
                        </a:rPr>
                        <a:t>Week</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a:effectLst/>
                          <a:latin typeface="Trebuchet MS" panose="020B0603020202020204" pitchFamily="34" charset="0"/>
                        </a:rPr>
                        <a:t>Day</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5</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2339427"/>
                  </a:ext>
                </a:extLst>
              </a:tr>
              <a:tr h="276779">
                <a:tc>
                  <a:txBody>
                    <a:bodyPr/>
                    <a:lstStyle/>
                    <a:p>
                      <a:pPr algn="ctr">
                        <a:lnSpc>
                          <a:spcPct val="107000"/>
                        </a:lnSpc>
                        <a:spcAft>
                          <a:spcPts val="0"/>
                        </a:spcAft>
                      </a:pPr>
                      <a:r>
                        <a:rPr lang="en-IN" sz="2000">
                          <a:effectLst/>
                          <a:latin typeface="Trebuchet MS" panose="020B0603020202020204" pitchFamily="34" charset="0"/>
                        </a:rPr>
                        <a:t>Month</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a:effectLst/>
                          <a:latin typeface="Trebuchet MS" panose="020B0603020202020204" pitchFamily="34" charset="0"/>
                        </a:rPr>
                        <a:t>Week</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2000" dirty="0">
                          <a:effectLst/>
                          <a:latin typeface="Trebuchet MS" panose="020B0603020202020204" pitchFamily="34" charset="0"/>
                        </a:rPr>
                        <a:t>4</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96786496"/>
                  </a:ext>
                </a:extLst>
              </a:tr>
            </a:tbl>
          </a:graphicData>
        </a:graphic>
      </p:graphicFrame>
    </p:spTree>
    <p:extLst>
      <p:ext uri="{BB962C8B-B14F-4D97-AF65-F5344CB8AC3E}">
        <p14:creationId xmlns:p14="http://schemas.microsoft.com/office/powerpoint/2010/main" val="264457516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After the different unit groups that should be available have been defined, they can then be associated with individual products as they're created.</a:t>
            </a:r>
          </a:p>
          <a:p>
            <a:pPr algn="l">
              <a:lnSpc>
                <a:spcPct val="100000"/>
              </a:lnSpc>
            </a:pPr>
            <a:r>
              <a:rPr lang="en-IN" b="1" dirty="0"/>
              <a:t>Reference Link</a:t>
            </a:r>
            <a:r>
              <a:rPr lang="en-IN" dirty="0"/>
              <a:t>: </a:t>
            </a:r>
            <a:r>
              <a:rPr lang="en-IN" u="sng" dirty="0">
                <a:hlinkClick r:id="rId3"/>
              </a:rPr>
              <a:t>https://docs.microsoft.com/en-us/dynamics365/sales/create-unit-group-add-units-that-group</a:t>
            </a:r>
            <a:r>
              <a:rPr lang="en-IN" dirty="0"/>
              <a:t> </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2128907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US" b="1" dirty="0" err="1"/>
              <a:t>Unit</a:t>
            </a:r>
            <a:r>
              <a:rPr lang="en-US" dirty="0" err="1"/>
              <a:t>A</a:t>
            </a:r>
            <a:r>
              <a:rPr lang="en-US" dirty="0"/>
              <a:t> </a:t>
            </a:r>
            <a:r>
              <a:rPr lang="en-US" b="1" dirty="0"/>
              <a:t>Unit</a:t>
            </a:r>
            <a:r>
              <a:rPr lang="en-US" dirty="0"/>
              <a:t> defines a specific quantity or measurement of a product. For example:</a:t>
            </a:r>
          </a:p>
          <a:p>
            <a:pPr marL="342900" indent="-342900" algn="l">
              <a:buFont typeface="Arial" panose="020B0604020202020204" pitchFamily="34" charset="0"/>
              <a:buChar char="•"/>
            </a:pPr>
            <a:r>
              <a:rPr lang="en-US" dirty="0"/>
              <a:t>"Piece"</a:t>
            </a:r>
          </a:p>
          <a:p>
            <a:pPr marL="342900" indent="-342900" algn="l">
              <a:buFont typeface="Arial" panose="020B0604020202020204" pitchFamily="34" charset="0"/>
              <a:buChar char="•"/>
            </a:pPr>
            <a:r>
              <a:rPr lang="en-US" dirty="0"/>
              <a:t>"Box"</a:t>
            </a:r>
          </a:p>
          <a:p>
            <a:pPr marL="342900" indent="-342900" algn="l">
              <a:buFont typeface="Arial" panose="020B0604020202020204" pitchFamily="34" charset="0"/>
              <a:buChar char="•"/>
            </a:pPr>
            <a:r>
              <a:rPr lang="en-US" dirty="0"/>
              <a:t>"Dozen"</a:t>
            </a:r>
          </a:p>
          <a:p>
            <a:pPr marL="342900" indent="-342900" algn="l">
              <a:buFont typeface="Arial" panose="020B0604020202020204" pitchFamily="34" charset="0"/>
              <a:buChar char="•"/>
            </a:pPr>
            <a:r>
              <a:rPr lang="en-US" dirty="0"/>
              <a:t>"Kilogram"</a:t>
            </a:r>
          </a:p>
          <a:p>
            <a:pPr algn="l"/>
            <a:r>
              <a:rPr lang="en-US" dirty="0"/>
              <a:t>Each product is sold in one or more units, and each unit can have different pricing or quantities.</a:t>
            </a:r>
          </a:p>
          <a:p>
            <a:pPr algn="l"/>
            <a:r>
              <a:rPr lang="en-US" b="1" dirty="0"/>
              <a:t>Example:</a:t>
            </a:r>
          </a:p>
          <a:p>
            <a:pPr marL="342900" indent="-342900" algn="l">
              <a:buFont typeface="Arial" panose="020B0604020202020204" pitchFamily="34" charset="0"/>
              <a:buChar char="•"/>
            </a:pPr>
            <a:r>
              <a:rPr lang="en-US" dirty="0"/>
              <a:t>Product: </a:t>
            </a:r>
            <a:r>
              <a:rPr lang="en-US" i="1" dirty="0"/>
              <a:t>Luxury Watch</a:t>
            </a:r>
            <a:endParaRPr lang="en-US" dirty="0"/>
          </a:p>
          <a:p>
            <a:pPr marL="800089" lvl="1" indent="-342900" algn="l">
              <a:buFont typeface="Arial" panose="020B0604020202020204" pitchFamily="34" charset="0"/>
              <a:buChar char="•"/>
            </a:pPr>
            <a:r>
              <a:rPr lang="en-US" sz="2400" i="1" dirty="0">
                <a:solidFill>
                  <a:schemeClr val="tx1">
                    <a:lumMod val="50000"/>
                    <a:lumOff val="50000"/>
                  </a:schemeClr>
                </a:solidFill>
              </a:rPr>
              <a:t>Unit: Piece (1 watch)</a:t>
            </a:r>
          </a:p>
          <a:p>
            <a:pPr marL="800089" lvl="1" indent="-342900" algn="l">
              <a:buFont typeface="Arial" panose="020B0604020202020204" pitchFamily="34" charset="0"/>
              <a:buChar char="•"/>
            </a:pPr>
            <a:r>
              <a:rPr lang="en-US" sz="2400" i="1" dirty="0">
                <a:solidFill>
                  <a:schemeClr val="tx1">
                    <a:lumMod val="50000"/>
                    <a:lumOff val="50000"/>
                  </a:schemeClr>
                </a:solidFill>
              </a:rPr>
              <a:t>Unit: Box (contains 10 watches)</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361227126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US" dirty="0"/>
              <a:t>A </a:t>
            </a:r>
            <a:r>
              <a:rPr lang="en-US" b="1" dirty="0"/>
              <a:t>Unit Group</a:t>
            </a:r>
            <a:r>
              <a:rPr lang="en-US" dirty="0"/>
              <a:t> (also known as </a:t>
            </a:r>
            <a:r>
              <a:rPr lang="en-US" b="1" dirty="0"/>
              <a:t>UoM Schedule</a:t>
            </a:r>
            <a:r>
              <a:rPr lang="en-US" dirty="0"/>
              <a:t> in some versions) is a collection of units that are related to each other and define how those units convert among each other.</a:t>
            </a:r>
          </a:p>
          <a:p>
            <a:pPr algn="l"/>
            <a:r>
              <a:rPr lang="en-US" dirty="0"/>
              <a:t>Each product must be assigned to a Unit Group, and that group defines all the ways that product can be sold.</a:t>
            </a:r>
          </a:p>
          <a:p>
            <a:pPr algn="l"/>
            <a:r>
              <a:rPr lang="en-US" b="1" dirty="0"/>
              <a:t>Example:</a:t>
            </a:r>
          </a:p>
          <a:p>
            <a:pPr marL="342900" indent="-342900" algn="l">
              <a:buFont typeface="Arial" panose="020B0604020202020204" pitchFamily="34" charset="0"/>
              <a:buChar char="•"/>
            </a:pPr>
            <a:r>
              <a:rPr lang="en-US" b="1" dirty="0"/>
              <a:t>Unit Group: Watch Packaging</a:t>
            </a:r>
            <a:endParaRPr lang="en-US" dirty="0"/>
          </a:p>
          <a:p>
            <a:pPr marL="342900" indent="-342900" algn="l">
              <a:buFont typeface="Arial" panose="020B0604020202020204" pitchFamily="34" charset="0"/>
              <a:buChar char="•"/>
            </a:pPr>
            <a:r>
              <a:rPr lang="en-US" dirty="0"/>
              <a:t>Base Unit: </a:t>
            </a:r>
            <a:r>
              <a:rPr lang="en-US" i="1" dirty="0"/>
              <a:t>Piece</a:t>
            </a:r>
            <a:endParaRPr lang="en-US" dirty="0"/>
          </a:p>
          <a:p>
            <a:pPr marL="342900" indent="-342900" algn="l">
              <a:buFont typeface="Arial" panose="020B0604020202020204" pitchFamily="34" charset="0"/>
              <a:buChar char="•"/>
            </a:pPr>
            <a:r>
              <a:rPr lang="en-US" dirty="0"/>
              <a:t>Other Units:</a:t>
            </a:r>
          </a:p>
          <a:p>
            <a:pPr marL="800089" lvl="1" indent="-342900" algn="l">
              <a:buFont typeface="Arial" panose="020B0604020202020204" pitchFamily="34" charset="0"/>
              <a:buChar char="•"/>
            </a:pPr>
            <a:r>
              <a:rPr lang="en-US" sz="2400" dirty="0">
                <a:solidFill>
                  <a:schemeClr val="tx1">
                    <a:lumMod val="50000"/>
                    <a:lumOff val="50000"/>
                  </a:schemeClr>
                </a:solidFill>
              </a:rPr>
              <a:t>Box (10 pieces)</a:t>
            </a:r>
          </a:p>
          <a:p>
            <a:pPr marL="800089" lvl="1" indent="-342900" algn="l">
              <a:buFont typeface="Arial" panose="020B0604020202020204" pitchFamily="34" charset="0"/>
              <a:buChar char="•"/>
            </a:pPr>
            <a:r>
              <a:rPr lang="en-US" sz="2400" dirty="0">
                <a:solidFill>
                  <a:schemeClr val="tx1">
                    <a:lumMod val="50000"/>
                    <a:lumOff val="50000"/>
                  </a:schemeClr>
                </a:solidFill>
              </a:rPr>
              <a:t>Carton (5 boxes = 50 pieces)</a:t>
            </a:r>
          </a:p>
          <a:p>
            <a:pPr algn="l"/>
            <a:endParaRPr lang="en-US"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42156982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Unit Groups</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US" b="1" dirty="0"/>
              <a:t>Unit Groups are essential for:</a:t>
            </a:r>
          </a:p>
          <a:p>
            <a:pPr marL="342900" indent="-342900" algn="l">
              <a:buFont typeface="Arial" panose="020B0604020202020204" pitchFamily="34" charset="0"/>
              <a:buChar char="•"/>
            </a:pPr>
            <a:r>
              <a:rPr lang="en-US" dirty="0"/>
              <a:t>Pricing configuration (price per unit type)</a:t>
            </a:r>
          </a:p>
          <a:p>
            <a:pPr marL="342900" indent="-342900" algn="l">
              <a:buFont typeface="Arial" panose="020B0604020202020204" pitchFamily="34" charset="0"/>
              <a:buChar char="•"/>
            </a:pPr>
            <a:r>
              <a:rPr lang="en-US" dirty="0"/>
              <a:t>Quoting, ordering, and invoicing with appropriate quantities</a:t>
            </a:r>
          </a:p>
          <a:p>
            <a:pPr marL="342900" indent="-342900" algn="l">
              <a:buFont typeface="Arial" panose="020B0604020202020204" pitchFamily="34" charset="0"/>
              <a:buChar char="•"/>
            </a:pPr>
            <a:r>
              <a:rPr lang="en-US" dirty="0"/>
              <a:t>Ensuring consistent product data</a:t>
            </a:r>
          </a:p>
          <a:p>
            <a:pPr algn="l"/>
            <a:r>
              <a:rPr lang="en-US" b="1" dirty="0"/>
              <a:t>Relationship</a:t>
            </a:r>
          </a:p>
          <a:p>
            <a:pPr marL="342900" indent="-342900" algn="l">
              <a:buFont typeface="Arial" panose="020B0604020202020204" pitchFamily="34" charset="0"/>
              <a:buChar char="•"/>
            </a:pPr>
            <a:r>
              <a:rPr lang="en-US" dirty="0"/>
              <a:t>Each </a:t>
            </a:r>
            <a:r>
              <a:rPr lang="en-US" b="1" dirty="0"/>
              <a:t>Product</a:t>
            </a:r>
            <a:r>
              <a:rPr lang="en-US" dirty="0"/>
              <a:t> in D365 CRM must be linked to a </a:t>
            </a:r>
            <a:r>
              <a:rPr lang="en-US" b="1" dirty="0"/>
              <a:t>Unit Group</a:t>
            </a:r>
            <a:r>
              <a:rPr lang="en-US" dirty="0"/>
              <a:t>.</a:t>
            </a:r>
          </a:p>
          <a:p>
            <a:pPr marL="342900" indent="-342900" algn="l">
              <a:buFont typeface="Arial" panose="020B0604020202020204" pitchFamily="34" charset="0"/>
              <a:buChar char="•"/>
            </a:pPr>
            <a:r>
              <a:rPr lang="en-US" dirty="0"/>
              <a:t>Each </a:t>
            </a:r>
            <a:r>
              <a:rPr lang="en-US" b="1" dirty="0"/>
              <a:t>Unit Group</a:t>
            </a:r>
            <a:r>
              <a:rPr lang="en-US" dirty="0"/>
              <a:t> has a </a:t>
            </a:r>
            <a:r>
              <a:rPr lang="en-US" b="1" dirty="0"/>
              <a:t>Base Unit</a:t>
            </a:r>
            <a:r>
              <a:rPr lang="en-US" dirty="0"/>
              <a:t>.</a:t>
            </a:r>
          </a:p>
          <a:p>
            <a:pPr marL="342900" indent="-342900" algn="l">
              <a:buFont typeface="Arial" panose="020B0604020202020204" pitchFamily="34" charset="0"/>
              <a:buChar char="•"/>
            </a:pPr>
            <a:r>
              <a:rPr lang="en-US" dirty="0"/>
              <a:t>All pricing and conversions for the product are defined based on the units in that group.</a:t>
            </a:r>
          </a:p>
          <a:p>
            <a:pPr algn="l"/>
            <a:endParaRPr lang="en-US"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39084988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Discount List</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Discount lists aren't required, but they can be used to set up discounts according to the volume of products that are purchased. After a discount list is set up, it can be associated with individual items on the price lists that the organization uses. Because an organization can use many different price lists, many different pricing scenarios can be accommodated. On a price list, a discount can be applied to a price list item only for quantities that are in a specified range.</a:t>
            </a:r>
          </a:p>
          <a:p>
            <a:pPr algn="l">
              <a:lnSpc>
                <a:spcPct val="100000"/>
              </a:lnSpc>
            </a:pPr>
            <a:r>
              <a:rPr lang="en-IN" dirty="0"/>
              <a:t>For example, your standard price list includes a TV bracket that sells for $100.00. In this scenario, a discount list might specify that customers that buy a quantity between 101 and 500 get a 5-percent discount, customers that buy a quantity between 501 and 5,000 get a 10-percent discount, and customers that buy more than 5,000 get a 15-percent discount.</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Tree>
    <p:extLst>
      <p:ext uri="{BB962C8B-B14F-4D97-AF65-F5344CB8AC3E}">
        <p14:creationId xmlns:p14="http://schemas.microsoft.com/office/powerpoint/2010/main" val="11486204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Discount List</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To create discounts in the product catalog, select </a:t>
            </a:r>
            <a:r>
              <a:rPr lang="en-IN" b="1" dirty="0"/>
              <a:t>Discount Lists</a:t>
            </a:r>
            <a:r>
              <a:rPr lang="en-IN" dirty="0"/>
              <a:t>. After you save the discount list for the first time, you can add each discount that's included on it. For each discount, you must specify a start and end quantity, and the discount amount to apply. Discounts can be defined as either percentages or amounts.</a:t>
            </a:r>
          </a:p>
          <a:p>
            <a:pPr algn="l">
              <a:lnSpc>
                <a:spcPct val="100000"/>
              </a:lnSpc>
            </a:pPr>
            <a:r>
              <a:rPr lang="en-IN" b="1" dirty="0"/>
              <a:t>Reference Link</a:t>
            </a:r>
            <a:r>
              <a:rPr lang="en-IN" dirty="0"/>
              <a:t>: </a:t>
            </a:r>
            <a:r>
              <a:rPr lang="en-IN" u="sng" dirty="0">
                <a:hlinkClick r:id="rId3"/>
              </a:rPr>
              <a:t>https://docs.microsoft.com/en-us/dynamics365/sales/set-up-discount-list</a:t>
            </a:r>
            <a:r>
              <a:rPr lang="en-IN" dirty="0"/>
              <a:t> </a:t>
            </a:r>
          </a:p>
          <a:p>
            <a:pPr algn="l">
              <a:lnSpc>
                <a:spcPct val="100000"/>
              </a:lnSpc>
            </a:pPr>
            <a:endParaRPr lang="en-IN"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pic>
        <p:nvPicPr>
          <p:cNvPr id="6" name="Picture 5" descr="Discount list. Discounts can be applied as percentages or amounts. Beginning and ending quantities must be supplied for each discount.">
            <a:extLst>
              <a:ext uri="{FF2B5EF4-FFF2-40B4-BE49-F238E27FC236}">
                <a16:creationId xmlns:a16="http://schemas.microsoft.com/office/drawing/2014/main" id="{BA60174A-01FD-47E1-8C9F-BA6B7BC4C28C}"/>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93962" y="3939985"/>
            <a:ext cx="10180544" cy="2272555"/>
          </a:xfrm>
          <a:prstGeom prst="rect">
            <a:avLst/>
          </a:prstGeom>
          <a:noFill/>
          <a:ln>
            <a:solidFill>
              <a:schemeClr val="tx1"/>
            </a:solidFill>
          </a:ln>
        </p:spPr>
      </p:pic>
    </p:spTree>
    <p:extLst>
      <p:ext uri="{BB962C8B-B14F-4D97-AF65-F5344CB8AC3E}">
        <p14:creationId xmlns:p14="http://schemas.microsoft.com/office/powerpoint/2010/main" val="21346798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endParaRPr lang="en-IN"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graphicFrame>
        <p:nvGraphicFramePr>
          <p:cNvPr id="4" name="Table 3">
            <a:extLst>
              <a:ext uri="{FF2B5EF4-FFF2-40B4-BE49-F238E27FC236}">
                <a16:creationId xmlns:a16="http://schemas.microsoft.com/office/drawing/2014/main" id="{58AC43D4-EB0B-433C-9CD2-12E24388C6C2}"/>
              </a:ext>
            </a:extLst>
          </p:cNvPr>
          <p:cNvGraphicFramePr>
            <a:graphicFrameLocks noGrp="1"/>
          </p:cNvGraphicFramePr>
          <p:nvPr>
            <p:extLst>
              <p:ext uri="{D42A27DB-BD31-4B8C-83A1-F6EECF244321}">
                <p14:modId xmlns:p14="http://schemas.microsoft.com/office/powerpoint/2010/main" val="1197549427"/>
              </p:ext>
            </p:extLst>
          </p:nvPr>
        </p:nvGraphicFramePr>
        <p:xfrm>
          <a:off x="626298" y="1046704"/>
          <a:ext cx="11231416" cy="5235929"/>
        </p:xfrm>
        <a:graphic>
          <a:graphicData uri="http://schemas.openxmlformats.org/drawingml/2006/table">
            <a:tbl>
              <a:tblPr firstRow="1" firstCol="1" bandRow="1">
                <a:tableStyleId>{5C22544A-7EE6-4342-B048-85BDC9FD1C3A}</a:tableStyleId>
              </a:tblPr>
              <a:tblGrid>
                <a:gridCol w="1871904">
                  <a:extLst>
                    <a:ext uri="{9D8B030D-6E8A-4147-A177-3AD203B41FA5}">
                      <a16:colId xmlns:a16="http://schemas.microsoft.com/office/drawing/2014/main" val="2253019057"/>
                    </a:ext>
                  </a:extLst>
                </a:gridCol>
                <a:gridCol w="9359512">
                  <a:extLst>
                    <a:ext uri="{9D8B030D-6E8A-4147-A177-3AD203B41FA5}">
                      <a16:colId xmlns:a16="http://schemas.microsoft.com/office/drawing/2014/main" val="1935643618"/>
                    </a:ext>
                  </a:extLst>
                </a:gridCol>
              </a:tblGrid>
              <a:tr h="426227">
                <a:tc>
                  <a:txBody>
                    <a:bodyPr/>
                    <a:lstStyle/>
                    <a:p>
                      <a:pPr algn="l">
                        <a:lnSpc>
                          <a:spcPct val="107000"/>
                        </a:lnSpc>
                        <a:spcAft>
                          <a:spcPts val="0"/>
                        </a:spcAft>
                      </a:pPr>
                      <a:r>
                        <a:rPr lang="en-IN" sz="1400" dirty="0">
                          <a:effectLst/>
                          <a:latin typeface="Trebuchet MS" panose="020B0603020202020204" pitchFamily="34" charset="0"/>
                        </a:rPr>
                        <a:t>Column</a:t>
                      </a:r>
                      <a:endParaRPr lang="en-IN" sz="1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a:effectLst/>
                          <a:latin typeface="Trebuchet MS" panose="020B0603020202020204" pitchFamily="34" charset="0"/>
                        </a:rPr>
                        <a:t>Description</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36592726"/>
                  </a:ext>
                </a:extLst>
              </a:tr>
              <a:tr h="453010">
                <a:tc>
                  <a:txBody>
                    <a:bodyPr/>
                    <a:lstStyle/>
                    <a:p>
                      <a:pPr algn="l">
                        <a:lnSpc>
                          <a:spcPct val="107000"/>
                        </a:lnSpc>
                        <a:spcAft>
                          <a:spcPts val="0"/>
                        </a:spcAft>
                      </a:pPr>
                      <a:r>
                        <a:rPr lang="en-IN" sz="1400">
                          <a:effectLst/>
                          <a:latin typeface="Trebuchet MS" panose="020B0603020202020204" pitchFamily="34" charset="0"/>
                        </a:rPr>
                        <a:t>Name</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Enter the name of the product that will be used when the product is added to price lists, opportunities, work orders, orders, and so on.</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3436287"/>
                  </a:ext>
                </a:extLst>
              </a:tr>
              <a:tr h="453010">
                <a:tc>
                  <a:txBody>
                    <a:bodyPr/>
                    <a:lstStyle/>
                    <a:p>
                      <a:pPr algn="l">
                        <a:lnSpc>
                          <a:spcPct val="107000"/>
                        </a:lnSpc>
                        <a:spcAft>
                          <a:spcPts val="0"/>
                        </a:spcAft>
                      </a:pPr>
                      <a:r>
                        <a:rPr lang="en-IN" sz="1400">
                          <a:effectLst/>
                          <a:latin typeface="Trebuchet MS" panose="020B0603020202020204" pitchFamily="34" charset="0"/>
                        </a:rPr>
                        <a:t>Product ID</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Specify the ID of the product. This ID can then be referenced when the product is added to other Microsoft Dynamics 365 records.</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30210596"/>
                  </a:ext>
                </a:extLst>
              </a:tr>
              <a:tr h="453010">
                <a:tc>
                  <a:txBody>
                    <a:bodyPr/>
                    <a:lstStyle/>
                    <a:p>
                      <a:pPr algn="l">
                        <a:lnSpc>
                          <a:spcPct val="107000"/>
                        </a:lnSpc>
                        <a:spcAft>
                          <a:spcPts val="0"/>
                        </a:spcAft>
                      </a:pPr>
                      <a:r>
                        <a:rPr lang="en-IN" sz="1400">
                          <a:effectLst/>
                          <a:latin typeface="Trebuchet MS" panose="020B0603020202020204" pitchFamily="34" charset="0"/>
                        </a:rPr>
                        <a:t>Parent</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This column is used when the product is associated with a product family. The value can't be changed after the record is saved.</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4401313"/>
                  </a:ext>
                </a:extLst>
              </a:tr>
              <a:tr h="420923">
                <a:tc>
                  <a:txBody>
                    <a:bodyPr/>
                    <a:lstStyle/>
                    <a:p>
                      <a:pPr algn="l">
                        <a:lnSpc>
                          <a:spcPct val="107000"/>
                        </a:lnSpc>
                        <a:spcAft>
                          <a:spcPts val="0"/>
                        </a:spcAft>
                      </a:pPr>
                      <a:r>
                        <a:rPr lang="en-IN" sz="1400">
                          <a:effectLst/>
                          <a:latin typeface="Trebuchet MS" panose="020B0603020202020204" pitchFamily="34" charset="0"/>
                        </a:rPr>
                        <a:t>Valid From, Valid To</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Specify the date range when the product can be added to items.</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99133158"/>
                  </a:ext>
                </a:extLst>
              </a:tr>
              <a:tr h="402147">
                <a:tc>
                  <a:txBody>
                    <a:bodyPr/>
                    <a:lstStyle/>
                    <a:p>
                      <a:pPr algn="l">
                        <a:lnSpc>
                          <a:spcPct val="107000"/>
                        </a:lnSpc>
                        <a:spcAft>
                          <a:spcPts val="0"/>
                        </a:spcAft>
                      </a:pPr>
                      <a:r>
                        <a:rPr lang="en-IN" sz="1400">
                          <a:effectLst/>
                          <a:latin typeface="Trebuchet MS" panose="020B0603020202020204" pitchFamily="34" charset="0"/>
                        </a:rPr>
                        <a:t>Description</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Enter a brief description of the product. You can use this column to provide more details.</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9327097"/>
                  </a:ext>
                </a:extLst>
              </a:tr>
              <a:tr h="402147">
                <a:tc>
                  <a:txBody>
                    <a:bodyPr/>
                    <a:lstStyle/>
                    <a:p>
                      <a:pPr algn="l">
                        <a:lnSpc>
                          <a:spcPct val="107000"/>
                        </a:lnSpc>
                        <a:spcAft>
                          <a:spcPts val="0"/>
                        </a:spcAft>
                      </a:pPr>
                      <a:r>
                        <a:rPr lang="en-IN" sz="1400">
                          <a:effectLst/>
                          <a:latin typeface="Trebuchet MS" panose="020B0603020202020204" pitchFamily="34" charset="0"/>
                        </a:rPr>
                        <a:t>Unit Group</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Define the unit group that defines quantity information that's related to how the product can be sold.</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2705056"/>
                  </a:ext>
                </a:extLst>
              </a:tr>
              <a:tr h="402147">
                <a:tc>
                  <a:txBody>
                    <a:bodyPr/>
                    <a:lstStyle/>
                    <a:p>
                      <a:pPr algn="l">
                        <a:lnSpc>
                          <a:spcPct val="107000"/>
                        </a:lnSpc>
                        <a:spcAft>
                          <a:spcPts val="0"/>
                        </a:spcAft>
                      </a:pPr>
                      <a:r>
                        <a:rPr lang="en-IN" sz="1400">
                          <a:effectLst/>
                          <a:latin typeface="Trebuchet MS" panose="020B0603020202020204" pitchFamily="34" charset="0"/>
                        </a:rPr>
                        <a:t>Default Unit</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Specify the default unit that will be used for the product, based on the unit group.</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806585"/>
                  </a:ext>
                </a:extLst>
              </a:tr>
              <a:tr h="607769">
                <a:tc>
                  <a:txBody>
                    <a:bodyPr/>
                    <a:lstStyle/>
                    <a:p>
                      <a:pPr algn="l">
                        <a:lnSpc>
                          <a:spcPct val="107000"/>
                        </a:lnSpc>
                        <a:spcAft>
                          <a:spcPts val="0"/>
                        </a:spcAft>
                      </a:pPr>
                      <a:r>
                        <a:rPr lang="en-IN" sz="1400">
                          <a:effectLst/>
                          <a:latin typeface="Trebuchet MS" panose="020B0603020202020204" pitchFamily="34" charset="0"/>
                        </a:rPr>
                        <a:t>Default Price List</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Define the price list that will be used for this product by default. Although a product can be associated with multiple price lists, it can have only one default price list.</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27035022"/>
                  </a:ext>
                </a:extLst>
              </a:tr>
              <a:tr h="813392">
                <a:tc>
                  <a:txBody>
                    <a:bodyPr/>
                    <a:lstStyle/>
                    <a:p>
                      <a:pPr algn="l">
                        <a:lnSpc>
                          <a:spcPct val="107000"/>
                        </a:lnSpc>
                        <a:spcAft>
                          <a:spcPts val="0"/>
                        </a:spcAft>
                      </a:pPr>
                      <a:r>
                        <a:rPr lang="en-IN" sz="1400">
                          <a:effectLst/>
                          <a:latin typeface="Trebuchet MS" panose="020B0603020202020204" pitchFamily="34" charset="0"/>
                        </a:rPr>
                        <a:t>Decimals Supported</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Define the number of decimal places that can be used when the product is added to items. The precision of the Quantity column in the quote, order, or invoice product record is validated against the value in this column if the product doesn't have an associated price list.</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2129885"/>
                  </a:ext>
                </a:extLst>
              </a:tr>
              <a:tr h="402147">
                <a:tc>
                  <a:txBody>
                    <a:bodyPr/>
                    <a:lstStyle/>
                    <a:p>
                      <a:pPr algn="l">
                        <a:lnSpc>
                          <a:spcPct val="107000"/>
                        </a:lnSpc>
                        <a:spcAft>
                          <a:spcPts val="0"/>
                        </a:spcAft>
                      </a:pPr>
                      <a:r>
                        <a:rPr lang="en-IN" sz="1400">
                          <a:effectLst/>
                          <a:latin typeface="Trebuchet MS" panose="020B0603020202020204" pitchFamily="34" charset="0"/>
                        </a:rPr>
                        <a:t>Subject</a:t>
                      </a:r>
                      <a:endParaRPr lang="en-IN" sz="1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l">
                        <a:lnSpc>
                          <a:spcPct val="107000"/>
                        </a:lnSpc>
                        <a:spcAft>
                          <a:spcPts val="0"/>
                        </a:spcAft>
                      </a:pPr>
                      <a:r>
                        <a:rPr lang="en-IN" sz="1400" dirty="0">
                          <a:solidFill>
                            <a:schemeClr val="tx1"/>
                          </a:solidFill>
                          <a:effectLst/>
                          <a:latin typeface="Trebuchet MS" panose="020B0603020202020204" pitchFamily="34" charset="0"/>
                        </a:rPr>
                        <a:t>Associate this product with a subject. You can use subjects to categorize your products and filter reports.</a:t>
                      </a:r>
                      <a:endParaRPr lang="en-IN" sz="1400" dirty="0">
                        <a:solidFill>
                          <a:schemeClr val="tx1"/>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37662425"/>
                  </a:ext>
                </a:extLst>
              </a:tr>
            </a:tbl>
          </a:graphicData>
        </a:graphic>
      </p:graphicFrame>
    </p:spTree>
    <p:extLst>
      <p:ext uri="{BB962C8B-B14F-4D97-AF65-F5344CB8AC3E}">
        <p14:creationId xmlns:p14="http://schemas.microsoft.com/office/powerpoint/2010/main" val="11117114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Products in the product catalog represent the individual items and services that an organization sells to its customers. A product might be used to define something physical like a printer, a shirt, or a kitchen appliance. Alternatively, it might be used to define a service that's provided, like a disposal service or consultation fee. </a:t>
            </a:r>
          </a:p>
          <a:p>
            <a:pPr algn="l"/>
            <a:r>
              <a:rPr lang="en-IN" b="1" dirty="0"/>
              <a:t>Reference Link: </a:t>
            </a:r>
            <a:r>
              <a:rPr lang="en-IN" u="sng" dirty="0">
                <a:hlinkClick r:id="rId3"/>
              </a:rPr>
              <a:t>https://docs.microsoft.com/en-us/dynamics365/sales/create-product-sales#create-a-product</a:t>
            </a:r>
            <a:endParaRPr lang="en-IN" dirty="0"/>
          </a:p>
          <a:p>
            <a:pPr algn="l"/>
            <a:r>
              <a:rPr lang="en-IN" dirty="0"/>
              <a:t>When you define a product, you can include the following information:</a:t>
            </a:r>
          </a:p>
          <a:p>
            <a:pPr algn="l">
              <a:lnSpc>
                <a:spcPct val="100000"/>
              </a:lnSpc>
            </a:pPr>
            <a:endParaRPr lang="en-IN"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pic>
        <p:nvPicPr>
          <p:cNvPr id="7" name="Picture 6" descr="Product page. Available units are based on the unit group selected.">
            <a:extLst>
              <a:ext uri="{FF2B5EF4-FFF2-40B4-BE49-F238E27FC236}">
                <a16:creationId xmlns:a16="http://schemas.microsoft.com/office/drawing/2014/main" id="{26C32CC1-FD9D-40C9-9668-220D3F74EA0D}"/>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8490" y="3967659"/>
            <a:ext cx="10255019" cy="2282528"/>
          </a:xfrm>
          <a:prstGeom prst="rect">
            <a:avLst/>
          </a:prstGeom>
          <a:noFill/>
          <a:ln>
            <a:solidFill>
              <a:schemeClr val="tx1"/>
            </a:solidFill>
          </a:ln>
        </p:spPr>
      </p:pic>
    </p:spTree>
    <p:extLst>
      <p:ext uri="{BB962C8B-B14F-4D97-AF65-F5344CB8AC3E}">
        <p14:creationId xmlns:p14="http://schemas.microsoft.com/office/powerpoint/2010/main" val="39963635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Bundle</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A bundle is a collection of products that are sold as a single unit. From within a bundle, users can see all the products that are included in the bundle.</a:t>
            </a:r>
          </a:p>
          <a:p>
            <a:pPr algn="l"/>
            <a:r>
              <a:rPr lang="en-IN" dirty="0"/>
              <a:t>Here are some of the scenarios where product bundling can be useful:</a:t>
            </a:r>
          </a:p>
          <a:p>
            <a:pPr lvl="0" algn="l"/>
            <a:r>
              <a:rPr lang="en-IN" dirty="0"/>
              <a:t>You want to pair a top-selling product with a less popular product.</a:t>
            </a:r>
          </a:p>
          <a:p>
            <a:pPr lvl="0" algn="l"/>
            <a:r>
              <a:rPr lang="en-IN" dirty="0"/>
              <a:t>You want to group products in such a way that customers will get more benefits from the full line of products. Examples of this use of product bundles include Microsoft 365 and a digital camera that comes with lenses.</a:t>
            </a:r>
          </a:p>
          <a:p>
            <a:pPr algn="l">
              <a:lnSpc>
                <a:spcPct val="100000"/>
              </a:lnSpc>
            </a:pPr>
            <a:endParaRPr lang="en-IN"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pic>
        <p:nvPicPr>
          <p:cNvPr id="8" name="Picture 7" descr="Product bundle. Additional bundle products can be added as needed. List shows each product included in the bundle.">
            <a:extLst>
              <a:ext uri="{FF2B5EF4-FFF2-40B4-BE49-F238E27FC236}">
                <a16:creationId xmlns:a16="http://schemas.microsoft.com/office/drawing/2014/main" id="{FC3F54B2-1D80-4FA5-BB4E-8E745163644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0" y="4047732"/>
            <a:ext cx="7341792" cy="2595115"/>
          </a:xfrm>
          <a:prstGeom prst="rect">
            <a:avLst/>
          </a:prstGeom>
          <a:noFill/>
          <a:ln>
            <a:solidFill>
              <a:schemeClr val="tx1"/>
            </a:solidFill>
          </a:ln>
        </p:spPr>
      </p:pic>
    </p:spTree>
    <p:extLst>
      <p:ext uri="{BB962C8B-B14F-4D97-AF65-F5344CB8AC3E}">
        <p14:creationId xmlns:p14="http://schemas.microsoft.com/office/powerpoint/2010/main" val="75691954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Bundle</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Although the products in a bundle are typically sold together, specific products in a bundle can be marked as optional. These products can also be sold individually.</a:t>
            </a:r>
          </a:p>
          <a:p>
            <a:pPr algn="l"/>
            <a:r>
              <a:rPr lang="en-IN" dirty="0"/>
              <a:t>After a product bundle has been activated and associated with a price list, it can be added as a line item on records like opportunities, quotes, and orders. Bundles can also be expanded to show the specific items that are included in them.</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pic>
        <p:nvPicPr>
          <p:cNvPr id="7" name="Picture 6" descr="Expanding a product bundle to show all included products.">
            <a:extLst>
              <a:ext uri="{FF2B5EF4-FFF2-40B4-BE49-F238E27FC236}">
                <a16:creationId xmlns:a16="http://schemas.microsoft.com/office/drawing/2014/main" id="{E611C76A-8BF4-460C-ACC7-FF5054F10FF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085" y="3563904"/>
            <a:ext cx="6055361" cy="2844951"/>
          </a:xfrm>
          <a:prstGeom prst="rect">
            <a:avLst/>
          </a:prstGeom>
          <a:noFill/>
          <a:ln>
            <a:solidFill>
              <a:schemeClr val="tx1"/>
            </a:solidFill>
          </a:ln>
        </p:spPr>
      </p:pic>
    </p:spTree>
    <p:extLst>
      <p:ext uri="{BB962C8B-B14F-4D97-AF65-F5344CB8AC3E}">
        <p14:creationId xmlns:p14="http://schemas.microsoft.com/office/powerpoint/2010/main" val="11899370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Bundle</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b="1" dirty="0"/>
              <a:t>Reference Link: </a:t>
            </a:r>
            <a:r>
              <a:rPr lang="en-IN" u="sng" dirty="0">
                <a:hlinkClick r:id="rId3"/>
              </a:rPr>
              <a:t>https://docs.microsoft.com/en-us/dynamics365/sales/create-product-bundles-sell-multiple-items-together</a:t>
            </a: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37316251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Family</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Product families make it easier for sales staff to find products and services in a product catalog. They let you create and categorize similar products together, based on commonalities between them. For example, an auto dealership might have product families like a </a:t>
            </a:r>
            <a:r>
              <a:rPr lang="en-IN" i="1" dirty="0"/>
              <a:t>sports car</a:t>
            </a:r>
            <a:r>
              <a:rPr lang="en-IN" dirty="0"/>
              <a:t>, </a:t>
            </a:r>
            <a:r>
              <a:rPr lang="en-IN" i="1" dirty="0"/>
              <a:t>truck</a:t>
            </a:r>
            <a:r>
              <a:rPr lang="en-IN" dirty="0"/>
              <a:t>, and </a:t>
            </a:r>
            <a:r>
              <a:rPr lang="en-IN" i="1" dirty="0"/>
              <a:t>SUV</a:t>
            </a:r>
            <a:r>
              <a:rPr lang="en-IN" dirty="0"/>
              <a:t>. By combining each car with other cars in the same category, the organization can analyse sales trends by category. It can also analyse product properties across products within the product family. For example, a specific model of the truck might have different interior and exterior colours, or it might be available in two-door or four-door models. Product families let the dealership define those options at the family level so that sales staff can choose the specific options when an individual vehicle is selected.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1348458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Family</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Product families let an organization perform these tasks:</a:t>
            </a:r>
          </a:p>
          <a:p>
            <a:pPr lvl="0" algn="l"/>
            <a:r>
              <a:rPr lang="en-IN" dirty="0"/>
              <a:t>Categorize products in whichever way is most meaningful for them.</a:t>
            </a:r>
          </a:p>
          <a:p>
            <a:pPr lvl="0" algn="l"/>
            <a:r>
              <a:rPr lang="en-IN" dirty="0"/>
              <a:t>Create child products and product bundles within a product family.</a:t>
            </a:r>
          </a:p>
          <a:p>
            <a:pPr lvl="0" algn="l"/>
            <a:r>
              <a:rPr lang="en-IN" dirty="0"/>
              <a:t>Create as many levels of product families as it wants by creating a family within a family.</a:t>
            </a:r>
          </a:p>
          <a:p>
            <a:pPr lvl="0" algn="l"/>
            <a:r>
              <a:rPr lang="en-IN" b="1" dirty="0"/>
              <a:t>Reference Link: </a:t>
            </a:r>
          </a:p>
          <a:p>
            <a:pPr lvl="0" algn="l"/>
            <a:r>
              <a:rPr lang="en-IN" u="sng" dirty="0">
                <a:hlinkClick r:id="rId3"/>
              </a:rPr>
              <a:t>https://docs.microsoft.com/en-us/dynamics365/sales/create-product-family</a:t>
            </a:r>
            <a:r>
              <a:rPr lang="en-IN" b="1" dirty="0"/>
              <a:t> </a:t>
            </a:r>
            <a:endParaRPr lang="en-IN" dirty="0"/>
          </a:p>
          <a:p>
            <a:pPr lvl="0" algn="l"/>
            <a:endParaRPr lang="en-IN" dirty="0"/>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4729319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Set up Product Family</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pic>
        <p:nvPicPr>
          <p:cNvPr id="7" name="Picture 6" descr="Product family example. Televisions (parent product family) above Smart TVs, 4K UHD TVs, and LED TVs (child product families). Each child product family has one or more child products or child bundles below it.">
            <a:extLst>
              <a:ext uri="{FF2B5EF4-FFF2-40B4-BE49-F238E27FC236}">
                <a16:creationId xmlns:a16="http://schemas.microsoft.com/office/drawing/2014/main" id="{F2B6EB18-7FF3-4F32-8616-CB266E3D022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929" y="1032388"/>
            <a:ext cx="9154553" cy="5048718"/>
          </a:xfrm>
          <a:prstGeom prst="rect">
            <a:avLst/>
          </a:prstGeom>
          <a:noFill/>
          <a:ln>
            <a:noFill/>
          </a:ln>
        </p:spPr>
      </p:pic>
    </p:spTree>
    <p:extLst>
      <p:ext uri="{BB962C8B-B14F-4D97-AF65-F5344CB8AC3E}">
        <p14:creationId xmlns:p14="http://schemas.microsoft.com/office/powerpoint/2010/main" val="27469735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Price List</a:t>
            </a:r>
          </a:p>
        </p:txBody>
      </p:sp>
      <p:sp>
        <p:nvSpPr>
          <p:cNvPr id="3" name="Subtitle 2"/>
          <p:cNvSpPr>
            <a:spLocks noGrp="1"/>
          </p:cNvSpPr>
          <p:nvPr>
            <p:ph type="subTitle" idx="1"/>
          </p:nvPr>
        </p:nvSpPr>
        <p:spPr>
          <a:xfrm>
            <a:off x="816087" y="1046703"/>
            <a:ext cx="11041627" cy="4964131"/>
          </a:xfrm>
        </p:spPr>
        <p:txBody>
          <a:bodyPr>
            <a:noAutofit/>
          </a:bodyPr>
          <a:lstStyle/>
          <a:p>
            <a:pPr algn="l">
              <a:lnSpc>
                <a:spcPct val="100000"/>
              </a:lnSpc>
            </a:pPr>
            <a:r>
              <a:rPr lang="en-IN" dirty="0"/>
              <a:t>Organizations might sell products and services to many different types of customers. Depending on the type of customer, different pricing options might be used. For example, retail pricing for individual consumers is generally higher than wholesale pricing for distributors, because distributors typically buy in larger quantities and more often. For each product that an organization sells, it might have to define different levels of pricing, depending upon the customer.</a:t>
            </a:r>
          </a:p>
          <a:p>
            <a:pPr algn="l">
              <a:lnSpc>
                <a:spcPct val="100000"/>
              </a:lnSpc>
            </a:pPr>
            <a:r>
              <a:rPr lang="en-IN" dirty="0"/>
              <a:t>Properties can only be added to product families that are in a draft or revision state. To provide the pricing options that organizations require, the Microsoft Dynamics 365 product catalog includes price lists. A price list is best described as a level of pricing that you give to specific types of customers. Most organizations create multiple price lists to support the different selling scenarios that they use.</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314338429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Price List</a:t>
            </a:r>
          </a:p>
        </p:txBody>
      </p:sp>
      <p:sp>
        <p:nvSpPr>
          <p:cNvPr id="3" name="Subtitle 2"/>
          <p:cNvSpPr>
            <a:spLocks noGrp="1"/>
          </p:cNvSpPr>
          <p:nvPr>
            <p:ph type="subTitle" idx="1"/>
          </p:nvPr>
        </p:nvSpPr>
        <p:spPr>
          <a:xfrm>
            <a:off x="816087" y="1046703"/>
            <a:ext cx="11041627" cy="4964131"/>
          </a:xfrm>
        </p:spPr>
        <p:txBody>
          <a:bodyPr>
            <a:noAutofit/>
          </a:bodyPr>
          <a:lstStyle/>
          <a:p>
            <a:pPr algn="l"/>
            <a:r>
              <a:rPr lang="en-IN" dirty="0"/>
              <a:t>Here are some scenarios where multiple price lists might be used:</a:t>
            </a:r>
          </a:p>
          <a:p>
            <a:pPr marL="342900" lvl="0" indent="-342900" algn="l">
              <a:buFont typeface="Arial" panose="020B0604020202020204" pitchFamily="34" charset="0"/>
              <a:buChar char="•"/>
            </a:pPr>
            <a:r>
              <a:rPr lang="en-IN" dirty="0"/>
              <a:t>The organization sells both directly to customers and through a network of resellers. In this case, the organization can create retail and wholesale price lists. </a:t>
            </a:r>
          </a:p>
          <a:p>
            <a:pPr marL="342900" lvl="0" indent="-342900" algn="l">
              <a:buFont typeface="Arial" panose="020B0604020202020204" pitchFamily="34" charset="0"/>
              <a:buChar char="•"/>
            </a:pPr>
            <a:r>
              <a:rPr lang="en-IN" dirty="0"/>
              <a:t>You must create price lists that are used only in a specific marketing campaign.</a:t>
            </a:r>
          </a:p>
          <a:p>
            <a:pPr marL="342900" lvl="0" indent="-342900" algn="l">
              <a:buFont typeface="Arial" panose="020B0604020202020204" pitchFamily="34" charset="0"/>
              <a:buChar char="•"/>
            </a:pPr>
            <a:r>
              <a:rPr lang="en-IN" dirty="0"/>
              <a:t>You must create custom price lists for specific customers, like a contract or preferred customers.</a:t>
            </a:r>
          </a:p>
          <a:p>
            <a:pPr algn="l">
              <a:lnSpc>
                <a:spcPct val="100000"/>
              </a:lnSpc>
            </a:pPr>
            <a:r>
              <a:rPr lang="en-IN" dirty="0"/>
              <a:t>Let's look at a more detailed example, where an organization manufactures mattresses and sells its products to three different types of customers.</a:t>
            </a:r>
          </a:p>
          <a:p>
            <a:pPr algn="l">
              <a:lnSpc>
                <a:spcPct val="100000"/>
              </a:lnSpc>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20848701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Price List</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pic>
        <p:nvPicPr>
          <p:cNvPr id="7" name="Picture 6" descr="Customized pricing tiers: Retail, Wholesale, and Distributor.">
            <a:extLst>
              <a:ext uri="{FF2B5EF4-FFF2-40B4-BE49-F238E27FC236}">
                <a16:creationId xmlns:a16="http://schemas.microsoft.com/office/drawing/2014/main" id="{BF2C4106-7AAD-4908-A668-245A23E33B7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185" y="1172930"/>
            <a:ext cx="10144124" cy="4964131"/>
          </a:xfrm>
          <a:prstGeom prst="rect">
            <a:avLst/>
          </a:prstGeom>
          <a:noFill/>
          <a:ln>
            <a:solidFill>
              <a:schemeClr val="tx1"/>
            </a:solidFill>
          </a:ln>
        </p:spPr>
      </p:pic>
    </p:spTree>
    <p:extLst>
      <p:ext uri="{BB962C8B-B14F-4D97-AF65-F5344CB8AC3E}">
        <p14:creationId xmlns:p14="http://schemas.microsoft.com/office/powerpoint/2010/main" val="25025645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Price List</a:t>
            </a:r>
          </a:p>
        </p:txBody>
      </p:sp>
      <p:sp>
        <p:nvSpPr>
          <p:cNvPr id="3" name="Subtitle 2"/>
          <p:cNvSpPr>
            <a:spLocks noGrp="1"/>
          </p:cNvSpPr>
          <p:nvPr>
            <p:ph type="subTitle" idx="1"/>
          </p:nvPr>
        </p:nvSpPr>
        <p:spPr>
          <a:xfrm>
            <a:off x="816087" y="1046703"/>
            <a:ext cx="11041627" cy="4964131"/>
          </a:xfrm>
        </p:spPr>
        <p:txBody>
          <a:bodyPr>
            <a:noAutofit/>
          </a:bodyPr>
          <a:lstStyle/>
          <a:p>
            <a:pPr marL="342900" indent="-342900" algn="l">
              <a:buFont typeface="Arial" panose="020B0604020202020204" pitchFamily="34" charset="0"/>
              <a:buChar char="•"/>
            </a:pPr>
            <a:r>
              <a:rPr lang="en-IN" b="1" dirty="0"/>
              <a:t>Retail customers:</a:t>
            </a:r>
            <a:r>
              <a:rPr lang="en-IN" dirty="0"/>
              <a:t> Customers who buy directly from the retail website pay $750.00 per mattress.</a:t>
            </a:r>
          </a:p>
          <a:p>
            <a:pPr marL="342900" indent="-342900" algn="l">
              <a:buFont typeface="Arial" panose="020B0604020202020204" pitchFamily="34" charset="0"/>
              <a:buChar char="•"/>
            </a:pPr>
            <a:r>
              <a:rPr lang="en-IN" b="1" dirty="0"/>
              <a:t>Wholesale customers:</a:t>
            </a:r>
            <a:r>
              <a:rPr lang="en-IN" dirty="0"/>
              <a:t> Retail store chains that buy directly from the organization so that they sell the products in their stores pay $600.00 per mattress.</a:t>
            </a:r>
          </a:p>
          <a:p>
            <a:pPr marL="342900" indent="-342900" algn="l">
              <a:buFont typeface="Arial" panose="020B0604020202020204" pitchFamily="34" charset="0"/>
              <a:buChar char="•"/>
            </a:pPr>
            <a:r>
              <a:rPr lang="en-IN" b="1" dirty="0"/>
              <a:t>Distributors:</a:t>
            </a:r>
            <a:r>
              <a:rPr lang="en-IN" dirty="0"/>
              <a:t> Customers who buy directly from the organization so that they can sell the products to other retailers pay $500.00 per mattress.</a:t>
            </a:r>
          </a:p>
          <a:p>
            <a:pPr marL="342900" indent="-342900" algn="l">
              <a:lnSpc>
                <a:spcPct val="100000"/>
              </a:lnSpc>
              <a:buFont typeface="Arial" panose="020B0604020202020204" pitchFamily="34" charset="0"/>
              <a:buChar char="•"/>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84617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Price List</a:t>
            </a:r>
          </a:p>
        </p:txBody>
      </p:sp>
      <p:sp>
        <p:nvSpPr>
          <p:cNvPr id="3" name="Subtitle 2"/>
          <p:cNvSpPr>
            <a:spLocks noGrp="1"/>
          </p:cNvSpPr>
          <p:nvPr>
            <p:ph type="subTitle" idx="1"/>
          </p:nvPr>
        </p:nvSpPr>
        <p:spPr>
          <a:xfrm>
            <a:off x="816087" y="1046703"/>
            <a:ext cx="11041627" cy="4964131"/>
          </a:xfrm>
        </p:spPr>
        <p:txBody>
          <a:bodyPr>
            <a:noAutofit/>
          </a:bodyPr>
          <a:lstStyle/>
          <a:p>
            <a:pPr marL="342900" indent="-342900" algn="l">
              <a:lnSpc>
                <a:spcPct val="100000"/>
              </a:lnSpc>
              <a:buFont typeface="Arial" panose="020B0604020202020204" pitchFamily="34" charset="0"/>
              <a:buChar char="•"/>
            </a:pPr>
            <a:r>
              <a:rPr lang="en-IN" dirty="0"/>
              <a:t>To accommodate this scenario, create price lists that are named </a:t>
            </a:r>
            <a:r>
              <a:rPr lang="en-IN" i="1" dirty="0"/>
              <a:t>Retail</a:t>
            </a:r>
            <a:r>
              <a:rPr lang="en-IN" dirty="0"/>
              <a:t>, </a:t>
            </a:r>
            <a:r>
              <a:rPr lang="en-IN" i="1" dirty="0"/>
              <a:t>Wholesale</a:t>
            </a:r>
            <a:r>
              <a:rPr lang="en-IN" dirty="0"/>
              <a:t>, and </a:t>
            </a:r>
            <a:r>
              <a:rPr lang="en-IN" i="1" dirty="0"/>
              <a:t>Distributor</a:t>
            </a:r>
            <a:r>
              <a:rPr lang="en-IN" dirty="0"/>
              <a:t>, and add the mattress to each price list as a price list item. The amount that's charged for the mattress will differ on each price list. Not all organizations need multiple price lists. Some might sell only to retail customers and have only one pricing level. In those instances, only one price list is required, and any product that the organization plans to sell is added to that price list.</a:t>
            </a:r>
          </a:p>
          <a:p>
            <a:pPr marL="342900" indent="-342900" algn="l">
              <a:lnSpc>
                <a:spcPct val="100000"/>
              </a:lnSpc>
              <a:buFont typeface="Arial" panose="020B0604020202020204" pitchFamily="34" charset="0"/>
              <a:buChar char="•"/>
            </a:pPr>
            <a:r>
              <a:rPr lang="en-IN" dirty="0"/>
              <a:t>Price lists are generally the last item that's set up in the product catalog. They link the unit, product, and pricing details together. Therefore, before you create price lists, make sure that the units and products are defined.</a:t>
            </a:r>
          </a:p>
          <a:p>
            <a:pPr marL="342900" indent="-342900" algn="l">
              <a:lnSpc>
                <a:spcPct val="100000"/>
              </a:lnSpc>
              <a:buFont typeface="Arial" panose="020B0604020202020204" pitchFamily="34" charset="0"/>
              <a:buChar char="•"/>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41743592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Create Price List</a:t>
            </a:r>
          </a:p>
        </p:txBody>
      </p:sp>
      <p:sp>
        <p:nvSpPr>
          <p:cNvPr id="3" name="Subtitle 2"/>
          <p:cNvSpPr>
            <a:spLocks noGrp="1"/>
          </p:cNvSpPr>
          <p:nvPr>
            <p:ph type="subTitle" idx="1"/>
          </p:nvPr>
        </p:nvSpPr>
        <p:spPr>
          <a:xfrm>
            <a:off x="816087" y="1046703"/>
            <a:ext cx="11041627" cy="4964131"/>
          </a:xfrm>
        </p:spPr>
        <p:txBody>
          <a:bodyPr>
            <a:noAutofit/>
          </a:bodyPr>
          <a:lstStyle/>
          <a:p>
            <a:pPr marL="342900" indent="-342900" algn="l">
              <a:lnSpc>
                <a:spcPct val="100000"/>
              </a:lnSpc>
              <a:buFont typeface="Arial" panose="020B0604020202020204" pitchFamily="34" charset="0"/>
              <a:buChar char="•"/>
            </a:pPr>
            <a:r>
              <a:rPr lang="en-IN" dirty="0"/>
              <a:t>Price lists can be created from the </a:t>
            </a:r>
            <a:r>
              <a:rPr lang="en-IN" b="1" dirty="0"/>
              <a:t>App Settings</a:t>
            </a:r>
            <a:r>
              <a:rPr lang="en-IN" dirty="0"/>
              <a:t> area of the Sales Hub app. When you create a price list, you must enter a name for the price list, like </a:t>
            </a:r>
            <a:r>
              <a:rPr lang="en-IN" i="1" dirty="0"/>
              <a:t>Retail</a:t>
            </a:r>
            <a:r>
              <a:rPr lang="en-IN" dirty="0"/>
              <a:t>, or </a:t>
            </a:r>
            <a:r>
              <a:rPr lang="en-IN" i="1" dirty="0"/>
              <a:t>Wholesale</a:t>
            </a:r>
            <a:r>
              <a:rPr lang="en-IN" dirty="0"/>
              <a:t>. You must also define the currency to use with the price list. By default, price lists use the base currency that's defined for an organization. </a:t>
            </a:r>
          </a:p>
          <a:p>
            <a:pPr marL="342900" indent="-342900" algn="l">
              <a:lnSpc>
                <a:spcPct val="100000"/>
              </a:lnSpc>
              <a:buFont typeface="Arial" panose="020B0604020202020204" pitchFamily="34" charset="0"/>
              <a:buChar char="•"/>
            </a:pPr>
            <a:r>
              <a:rPr lang="en-IN" dirty="0"/>
              <a:t>Additionally, if the price list will be used for special pricing during a marketing campaign or promotion, you must specify the start and end dates. In this way, you help guarantee that the price list will be used only during the appropriate times.</a:t>
            </a:r>
          </a:p>
          <a:p>
            <a:pPr marL="342900" indent="-342900" algn="l">
              <a:lnSpc>
                <a:spcPct val="100000"/>
              </a:lnSpc>
              <a:buFont typeface="Arial" panose="020B0604020202020204" pitchFamily="34" charset="0"/>
              <a:buChar char="•"/>
            </a:pPr>
            <a:endParaRPr lang="en-IN"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Tree>
    <p:extLst>
      <p:ext uri="{BB962C8B-B14F-4D97-AF65-F5344CB8AC3E}">
        <p14:creationId xmlns:p14="http://schemas.microsoft.com/office/powerpoint/2010/main" val="294582770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Create Price List</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p:txBody>
          <a:bodyPr/>
          <a:lstStyle/>
          <a:p>
            <a:endParaRPr lang="en-IN"/>
          </a:p>
        </p:txBody>
      </p:sp>
      <p:pic>
        <p:nvPicPr>
          <p:cNvPr id="8" name="Picture 7">
            <a:extLst>
              <a:ext uri="{FF2B5EF4-FFF2-40B4-BE49-F238E27FC236}">
                <a16:creationId xmlns:a16="http://schemas.microsoft.com/office/drawing/2014/main" id="{52A94FAE-1A31-465B-8BF1-8C79D44AB5BC}"/>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11438" y="1102660"/>
            <a:ext cx="9742043" cy="4992762"/>
          </a:xfrm>
          <a:prstGeom prst="rect">
            <a:avLst/>
          </a:prstGeom>
          <a:noFill/>
          <a:ln>
            <a:solidFill>
              <a:schemeClr val="tx1"/>
            </a:solidFill>
          </a:ln>
        </p:spPr>
      </p:pic>
    </p:spTree>
    <p:extLst>
      <p:ext uri="{BB962C8B-B14F-4D97-AF65-F5344CB8AC3E}">
        <p14:creationId xmlns:p14="http://schemas.microsoft.com/office/powerpoint/2010/main" val="12707911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sz="3200" dirty="0"/>
              <a:t>Define Price list Item and Pricing Method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After you've saved a price list for the first time, you can define individual price list line items by selecting the </a:t>
            </a:r>
            <a:r>
              <a:rPr lang="en-IN" b="1" dirty="0"/>
              <a:t>Add new price list item</a:t>
            </a:r>
            <a:r>
              <a:rPr lang="en-IN" dirty="0"/>
              <a:t> button on the </a:t>
            </a:r>
            <a:r>
              <a:rPr lang="en-IN" b="1" dirty="0"/>
              <a:t>Price list items</a:t>
            </a:r>
            <a:r>
              <a:rPr lang="en-IN" dirty="0"/>
              <a:t> tab. When an item is first added, you can define the following values:</a:t>
            </a:r>
          </a:p>
          <a:p>
            <a:pPr marL="342900" lvl="0" indent="-342900" algn="l">
              <a:buFont typeface="Arial" panose="020B0604020202020204" pitchFamily="34" charset="0"/>
              <a:buChar char="•"/>
            </a:pPr>
            <a:r>
              <a:rPr lang="en-IN" b="1" dirty="0"/>
              <a:t>Price List:</a:t>
            </a:r>
            <a:r>
              <a:rPr lang="en-IN" dirty="0"/>
              <a:t> Specify the price list to add the line item to.</a:t>
            </a:r>
          </a:p>
          <a:p>
            <a:pPr marL="342900" lvl="0" indent="-342900" algn="l">
              <a:buFont typeface="Arial" panose="020B0604020202020204" pitchFamily="34" charset="0"/>
              <a:buChar char="•"/>
            </a:pPr>
            <a:r>
              <a:rPr lang="en-IN" b="1" dirty="0"/>
              <a:t>Product:</a:t>
            </a:r>
            <a:r>
              <a:rPr lang="en-IN" dirty="0"/>
              <a:t> Define the product from the product catalog to associate the line item with.</a:t>
            </a:r>
          </a:p>
          <a:p>
            <a:pPr marL="342900" lvl="0" indent="-342900" algn="l">
              <a:buFont typeface="Arial" panose="020B0604020202020204" pitchFamily="34" charset="0"/>
              <a:buChar char="•"/>
            </a:pPr>
            <a:r>
              <a:rPr lang="en-IN" b="1" dirty="0"/>
              <a:t>Unit:</a:t>
            </a:r>
            <a:r>
              <a:rPr lang="en-IN" dirty="0"/>
              <a:t> Define the unit of measure to use with the line items, based on the unit group that's associated with the product.</a:t>
            </a:r>
          </a:p>
          <a:p>
            <a:pPr marL="342900" lvl="0" indent="-342900" algn="l">
              <a:buFont typeface="Arial" panose="020B0604020202020204" pitchFamily="34" charset="0"/>
              <a:buChar char="•"/>
            </a:pPr>
            <a:r>
              <a:rPr lang="en-IN" b="1" dirty="0"/>
              <a:t>Discount List:</a:t>
            </a:r>
            <a:r>
              <a:rPr lang="en-IN" dirty="0"/>
              <a:t> Define the discount list to use if the line item requires any volume discounts.</a:t>
            </a:r>
          </a:p>
          <a:p>
            <a:pPr marL="342900" lvl="0" indent="-342900" algn="l">
              <a:buFont typeface="Arial" panose="020B0604020202020204" pitchFamily="34" charset="0"/>
              <a:buChar char="•"/>
            </a:pPr>
            <a:r>
              <a:rPr lang="en-IN" b="1" dirty="0"/>
              <a:t>Quantity Selling Option: </a:t>
            </a:r>
            <a:r>
              <a:rPr lang="en-IN" dirty="0"/>
              <a:t>Define whether the item can be sold whole or in fractional amounts.</a:t>
            </a:r>
          </a:p>
          <a:p>
            <a:pPr algn="l"/>
            <a:endParaRPr lang="en-IN" dirty="0"/>
          </a:p>
        </p:txBody>
      </p:sp>
    </p:spTree>
    <p:extLst>
      <p:ext uri="{BB962C8B-B14F-4D97-AF65-F5344CB8AC3E}">
        <p14:creationId xmlns:p14="http://schemas.microsoft.com/office/powerpoint/2010/main" val="34528851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sz="3200" dirty="0"/>
              <a:t>Define Price list Item and Pricing Method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Pricing information for each line item is defined on the </a:t>
            </a:r>
            <a:r>
              <a:rPr lang="en-IN" b="1" dirty="0"/>
              <a:t>Pricing</a:t>
            </a:r>
            <a:r>
              <a:rPr lang="en-IN" dirty="0"/>
              <a:t> tab on the </a:t>
            </a:r>
            <a:r>
              <a:rPr lang="en-IN" b="1" dirty="0"/>
              <a:t>Price List Item</a:t>
            </a:r>
            <a:r>
              <a:rPr lang="en-IN" dirty="0"/>
              <a:t> page. The first and most important column that you must define is the </a:t>
            </a:r>
            <a:r>
              <a:rPr lang="en-IN" b="1" dirty="0"/>
              <a:t>Pricing Method</a:t>
            </a:r>
            <a:r>
              <a:rPr lang="en-IN" dirty="0"/>
              <a:t> column. This column defines the actual price of the item for this price list. The following options are available:</a:t>
            </a:r>
          </a:p>
          <a:p>
            <a:pPr marL="342900" lvl="0" indent="-342900" algn="l">
              <a:buFont typeface="Arial" panose="020B0604020202020204" pitchFamily="34" charset="0"/>
              <a:buChar char="•"/>
            </a:pPr>
            <a:r>
              <a:rPr lang="en-IN" b="1" dirty="0"/>
              <a:t>Currency Amount:</a:t>
            </a:r>
            <a:r>
              <a:rPr lang="en-IN" dirty="0"/>
              <a:t> Select this option to ignore a product's list price in the product catalog and manually enter a different price for this pricelist.</a:t>
            </a:r>
          </a:p>
          <a:p>
            <a:pPr marL="342900" lvl="0" indent="-342900" algn="l">
              <a:buFont typeface="Arial" panose="020B0604020202020204" pitchFamily="34" charset="0"/>
              <a:buChar char="•"/>
            </a:pPr>
            <a:r>
              <a:rPr lang="en-IN" b="1" dirty="0"/>
              <a:t>Percent of List:</a:t>
            </a:r>
            <a:r>
              <a:rPr lang="en-IN" dirty="0"/>
              <a:t> Select this option to calculate a product's price on the price list as a percentage of its list price.  </a:t>
            </a:r>
          </a:p>
          <a:p>
            <a:pPr marL="342900" lvl="0" indent="-342900" algn="l">
              <a:buFont typeface="Arial" panose="020B0604020202020204" pitchFamily="34" charset="0"/>
              <a:buChar char="•"/>
            </a:pPr>
            <a:r>
              <a:rPr lang="en-IN" b="1" dirty="0"/>
              <a:t>Percent Mark-up - Current Cost:</a:t>
            </a:r>
            <a:r>
              <a:rPr lang="en-IN" dirty="0"/>
              <a:t> Select this option to add a percentage mark-up on top of the current cost that's entered in the product catalog.</a:t>
            </a:r>
          </a:p>
          <a:p>
            <a:pPr algn="l"/>
            <a:endParaRPr lang="en-IN" dirty="0"/>
          </a:p>
        </p:txBody>
      </p:sp>
    </p:spTree>
    <p:extLst>
      <p:ext uri="{BB962C8B-B14F-4D97-AF65-F5344CB8AC3E}">
        <p14:creationId xmlns:p14="http://schemas.microsoft.com/office/powerpoint/2010/main" val="14563393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sz="3200" dirty="0"/>
              <a:t>Define Price list Item and Pricing Method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lvl="0" indent="-342900" algn="l">
              <a:buFont typeface="Arial" panose="020B0604020202020204" pitchFamily="34" charset="0"/>
              <a:buChar char="•"/>
            </a:pPr>
            <a:r>
              <a:rPr lang="en-IN" b="1" dirty="0"/>
              <a:t>Percent Margin - Current Cost:</a:t>
            </a:r>
            <a:r>
              <a:rPr lang="en-IN" dirty="0"/>
              <a:t> Select this option if the price that's offered on the price list should yield a percentage margin of the current cost.</a:t>
            </a:r>
          </a:p>
          <a:p>
            <a:pPr marL="342900" lvl="0" indent="-342900" algn="l">
              <a:buFont typeface="Arial" panose="020B0604020202020204" pitchFamily="34" charset="0"/>
              <a:buChar char="•"/>
            </a:pPr>
            <a:r>
              <a:rPr lang="en-IN" b="1" dirty="0"/>
              <a:t>Percent Mark-up - Standard Cost:</a:t>
            </a:r>
            <a:r>
              <a:rPr lang="en-IN" dirty="0"/>
              <a:t> Select this option to add a percentage mark-up on top of the standard cost that's entered in the product catalog. </a:t>
            </a:r>
          </a:p>
          <a:p>
            <a:pPr marL="342900" lvl="0" indent="-342900" algn="l">
              <a:buFont typeface="Arial" panose="020B0604020202020204" pitchFamily="34" charset="0"/>
              <a:buChar char="•"/>
            </a:pPr>
            <a:r>
              <a:rPr lang="en-IN" b="1" dirty="0"/>
              <a:t>Percent Margin - Standard Cost:</a:t>
            </a:r>
            <a:r>
              <a:rPr lang="en-IN" dirty="0"/>
              <a:t> Select this option if the price that's offered on the price list should yield a percentage margin of the standard cost.</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5325180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sz="3200" dirty="0"/>
              <a:t>Define Price list Item and Pricing Method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endParaRPr lang="en-IN" dirty="0"/>
          </a:p>
        </p:txBody>
      </p:sp>
      <p:pic>
        <p:nvPicPr>
          <p:cNvPr id="8" name="Picture 7" descr="New Price List Item page on the Pricing information tab with the Pricing Method dropdown highlighted and Currency Amount selected.">
            <a:extLst>
              <a:ext uri="{FF2B5EF4-FFF2-40B4-BE49-F238E27FC236}">
                <a16:creationId xmlns:a16="http://schemas.microsoft.com/office/drawing/2014/main" id="{0FEECB0F-2D0F-4E0C-B167-1123ED5681D3}"/>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9867" y="1144427"/>
            <a:ext cx="9757780" cy="4992634"/>
          </a:xfrm>
          <a:prstGeom prst="rect">
            <a:avLst/>
          </a:prstGeom>
          <a:noFill/>
          <a:ln>
            <a:solidFill>
              <a:schemeClr val="tx1"/>
            </a:solidFill>
          </a:ln>
        </p:spPr>
      </p:pic>
    </p:spTree>
    <p:extLst>
      <p:ext uri="{BB962C8B-B14F-4D97-AF65-F5344CB8AC3E}">
        <p14:creationId xmlns:p14="http://schemas.microsoft.com/office/powerpoint/2010/main" val="16998527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sz="3200" dirty="0"/>
              <a:t>Define Price list Item and Pricing Method</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b="1" dirty="0"/>
              <a:t>Note:</a:t>
            </a:r>
            <a:r>
              <a:rPr lang="en-IN" dirty="0"/>
              <a:t> To calculate the Amount based on the Pricing method, “List Price”, “Current Cost” and “Standard Cost” fields of Product are being used.</a:t>
            </a:r>
          </a:p>
          <a:p>
            <a:pPr marL="342900" indent="-342900" algn="l">
              <a:buFont typeface="Arial" panose="020B0604020202020204" pitchFamily="34" charset="0"/>
              <a:buChar char="•"/>
            </a:pPr>
            <a:r>
              <a:rPr lang="en-IN" b="1" dirty="0"/>
              <a:t>List Price</a:t>
            </a:r>
            <a:r>
              <a:rPr lang="en-IN" dirty="0"/>
              <a:t>: This is the ‘listed’ price. You may still choose to have mark-up over it – which can be defined in the pricing method.</a:t>
            </a:r>
          </a:p>
          <a:p>
            <a:pPr marL="342900" indent="-342900" algn="l">
              <a:buFont typeface="Arial" panose="020B0604020202020204" pitchFamily="34" charset="0"/>
              <a:buChar char="•"/>
            </a:pPr>
            <a:r>
              <a:rPr lang="en-IN" b="1" dirty="0"/>
              <a:t>Current Cost</a:t>
            </a:r>
            <a:r>
              <a:rPr lang="en-IN" dirty="0"/>
              <a:t>: This is the current cost of an item, which is usually updated each time a new shipment is received.</a:t>
            </a:r>
          </a:p>
          <a:p>
            <a:pPr marL="342900" indent="-342900" algn="l">
              <a:buFont typeface="Arial" panose="020B0604020202020204" pitchFamily="34" charset="0"/>
              <a:buChar char="•"/>
            </a:pPr>
            <a:r>
              <a:rPr lang="en-IN" b="1" dirty="0"/>
              <a:t>Standard Cost</a:t>
            </a:r>
            <a:r>
              <a:rPr lang="en-IN" dirty="0"/>
              <a:t>: This is the standard cost of an item, which is updated periodically, but not necessarily each time a new shipment is received. It is not equal to the actual cost of the item.</a:t>
            </a:r>
          </a:p>
          <a:p>
            <a:pPr marL="342900" indent="-342900" algn="l">
              <a:buFont typeface="Arial" panose="020B0604020202020204" pitchFamily="34" charset="0"/>
              <a:buChar char="•"/>
            </a:pPr>
            <a:r>
              <a:rPr lang="en-IN" b="1" dirty="0"/>
              <a:t>Reference Link</a:t>
            </a:r>
            <a:r>
              <a:rPr lang="en-IN" dirty="0"/>
              <a:t>: </a:t>
            </a:r>
            <a:r>
              <a:rPr lang="en-IN" u="sng" dirty="0">
                <a:hlinkClick r:id="rId3"/>
              </a:rPr>
              <a:t>https://docs.microsoft.com/en-us/dynamics365/customerengagement/on-premises/developer/product-pricing-methods?view=op-9-1</a:t>
            </a:r>
            <a:endParaRPr lang="en-IN" dirty="0"/>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41870891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r>
              <a:rPr lang="en-IN" dirty="0"/>
              <a:t>Inactivating Price Lists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When a price list is no longer valid, it can be inactivated by selecting the </a:t>
            </a:r>
            <a:r>
              <a:rPr lang="en-IN" b="1" dirty="0"/>
              <a:t>Deactivate</a:t>
            </a:r>
            <a:r>
              <a:rPr lang="en-IN" dirty="0"/>
              <a:t> button on the command bar of the price list. For example, a company had an introductory price list for a product launch. After several months, the introductory offer is over, and the price list is no longer valid. In this case, you can inactivate the introductory price list so that it can't be applied to any products.</a:t>
            </a:r>
          </a:p>
          <a:p>
            <a:pPr algn="l"/>
            <a:r>
              <a:rPr lang="en-IN" b="1" dirty="0"/>
              <a:t>Reference Link</a:t>
            </a:r>
            <a:r>
              <a:rPr lang="en-IN" dirty="0"/>
              <a:t>: </a:t>
            </a:r>
            <a:r>
              <a:rPr lang="en-IN" u="sng" dirty="0">
                <a:hlinkClick r:id="rId3"/>
              </a:rPr>
              <a:t>https://docs.microsoft.com/en-us/dynamics365/sales/create-price-lists-price-list-items-define-pricing-products</a:t>
            </a:r>
            <a:r>
              <a:rPr lang="en-IN" dirty="0"/>
              <a:t> </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33053362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Re-parenting a Product</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r>
              <a:rPr lang="en-IN" dirty="0"/>
              <a:t>To organize your company's product catalog better, you may want to change the parent of an existing product record so the child products inherit the appropriate product properties. You can change the parent of an existing product, bundle, or family to a new parent or delete an existing parent.</a:t>
            </a:r>
          </a:p>
          <a:p>
            <a:pPr marL="342900" indent="-342900" algn="l">
              <a:buFont typeface="Arial" panose="020B0604020202020204" pitchFamily="34" charset="0"/>
              <a:buChar char="•"/>
            </a:pPr>
            <a:r>
              <a:rPr lang="en-IN" dirty="0"/>
              <a:t>To change the parent of a product, bundle, or family, open the respective record, and in the </a:t>
            </a:r>
            <a:r>
              <a:rPr lang="en-IN" b="1" dirty="0"/>
              <a:t>Parent</a:t>
            </a:r>
            <a:r>
              <a:rPr lang="en-IN" dirty="0"/>
              <a:t> field, select the new parent record. To delete the parent, just remove the parent record from the </a:t>
            </a:r>
            <a:r>
              <a:rPr lang="en-IN" b="1" dirty="0"/>
              <a:t>Parent</a:t>
            </a:r>
            <a:r>
              <a:rPr lang="en-IN" dirty="0"/>
              <a:t> field.</a:t>
            </a:r>
          </a:p>
          <a:p>
            <a:pPr marL="342900" indent="-342900" algn="l">
              <a:buFont typeface="Arial" panose="020B0604020202020204" pitchFamily="34" charset="0"/>
              <a:buChar char="•"/>
            </a:pPr>
            <a:r>
              <a:rPr lang="en-IN" dirty="0"/>
              <a:t>Things to consider when changing parent:</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49467136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Re-parenting a Product</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lvl="0" indent="-342900" algn="l">
              <a:buFont typeface="Arial" panose="020B0604020202020204" pitchFamily="34" charset="0"/>
              <a:buChar char="•"/>
            </a:pPr>
            <a:r>
              <a:rPr lang="en-IN" dirty="0"/>
              <a:t>Products that are re-parented can't be reverted. When a product is re-parented, the properties inherited from the previous parent are lost. Thus, you can't revert the properties of the re-parented product to the last active version of the product.</a:t>
            </a:r>
          </a:p>
          <a:p>
            <a:pPr marL="342900" lvl="0" indent="-342900" algn="l">
              <a:buFont typeface="Arial" panose="020B0604020202020204" pitchFamily="34" charset="0"/>
              <a:buChar char="•"/>
            </a:pPr>
            <a:r>
              <a:rPr lang="en-IN" dirty="0"/>
              <a:t>You can only select a product family as a parent.</a:t>
            </a:r>
          </a:p>
          <a:p>
            <a:pPr marL="342900" lvl="0" indent="-342900" algn="l">
              <a:buFont typeface="Arial" panose="020B0604020202020204" pitchFamily="34" charset="0"/>
              <a:buChar char="•"/>
            </a:pPr>
            <a:r>
              <a:rPr lang="en-IN" dirty="0"/>
              <a:t>You can only set product families that are in the Under Revision, Draft, or Active state as a parent.</a:t>
            </a:r>
          </a:p>
          <a:p>
            <a:pPr marL="342900" lvl="0" indent="-342900" algn="l">
              <a:buFont typeface="Arial" panose="020B0604020202020204" pitchFamily="34" charset="0"/>
              <a:buChar char="•"/>
            </a:pPr>
            <a:r>
              <a:rPr lang="en-IN" dirty="0"/>
              <a:t>You can only change or remove the parent from records that are in the </a:t>
            </a:r>
            <a:r>
              <a:rPr lang="en-IN" b="1" dirty="0"/>
              <a:t>Under Revision</a:t>
            </a:r>
            <a:r>
              <a:rPr lang="en-IN" dirty="0"/>
              <a:t> or </a:t>
            </a:r>
            <a:r>
              <a:rPr lang="en-IN" b="1" dirty="0"/>
              <a:t>Draft</a:t>
            </a:r>
            <a:r>
              <a:rPr lang="en-IN" dirty="0"/>
              <a:t> status.</a:t>
            </a:r>
          </a:p>
          <a:p>
            <a:pPr marL="342900" lvl="0" indent="-342900" algn="l">
              <a:buFont typeface="Arial" panose="020B0604020202020204" pitchFamily="34" charset="0"/>
              <a:buChar char="•"/>
            </a:pPr>
            <a:r>
              <a:rPr lang="en-IN" dirty="0"/>
              <a:t>For an </a:t>
            </a:r>
            <a:r>
              <a:rPr lang="en-IN" b="1" dirty="0"/>
              <a:t>Under Revision</a:t>
            </a:r>
            <a:r>
              <a:rPr lang="en-IN" dirty="0"/>
              <a:t> record, only an </a:t>
            </a:r>
            <a:r>
              <a:rPr lang="en-IN" b="1" dirty="0"/>
              <a:t>Under Revision</a:t>
            </a:r>
            <a:r>
              <a:rPr lang="en-IN" dirty="0"/>
              <a:t> or </a:t>
            </a:r>
            <a:r>
              <a:rPr lang="en-IN" b="1" dirty="0"/>
              <a:t>Active</a:t>
            </a:r>
            <a:r>
              <a:rPr lang="en-IN" dirty="0"/>
              <a:t> record can be selected as its parent.</a:t>
            </a:r>
          </a:p>
          <a:p>
            <a:pPr marL="342900" lvl="0" indent="-342900" algn="l">
              <a:buFont typeface="Arial" panose="020B0604020202020204" pitchFamily="34" charset="0"/>
              <a:buChar char="•"/>
            </a:pPr>
            <a:r>
              <a:rPr lang="en-IN" dirty="0"/>
              <a:t>For a </a:t>
            </a:r>
            <a:r>
              <a:rPr lang="en-IN" b="1" dirty="0"/>
              <a:t>Draft</a:t>
            </a:r>
            <a:r>
              <a:rPr lang="en-IN" dirty="0"/>
              <a:t> record, only an </a:t>
            </a:r>
            <a:r>
              <a:rPr lang="en-IN" b="1" dirty="0"/>
              <a:t>Under Revision</a:t>
            </a:r>
            <a:r>
              <a:rPr lang="en-IN" dirty="0"/>
              <a:t>, </a:t>
            </a:r>
            <a:r>
              <a:rPr lang="en-IN" b="1" dirty="0"/>
              <a:t>Draft</a:t>
            </a:r>
            <a:r>
              <a:rPr lang="en-IN" dirty="0"/>
              <a:t>, or </a:t>
            </a:r>
            <a:r>
              <a:rPr lang="en-IN" b="1" dirty="0"/>
              <a:t>Active</a:t>
            </a:r>
            <a:r>
              <a:rPr lang="en-IN" dirty="0"/>
              <a:t> record can be selected as its parent.</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9306528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Re-parenting a Product</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r>
              <a:rPr lang="en-IN" dirty="0"/>
              <a:t>When you re-parent an existing record, all the existing inherited properties of the record and its child records are removed, and the new properties of the new parent (if any) are added.</a:t>
            </a:r>
          </a:p>
          <a:p>
            <a:pPr marL="342900" indent="-342900" algn="l">
              <a:buFont typeface="Arial" panose="020B0604020202020204" pitchFamily="34" charset="0"/>
              <a:buChar char="•"/>
            </a:pPr>
            <a:r>
              <a:rPr lang="en-IN" dirty="0"/>
              <a:t>For example, think of a TV that was previously classified as "Plasma." The organization decides it’s better to organize TVs as Smart vs Non-Smart TVs. They decide to move it from the "Plasma" family to the "Smart TV" family. A new set of properties relating to Smart TV are added and Plasma properties are removed from the parent.</a:t>
            </a:r>
          </a:p>
          <a:p>
            <a:pPr marL="342900" indent="-342900" algn="l">
              <a:buFont typeface="Arial" panose="020B0604020202020204" pitchFamily="34" charset="0"/>
              <a:buChar char="•"/>
            </a:pPr>
            <a:r>
              <a:rPr lang="en-IN" b="1" dirty="0"/>
              <a:t>Reference Link: </a:t>
            </a:r>
            <a:r>
              <a:rPr lang="en-IN" u="sng" dirty="0">
                <a:hlinkClick r:id="rId3"/>
              </a:rPr>
              <a:t>https://docs.microsoft.com/en-us/dynamics365/sales/change-product-parent</a:t>
            </a:r>
            <a:r>
              <a:rPr lang="en-IN" b="1" dirty="0"/>
              <a:t> </a:t>
            </a:r>
            <a:endParaRPr lang="en-IN" dirty="0"/>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324447390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Properties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Another advantage of product families is that you can define properties to help distinguish products. For example, a property can be used to offer size or color options for shirts that belong to the same family.</a:t>
            </a:r>
          </a:p>
          <a:p>
            <a:pPr algn="l"/>
            <a:r>
              <a:rPr lang="en-IN" dirty="0"/>
              <a:t>Properties can be defined at the family level only when the family is in a draft or revision state. To define properties, select the </a:t>
            </a:r>
            <a:r>
              <a:rPr lang="en-IN" b="1" dirty="0"/>
              <a:t>Add New Property</a:t>
            </a:r>
            <a:r>
              <a:rPr lang="en-IN" dirty="0"/>
              <a:t> button. Any child products, bundles, or child families will automatically inherit the properties from their parent family.</a:t>
            </a:r>
          </a:p>
          <a:p>
            <a:pPr algn="l"/>
            <a:r>
              <a:rPr lang="en-IN" dirty="0"/>
              <a:t>When a property is created, you must define the following details:</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9014044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Properties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lvl="0" indent="-342900" algn="l">
              <a:buFont typeface="Arial" panose="020B0604020202020204" pitchFamily="34" charset="0"/>
              <a:buChar char="•"/>
            </a:pPr>
            <a:r>
              <a:rPr lang="en-IN" b="1" dirty="0"/>
              <a:t>Name:</a:t>
            </a:r>
            <a:r>
              <a:rPr lang="en-IN" dirty="0"/>
              <a:t> Enter the name of the property that will be presented to users when they set it.</a:t>
            </a:r>
          </a:p>
          <a:p>
            <a:pPr marL="342900" lvl="0" indent="-342900" algn="l">
              <a:buFont typeface="Arial" panose="020B0604020202020204" pitchFamily="34" charset="0"/>
              <a:buChar char="•"/>
            </a:pPr>
            <a:r>
              <a:rPr lang="en-IN" b="1" dirty="0"/>
              <a:t>Read-Only:</a:t>
            </a:r>
            <a:r>
              <a:rPr lang="en-IN" dirty="0"/>
              <a:t> Specify whether users can edit the property.</a:t>
            </a:r>
          </a:p>
          <a:p>
            <a:pPr marL="342900" lvl="0" indent="-342900" algn="l">
              <a:buFont typeface="Arial" panose="020B0604020202020204" pitchFamily="34" charset="0"/>
              <a:buChar char="•"/>
            </a:pPr>
            <a:r>
              <a:rPr lang="en-IN" b="1" dirty="0"/>
              <a:t>Required:</a:t>
            </a:r>
            <a:r>
              <a:rPr lang="en-IN" dirty="0"/>
              <a:t> Specify whether a value must be defined for the property.</a:t>
            </a:r>
          </a:p>
          <a:p>
            <a:pPr marL="342900" lvl="0" indent="-342900" algn="l">
              <a:buFont typeface="Arial" panose="020B0604020202020204" pitchFamily="34" charset="0"/>
              <a:buChar char="•"/>
            </a:pPr>
            <a:r>
              <a:rPr lang="en-IN" b="1" dirty="0"/>
              <a:t>Hidden:</a:t>
            </a:r>
            <a:r>
              <a:rPr lang="en-IN" dirty="0"/>
              <a:t> Specify whether the property will be hidden from users when it's consumed.</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29210799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Properties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For each property that's defined, a data type must be defined on the </a:t>
            </a:r>
            <a:r>
              <a:rPr lang="en-IN" b="1" dirty="0"/>
              <a:t>Properties</a:t>
            </a:r>
            <a:r>
              <a:rPr lang="en-IN" dirty="0"/>
              <a:t> tab. The data type determines the type of data that can be captured for the property. The data can be a choice, a decimal number, a floating-point number, a single line of text, or a whole number. Depending on the data type that's selected, additional options might be available for the property. For example, a property that defines the </a:t>
            </a:r>
            <a:r>
              <a:rPr lang="en-IN" dirty="0" err="1"/>
              <a:t>colors</a:t>
            </a:r>
            <a:r>
              <a:rPr lang="en-IN" dirty="0"/>
              <a:t> that a car line is available in might to be set to a data type of </a:t>
            </a:r>
            <a:r>
              <a:rPr lang="en-IN" i="1" dirty="0"/>
              <a:t>choice</a:t>
            </a:r>
            <a:r>
              <a:rPr lang="en-IN" dirty="0"/>
              <a:t>. After the record is saved, each color option must be added as a property choice item.</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395976872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Properties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endParaRPr lang="en-IN" dirty="0"/>
          </a:p>
        </p:txBody>
      </p:sp>
      <p:pic>
        <p:nvPicPr>
          <p:cNvPr id="8" name="Picture 7" descr="Data type. You can specify a default value based on the values added. Each option available to select must be added as an choice item.">
            <a:extLst>
              <a:ext uri="{FF2B5EF4-FFF2-40B4-BE49-F238E27FC236}">
                <a16:creationId xmlns:a16="http://schemas.microsoft.com/office/drawing/2014/main" id="{D6C48664-9437-4F51-B302-48EF77AF62A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0" y="1102659"/>
            <a:ext cx="9789155" cy="5048718"/>
          </a:xfrm>
          <a:prstGeom prst="rect">
            <a:avLst/>
          </a:prstGeom>
          <a:noFill/>
          <a:ln>
            <a:solidFill>
              <a:schemeClr val="tx1"/>
            </a:solidFill>
          </a:ln>
        </p:spPr>
      </p:pic>
    </p:spTree>
    <p:extLst>
      <p:ext uri="{BB962C8B-B14F-4D97-AF65-F5344CB8AC3E}">
        <p14:creationId xmlns:p14="http://schemas.microsoft.com/office/powerpoint/2010/main" val="75925808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Properties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r>
              <a:rPr lang="en-IN" dirty="0"/>
              <a:t>When individual products are added to items like opportunities, quotes, and orders, users can define the available values for each property that's defined for the product family. Just select the </a:t>
            </a:r>
            <a:r>
              <a:rPr lang="en-IN" b="1" dirty="0"/>
              <a:t>Edit Properties</a:t>
            </a:r>
            <a:r>
              <a:rPr lang="en-IN" dirty="0"/>
              <a:t> button in the </a:t>
            </a:r>
            <a:r>
              <a:rPr lang="en-IN" b="1" dirty="0"/>
              <a:t>Line items</a:t>
            </a:r>
            <a:r>
              <a:rPr lang="en-IN" dirty="0"/>
              <a:t> sub-grid.</a:t>
            </a:r>
          </a:p>
          <a:p>
            <a:pPr algn="l"/>
            <a:r>
              <a:rPr lang="en-IN" b="1" dirty="0"/>
              <a:t>Reference Link</a:t>
            </a:r>
            <a:r>
              <a:rPr lang="en-IN" dirty="0"/>
              <a:t>: </a:t>
            </a:r>
          </a:p>
          <a:p>
            <a:pPr algn="l"/>
            <a:r>
              <a:rPr lang="en-IN" u="sng" dirty="0">
                <a:hlinkClick r:id="rId3"/>
              </a:rPr>
              <a:t>https://docs.microsoft.com/en-us/dynamics365/sales/use-properties-describe-product</a:t>
            </a:r>
            <a:r>
              <a:rPr lang="en-IN" dirty="0"/>
              <a:t> </a:t>
            </a:r>
            <a:r>
              <a:rPr lang="en-IN" u="sng" dirty="0"/>
              <a:t> </a:t>
            </a:r>
            <a:r>
              <a:rPr lang="en-IN" u="sng" dirty="0">
                <a:hlinkClick r:id="rId4"/>
              </a:rPr>
              <a:t>https://www.inogic.com/blog/2021/03/enhanced-experience-for-product-properties-in-dynamics-365-crm/</a:t>
            </a:r>
            <a:r>
              <a:rPr lang="en-IN" u="sng" dirty="0"/>
              <a:t> </a:t>
            </a:r>
            <a:endParaRPr lang="en-IN" dirty="0"/>
          </a:p>
          <a:p>
            <a:pPr marL="342900" indent="-342900" algn="l">
              <a:buFont typeface="Arial" panose="020B0604020202020204" pitchFamily="34" charset="0"/>
              <a:buChar char="•"/>
            </a:pPr>
            <a:endParaRPr lang="en-IN" dirty="0"/>
          </a:p>
        </p:txBody>
      </p:sp>
      <p:pic>
        <p:nvPicPr>
          <p:cNvPr id="9" name="Picture 8" descr="Edit Properties dialog box for 2019 SUV with options for Doors and Exterior color.">
            <a:extLst>
              <a:ext uri="{FF2B5EF4-FFF2-40B4-BE49-F238E27FC236}">
                <a16:creationId xmlns:a16="http://schemas.microsoft.com/office/drawing/2014/main" id="{2DFD3CD5-9879-4BFD-A38E-F27BC650675C}"/>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1044071" y="4429841"/>
            <a:ext cx="8584023" cy="1791808"/>
          </a:xfrm>
          <a:prstGeom prst="rect">
            <a:avLst/>
          </a:prstGeom>
          <a:noFill/>
          <a:ln>
            <a:solidFill>
              <a:schemeClr val="tx1"/>
            </a:solidFill>
          </a:ln>
        </p:spPr>
      </p:pic>
    </p:spTree>
    <p:extLst>
      <p:ext uri="{BB962C8B-B14F-4D97-AF65-F5344CB8AC3E}">
        <p14:creationId xmlns:p14="http://schemas.microsoft.com/office/powerpoint/2010/main" val="268295692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Product relationships can be used to “link” products for a variety of purposes including up-sell, cross-sell, accessories or substitutions. These relationships can then be used to suggest products as we create opportunities, quotes etc.</a:t>
            </a:r>
          </a:p>
          <a:p>
            <a:pPr lvl="0" algn="l" fontAlgn="base"/>
            <a:r>
              <a:rPr lang="en-IN" b="1" dirty="0"/>
              <a:t>Up-sell</a:t>
            </a:r>
            <a:r>
              <a:rPr lang="en-IN" dirty="0"/>
              <a:t> – An up-sale would be any improvements/additions someone might want to buy. In terms of my caravan purchase, this could include many items such as alloy wheels or a higher specification of kitchen appliances.</a:t>
            </a:r>
          </a:p>
          <a:p>
            <a:pPr lvl="0" algn="l" fontAlgn="base"/>
            <a:r>
              <a:rPr lang="en-IN" b="1" dirty="0"/>
              <a:t>Cross-sell</a:t>
            </a:r>
            <a:r>
              <a:rPr lang="en-IN" dirty="0"/>
              <a:t> – Cross sales are any additional products someone might want to buy. For example, someone who recently bought a caravan may be interested in picnic chairs, a cycle carrier or a BBQ.</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15277668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lvl="0" algn="l" fontAlgn="base"/>
            <a:r>
              <a:rPr lang="en-IN" b="1" dirty="0"/>
              <a:t>Accessory</a:t>
            </a:r>
            <a:r>
              <a:rPr lang="en-IN" dirty="0"/>
              <a:t> – these are anything additional I could use in conjunction with the product. In my caravan example, maybe an awning, gas bottles or a leisure battery might fall into this category.</a:t>
            </a:r>
          </a:p>
          <a:p>
            <a:pPr lvl="0" algn="l" fontAlgn="base"/>
            <a:r>
              <a:rPr lang="en-IN" b="1" dirty="0"/>
              <a:t>Substitute</a:t>
            </a:r>
            <a:r>
              <a:rPr lang="en-IN" dirty="0"/>
              <a:t> – these are items that could be swapped. With my caravan purchase, maybe I could substitute a standard caravan for a deluxe one. Or possibly swap the 2018 model for 2019 one.</a:t>
            </a:r>
          </a:p>
          <a:p>
            <a:pPr marL="342900" indent="-342900" algn="l">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4455424B-52D5-4AEA-9DD6-F3D9CC167B3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8491" y="3563904"/>
            <a:ext cx="10255018" cy="2643427"/>
          </a:xfrm>
          <a:prstGeom prst="rect">
            <a:avLst/>
          </a:prstGeom>
          <a:noFill/>
          <a:ln>
            <a:solidFill>
              <a:schemeClr val="tx1"/>
            </a:solidFill>
          </a:ln>
        </p:spPr>
      </p:pic>
    </p:spTree>
    <p:extLst>
      <p:ext uri="{BB962C8B-B14F-4D97-AF65-F5344CB8AC3E}">
        <p14:creationId xmlns:p14="http://schemas.microsoft.com/office/powerpoint/2010/main" val="320301315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fontAlgn="base"/>
            <a:r>
              <a:rPr lang="en-IN" dirty="0"/>
              <a:t>With each related product, you can also define if the relationship is one way or both ways. (Uni-directional to bi-directional.) For example someone who bought a caravan might be open to a cross-sell to a BBQ. But someone who bought a BBQ is unlikely to immediately need a caravan! Meaning this would be a </a:t>
            </a:r>
            <a:r>
              <a:rPr lang="en-IN" dirty="0" err="1"/>
              <a:t>uni</a:t>
            </a:r>
            <a:r>
              <a:rPr lang="en-IN" dirty="0"/>
              <a:t>-directional sales relationship.</a:t>
            </a:r>
          </a:p>
          <a:p>
            <a:pPr algn="l" fontAlgn="base"/>
            <a:r>
              <a:rPr lang="en-IN" dirty="0"/>
              <a:t>To give another example, someone buying some picnic plates might be interested in some picnic bowls. And someone buying some bowls might be interested in plates. This product relationship would therefore be bi-directional.</a:t>
            </a:r>
          </a:p>
          <a:p>
            <a:pPr algn="l" fontAlgn="base"/>
            <a:r>
              <a:rPr lang="en-IN" dirty="0"/>
              <a:t>When adding products to an opportunity we have the option to look for suggestions (see below)</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163619781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CF684AF8-6C51-44EE-A292-D4694CF1DAE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1" y="1102658"/>
            <a:ext cx="9789156" cy="4992763"/>
          </a:xfrm>
          <a:prstGeom prst="rect">
            <a:avLst/>
          </a:prstGeom>
          <a:noFill/>
          <a:ln>
            <a:solidFill>
              <a:schemeClr val="tx1"/>
            </a:solidFill>
          </a:ln>
        </p:spPr>
      </p:pic>
    </p:spTree>
    <p:extLst>
      <p:ext uri="{BB962C8B-B14F-4D97-AF65-F5344CB8AC3E}">
        <p14:creationId xmlns:p14="http://schemas.microsoft.com/office/powerpoint/2010/main" val="20876691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fontAlgn="base"/>
            <a:r>
              <a:rPr lang="en-IN" dirty="0"/>
              <a:t>Clicking suggestions will show all of the products related to the caravan and give me an option to quickly pick which items to add to the opportunity.</a:t>
            </a:r>
          </a:p>
          <a:p>
            <a:pPr algn="l" fontAlgn="base"/>
            <a:r>
              <a:rPr lang="en-IN" b="1" dirty="0"/>
              <a:t>Note:</a:t>
            </a:r>
            <a:br>
              <a:rPr lang="en-IN" dirty="0"/>
            </a:br>
            <a:r>
              <a:rPr lang="en-IN" dirty="0"/>
              <a:t>The suggestions are all related products that are available in the price list (as price list items) that are assigned to the opportunity. So, in my example, all of the items will exist in the Caravan and Camping Equipment price list. This fact might force a little planning when considering how to best organize your product catalog/price lists.</a:t>
            </a:r>
          </a:p>
          <a:p>
            <a:pPr algn="l" fontAlgn="base"/>
            <a:r>
              <a:rPr lang="en-IN" dirty="0"/>
              <a:t>Below you can see what the suggestions screen will look like. As you hover over each suggestion an option appears to pick that item. When you click “Add to List” all of the “picked” items will be added to the opportunity.</a:t>
            </a:r>
          </a:p>
          <a:p>
            <a:pPr marL="342900" indent="-342900" algn="l">
              <a:buFont typeface="Arial" panose="020B0604020202020204" pitchFamily="34" charset="0"/>
              <a:buChar char="•"/>
            </a:pPr>
            <a:endParaRPr lang="en-IN" dirty="0"/>
          </a:p>
        </p:txBody>
      </p:sp>
    </p:spTree>
    <p:extLst>
      <p:ext uri="{BB962C8B-B14F-4D97-AF65-F5344CB8AC3E}">
        <p14:creationId xmlns:p14="http://schemas.microsoft.com/office/powerpoint/2010/main" val="50691133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buFont typeface="Arial" panose="020B0604020202020204" pitchFamily="34" charset="0"/>
              <a:buChar char="•"/>
            </a:pPr>
            <a:endParaRPr lang="en-IN" dirty="0"/>
          </a:p>
        </p:txBody>
      </p:sp>
      <p:pic>
        <p:nvPicPr>
          <p:cNvPr id="8" name="Picture 7">
            <a:extLst>
              <a:ext uri="{FF2B5EF4-FFF2-40B4-BE49-F238E27FC236}">
                <a16:creationId xmlns:a16="http://schemas.microsoft.com/office/drawing/2014/main" id="{11C1C9FE-EEFB-450E-8C91-BB221B9FFE8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8491" y="1102659"/>
            <a:ext cx="4464121" cy="5048718"/>
          </a:xfrm>
          <a:prstGeom prst="rect">
            <a:avLst/>
          </a:prstGeom>
          <a:noFill/>
          <a:ln>
            <a:solidFill>
              <a:schemeClr val="tx1"/>
            </a:solidFill>
          </a:ln>
        </p:spPr>
      </p:pic>
    </p:spTree>
    <p:extLst>
      <p:ext uri="{BB962C8B-B14F-4D97-AF65-F5344CB8AC3E}">
        <p14:creationId xmlns:p14="http://schemas.microsoft.com/office/powerpoint/2010/main" val="6907370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8180439" cy="647443"/>
          </a:xfrm>
        </p:spPr>
        <p:txBody>
          <a:bodyPr>
            <a:noAutofit/>
          </a:bodyPr>
          <a:lstStyle/>
          <a:p>
            <a:pPr lvl="0"/>
            <a:r>
              <a:rPr lang="en-IN" dirty="0"/>
              <a:t>Product Relationship</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fontAlgn="base">
              <a:lnSpc>
                <a:spcPct val="150000"/>
              </a:lnSpc>
            </a:pPr>
            <a:r>
              <a:rPr lang="en-IN" dirty="0"/>
              <a:t>You can pick the items and select “Add to list” to add the list of products on the opportunity.</a:t>
            </a:r>
          </a:p>
          <a:p>
            <a:pPr algn="l">
              <a:lnSpc>
                <a:spcPct val="150000"/>
              </a:lnSpc>
            </a:pPr>
            <a:r>
              <a:rPr lang="en-IN" b="1" dirty="0"/>
              <a:t>Reference Link</a:t>
            </a:r>
            <a:r>
              <a:rPr lang="en-IN" dirty="0"/>
              <a:t>: </a:t>
            </a:r>
            <a:r>
              <a:rPr lang="en-IN" u="sng" dirty="0">
                <a:hlinkClick r:id="rId3"/>
              </a:rPr>
              <a:t>https://docs.microsoft.com/en-us/dynamics365/sales/define-related-products-increase-chances-sales</a:t>
            </a:r>
            <a:r>
              <a:rPr lang="en-IN" dirty="0"/>
              <a:t> </a:t>
            </a:r>
          </a:p>
          <a:p>
            <a:pPr marL="342900" indent="-342900" algn="l">
              <a:lnSpc>
                <a:spcPct val="150000"/>
              </a:lnSpc>
              <a:buFont typeface="Arial" panose="020B0604020202020204" pitchFamily="34" charset="0"/>
              <a:buChar char="•"/>
            </a:pPr>
            <a:endParaRPr lang="en-IN" dirty="0"/>
          </a:p>
        </p:txBody>
      </p:sp>
    </p:spTree>
    <p:extLst>
      <p:ext uri="{BB962C8B-B14F-4D97-AF65-F5344CB8AC3E}">
        <p14:creationId xmlns:p14="http://schemas.microsoft.com/office/powerpoint/2010/main" val="1027550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marL="342900" indent="-342900">
              <a:lnSpc>
                <a:spcPct val="150000"/>
              </a:lnSpc>
            </a:pPr>
            <a:r>
              <a:rPr lang="en-IN" sz="2800" dirty="0"/>
              <a:t>Publishing, Cloning, Revising, and Retiring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lnSpc>
                <a:spcPct val="110000"/>
              </a:lnSpc>
              <a:buFont typeface="Arial" panose="020B0604020202020204" pitchFamily="34" charset="0"/>
              <a:buChar char="•"/>
            </a:pPr>
            <a:r>
              <a:rPr lang="en-IN" dirty="0"/>
              <a:t>By default, product records are created in a draft state. While a product is in a draft state, sales staff can't add it to items like opportunities, quotes, or orders. When you're ready to sell a product, you must publish it.</a:t>
            </a:r>
          </a:p>
          <a:p>
            <a:pPr marL="342900" indent="-342900" algn="l">
              <a:lnSpc>
                <a:spcPct val="110000"/>
              </a:lnSpc>
              <a:buFont typeface="Arial" panose="020B0604020202020204" pitchFamily="34" charset="0"/>
              <a:buChar char="•"/>
            </a:pPr>
            <a:r>
              <a:rPr lang="en-IN" dirty="0"/>
              <a:t>Sometimes, a product that's being created resembles an existing product but isn't the same. To save time when you create these products, you can select the </a:t>
            </a:r>
            <a:r>
              <a:rPr lang="en-IN" b="1" dirty="0"/>
              <a:t>Clone</a:t>
            </a:r>
            <a:r>
              <a:rPr lang="en-IN" dirty="0"/>
              <a:t> button on the command bar to make a copy of the existing product. When a product is cloned, the product details are copied to a new product record. The new product record can then be edited as needed to reflect the specific details for that product.</a:t>
            </a:r>
          </a:p>
          <a:p>
            <a:pPr marL="342900" indent="-342900" algn="l">
              <a:lnSpc>
                <a:spcPct val="110000"/>
              </a:lnSpc>
              <a:buFont typeface="Arial" panose="020B0604020202020204" pitchFamily="34" charset="0"/>
              <a:buChar char="•"/>
            </a:pPr>
            <a:endParaRPr lang="en-IN" dirty="0"/>
          </a:p>
        </p:txBody>
      </p:sp>
    </p:spTree>
    <p:extLst>
      <p:ext uri="{BB962C8B-B14F-4D97-AF65-F5344CB8AC3E}">
        <p14:creationId xmlns:p14="http://schemas.microsoft.com/office/powerpoint/2010/main" val="394675985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marL="342900" indent="-342900">
              <a:lnSpc>
                <a:spcPct val="150000"/>
              </a:lnSpc>
            </a:pPr>
            <a:r>
              <a:rPr lang="en-IN" sz="2800" dirty="0"/>
              <a:t>Publishing, Cloning, Revising, and Retiring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lnSpc>
                <a:spcPct val="110000"/>
              </a:lnSpc>
              <a:buFont typeface="Arial" panose="020B0604020202020204" pitchFamily="34" charset="0"/>
              <a:buChar char="•"/>
            </a:pPr>
            <a:endParaRPr lang="en-IN" dirty="0"/>
          </a:p>
        </p:txBody>
      </p:sp>
      <p:pic>
        <p:nvPicPr>
          <p:cNvPr id="8" name="Picture 7" descr="Publishing and cloning a product. Publish button only available for products in inactive or draft state. Clone creates a copy of the current product record. All columns and properties can be modified.">
            <a:extLst>
              <a:ext uri="{FF2B5EF4-FFF2-40B4-BE49-F238E27FC236}">
                <a16:creationId xmlns:a16="http://schemas.microsoft.com/office/drawing/2014/main" id="{12E4EA6A-6328-4061-AF36-3DABB857C0F6}"/>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1" y="1046703"/>
            <a:ext cx="9789156" cy="5090357"/>
          </a:xfrm>
          <a:prstGeom prst="rect">
            <a:avLst/>
          </a:prstGeom>
          <a:noFill/>
          <a:ln>
            <a:solidFill>
              <a:schemeClr val="tx1"/>
            </a:solidFill>
          </a:ln>
        </p:spPr>
      </p:pic>
    </p:spTree>
    <p:extLst>
      <p:ext uri="{BB962C8B-B14F-4D97-AF65-F5344CB8AC3E}">
        <p14:creationId xmlns:p14="http://schemas.microsoft.com/office/powerpoint/2010/main" val="16850201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marL="342900" indent="-342900">
              <a:lnSpc>
                <a:spcPct val="150000"/>
              </a:lnSpc>
            </a:pPr>
            <a:r>
              <a:rPr lang="en-IN" sz="2800" dirty="0"/>
              <a:t>Publishing, Cloning, Revising, and Retiring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lnSpcReduction="10000"/>
          </a:bodyPr>
          <a:lstStyle/>
          <a:p>
            <a:pPr marL="342900" indent="-342900" algn="l">
              <a:lnSpc>
                <a:spcPct val="110000"/>
              </a:lnSpc>
              <a:buFont typeface="Arial" panose="020B0604020202020204" pitchFamily="34" charset="0"/>
              <a:buChar char="•"/>
            </a:pPr>
            <a:r>
              <a:rPr lang="en-IN" dirty="0"/>
              <a:t>After a product is published, changes (like changes to the product properties) can't be made. If changes to the product properties are required, you must select the </a:t>
            </a:r>
            <a:r>
              <a:rPr lang="en-IN" b="1" dirty="0"/>
              <a:t>Revise</a:t>
            </a:r>
            <a:r>
              <a:rPr lang="en-IN" dirty="0"/>
              <a:t> button on the command bar to return the product to a draft state. Changes can then be made to the product properties. After you've finished making changes, you must publish the product again so that it's available to users.</a:t>
            </a:r>
          </a:p>
          <a:p>
            <a:pPr marL="342900" indent="-342900" algn="l">
              <a:lnSpc>
                <a:spcPct val="110000"/>
              </a:lnSpc>
              <a:buFont typeface="Arial" panose="020B0604020202020204" pitchFamily="34" charset="0"/>
              <a:buChar char="•"/>
            </a:pPr>
            <a:r>
              <a:rPr lang="en-IN" dirty="0"/>
              <a:t>If your organization no longer sells a product, you can select the </a:t>
            </a:r>
            <a:r>
              <a:rPr lang="en-IN" b="1" dirty="0"/>
              <a:t>Retire</a:t>
            </a:r>
            <a:r>
              <a:rPr lang="en-IN" dirty="0"/>
              <a:t> button on the command bar. In this way, you can make sure that the product is no longer available for sales staff to use. When a product is retired, it's inactivated and can no longer be added to items like opportunities and orders. If a product that was previously retired must be available again for any reason, it can be reactivated. It's then moved back to a published state.</a:t>
            </a:r>
          </a:p>
          <a:p>
            <a:pPr marL="342900" indent="-342900" algn="l">
              <a:lnSpc>
                <a:spcPct val="110000"/>
              </a:lnSpc>
              <a:buFont typeface="Arial" panose="020B0604020202020204" pitchFamily="34" charset="0"/>
              <a:buChar char="•"/>
            </a:pPr>
            <a:endParaRPr lang="en-IN" dirty="0"/>
          </a:p>
        </p:txBody>
      </p:sp>
    </p:spTree>
    <p:extLst>
      <p:ext uri="{BB962C8B-B14F-4D97-AF65-F5344CB8AC3E}">
        <p14:creationId xmlns:p14="http://schemas.microsoft.com/office/powerpoint/2010/main" val="72695225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marL="342900" indent="-342900">
              <a:lnSpc>
                <a:spcPct val="150000"/>
              </a:lnSpc>
            </a:pPr>
            <a:r>
              <a:rPr lang="en-IN" sz="2800" dirty="0"/>
              <a:t>Publishing, Cloning, Revising, and Retiring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marL="342900" indent="-342900" algn="l">
              <a:lnSpc>
                <a:spcPct val="110000"/>
              </a:lnSpc>
              <a:buFont typeface="Arial" panose="020B0604020202020204" pitchFamily="34" charset="0"/>
              <a:buChar char="•"/>
            </a:pPr>
            <a:endParaRPr lang="en-IN" b="1" dirty="0"/>
          </a:p>
        </p:txBody>
      </p:sp>
      <p:pic>
        <p:nvPicPr>
          <p:cNvPr id="8" name="Picture 7" descr="Revising and retiring a product. Revise lets an organization make modifications to properties. Retire deactivates a product so it is no longer presented to end users.">
            <a:extLst>
              <a:ext uri="{FF2B5EF4-FFF2-40B4-BE49-F238E27FC236}">
                <a16:creationId xmlns:a16="http://schemas.microsoft.com/office/drawing/2014/main" id="{DA158BD5-8438-4A1E-91ED-CF55452E699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0" y="1102658"/>
            <a:ext cx="9789155" cy="5048717"/>
          </a:xfrm>
          <a:prstGeom prst="rect">
            <a:avLst/>
          </a:prstGeom>
          <a:noFill/>
          <a:ln>
            <a:solidFill>
              <a:schemeClr val="tx1"/>
            </a:solidFill>
          </a:ln>
        </p:spPr>
      </p:pic>
    </p:spTree>
    <p:extLst>
      <p:ext uri="{BB962C8B-B14F-4D97-AF65-F5344CB8AC3E}">
        <p14:creationId xmlns:p14="http://schemas.microsoft.com/office/powerpoint/2010/main" val="425858251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marL="342900" indent="-342900">
              <a:lnSpc>
                <a:spcPct val="150000"/>
              </a:lnSpc>
            </a:pPr>
            <a:r>
              <a:rPr lang="en-IN" sz="2800" dirty="0"/>
              <a:t>Publishing, Cloning, Revising, and Retiring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b="1" dirty="0"/>
              <a:t>Reference Links: </a:t>
            </a:r>
            <a:endParaRPr lang="en-IN" dirty="0"/>
          </a:p>
          <a:p>
            <a:pPr marL="342900" lvl="0" indent="-342900" algn="l">
              <a:buFont typeface="Arial" panose="020B0604020202020204" pitchFamily="34" charset="0"/>
              <a:buChar char="•"/>
            </a:pPr>
            <a:r>
              <a:rPr lang="en-IN" u="sng" dirty="0">
                <a:hlinkClick r:id="rId3"/>
              </a:rPr>
              <a:t>https://docs.microsoft.com/en-us/dynamics365/sales/publish-product-bundle-make-available-selling</a:t>
            </a:r>
            <a:r>
              <a:rPr lang="en-IN" dirty="0"/>
              <a:t> </a:t>
            </a:r>
          </a:p>
          <a:p>
            <a:pPr marL="342900" lvl="0" indent="-342900" algn="l">
              <a:buFont typeface="Arial" panose="020B0604020202020204" pitchFamily="34" charset="0"/>
              <a:buChar char="•"/>
            </a:pPr>
            <a:r>
              <a:rPr lang="en-IN" u="sng" dirty="0">
                <a:hlinkClick r:id="rId4"/>
              </a:rPr>
              <a:t>https://docs.microsoft.com/en-us/dynamics365/sales/revise-product</a:t>
            </a:r>
            <a:r>
              <a:rPr lang="en-IN" dirty="0"/>
              <a:t> </a:t>
            </a:r>
          </a:p>
          <a:p>
            <a:pPr marL="342900" lvl="0" indent="-342900" algn="l">
              <a:buFont typeface="Arial" panose="020B0604020202020204" pitchFamily="34" charset="0"/>
              <a:buChar char="•"/>
            </a:pPr>
            <a:r>
              <a:rPr lang="en-IN" u="sng" dirty="0">
                <a:hlinkClick r:id="rId5"/>
              </a:rPr>
              <a:t>https://docs.microsoft.com/en-us/dynamics365/sales/clone-product</a:t>
            </a:r>
            <a:endParaRPr lang="en-IN" dirty="0"/>
          </a:p>
          <a:p>
            <a:pPr marL="342900" indent="-342900" algn="l">
              <a:buFont typeface="Arial" panose="020B0604020202020204" pitchFamily="34" charset="0"/>
              <a:buChar char="•"/>
            </a:pPr>
            <a:r>
              <a:rPr lang="en-IN" u="sng" dirty="0">
                <a:hlinkClick r:id="rId6"/>
              </a:rPr>
              <a:t>https://docs.microsoft.com/en-us/dynamics365/sales/retire-product</a:t>
            </a:r>
            <a:endParaRPr lang="en-IN" b="1" dirty="0"/>
          </a:p>
        </p:txBody>
      </p:sp>
    </p:spTree>
    <p:extLst>
      <p:ext uri="{BB962C8B-B14F-4D97-AF65-F5344CB8AC3E}">
        <p14:creationId xmlns:p14="http://schemas.microsoft.com/office/powerpoint/2010/main" val="4524013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r>
              <a:rPr lang="en-IN" sz="2800" dirty="0"/>
              <a:t>Delete a Product family, product, or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To stop selling a product, bundle, or family, delete it. If you delete a parent family, its child products, families, and bundles are also deleted.</a:t>
            </a:r>
          </a:p>
          <a:p>
            <a:pPr algn="l"/>
            <a:r>
              <a:rPr lang="en-IN" b="1" dirty="0"/>
              <a:t>Reference Link: </a:t>
            </a:r>
            <a:r>
              <a:rPr lang="en-IN" u="sng" dirty="0">
                <a:hlinkClick r:id="rId3"/>
              </a:rPr>
              <a:t>https://docs.microsoft.com/en-us/dynamics365/sales/delete-family-product-bundle</a:t>
            </a:r>
            <a:r>
              <a:rPr lang="en-IN" dirty="0"/>
              <a:t> </a:t>
            </a:r>
          </a:p>
          <a:p>
            <a:pPr algn="l"/>
            <a:br>
              <a:rPr lang="en-IN" dirty="0"/>
            </a:br>
            <a:br>
              <a:rPr lang="en-IN" dirty="0"/>
            </a:br>
            <a:endParaRPr lang="en-IN" dirty="0"/>
          </a:p>
        </p:txBody>
      </p:sp>
    </p:spTree>
    <p:extLst>
      <p:ext uri="{BB962C8B-B14F-4D97-AF65-F5344CB8AC3E}">
        <p14:creationId xmlns:p14="http://schemas.microsoft.com/office/powerpoint/2010/main" val="44241369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sz="2800" dirty="0"/>
            </a:br>
            <a:r>
              <a:rPr lang="en-IN" sz="2800" dirty="0"/>
              <a:t>View a Product Hierarchy</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In addition to grouping similar items, product families create a hierarchy that provides a visual snapshot of the products that an organization sells. Therefore, it's easy to see what products are available to sell and how they're connected.</a:t>
            </a:r>
          </a:p>
          <a:p>
            <a:pPr algn="l"/>
            <a:br>
              <a:rPr lang="en-IN" dirty="0"/>
            </a:br>
            <a:endParaRPr lang="en-IN" dirty="0"/>
          </a:p>
          <a:p>
            <a:pPr algn="l"/>
            <a:endParaRPr lang="en-IN" dirty="0"/>
          </a:p>
        </p:txBody>
      </p:sp>
    </p:spTree>
    <p:extLst>
      <p:ext uri="{BB962C8B-B14F-4D97-AF65-F5344CB8AC3E}">
        <p14:creationId xmlns:p14="http://schemas.microsoft.com/office/powerpoint/2010/main" val="257195079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sz="2800" dirty="0"/>
            </a:br>
            <a:r>
              <a:rPr lang="en-IN" sz="2800" dirty="0"/>
              <a:t>View a Product Hierarchy</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endParaRPr lang="en-IN" dirty="0"/>
          </a:p>
        </p:txBody>
      </p:sp>
      <p:pic>
        <p:nvPicPr>
          <p:cNvPr id="8" name="Picture 7" descr="Product hierarchy with product families in red, product bundles in green, and individual products in blue.">
            <a:extLst>
              <a:ext uri="{FF2B5EF4-FFF2-40B4-BE49-F238E27FC236}">
                <a16:creationId xmlns:a16="http://schemas.microsoft.com/office/drawing/2014/main" id="{60D680CC-E8AA-432B-88C4-E45EC82A3CC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1" y="1102659"/>
            <a:ext cx="9789156" cy="5048718"/>
          </a:xfrm>
          <a:prstGeom prst="rect">
            <a:avLst/>
          </a:prstGeom>
          <a:noFill/>
          <a:ln>
            <a:noFill/>
          </a:ln>
        </p:spPr>
      </p:pic>
    </p:spTree>
    <p:extLst>
      <p:ext uri="{BB962C8B-B14F-4D97-AF65-F5344CB8AC3E}">
        <p14:creationId xmlns:p14="http://schemas.microsoft.com/office/powerpoint/2010/main" val="134691529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sz="2800" dirty="0"/>
            </a:br>
            <a:r>
              <a:rPr lang="en-IN" sz="2800" dirty="0"/>
              <a:t>View a Product Hierarchy</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b="1" dirty="0"/>
              <a:t>Reference Link: </a:t>
            </a:r>
          </a:p>
          <a:p>
            <a:pPr algn="l"/>
            <a:r>
              <a:rPr lang="en-IN" u="sng" dirty="0">
                <a:hlinkClick r:id="rId3"/>
              </a:rPr>
              <a:t>https://docs.microsoft.com/en-us/powerapps/maker/data-platform/visualize-hierarchical-data?context=/dynamics365/context/sales-context</a:t>
            </a:r>
            <a:endParaRPr lang="en-IN" dirty="0"/>
          </a:p>
        </p:txBody>
      </p:sp>
    </p:spTree>
    <p:extLst>
      <p:ext uri="{BB962C8B-B14F-4D97-AF65-F5344CB8AC3E}">
        <p14:creationId xmlns:p14="http://schemas.microsoft.com/office/powerpoint/2010/main" val="411722635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9789156" cy="5048718"/>
          </a:xfrm>
        </p:spPr>
        <p:txBody>
          <a:bodyPr>
            <a:normAutofit/>
          </a:bodyPr>
          <a:lstStyle/>
          <a:p>
            <a:pPr algn="l"/>
            <a:r>
              <a:rPr lang="en-IN" dirty="0"/>
              <a:t>Typically, the pricing of products in bundles is different than for individual products. You can set a total, potentially discounted, the price for the bundle. Or—if the bundle includes optional products—you can add those products to the price list as price list items.</a:t>
            </a:r>
          </a:p>
          <a:p>
            <a:pPr algn="l"/>
            <a:r>
              <a:rPr lang="en-IN" dirty="0"/>
              <a:t>When a product bundle is added to an opportunity, quote, order, or invoice, a required product in the bundle uses the bundle price for price calculations. When the bundle added to the opportunity, quote, order, or invoice includes optional products, the total price is calculated by adding the total price of the optional products to the price of the product bundle.</a:t>
            </a:r>
          </a:p>
          <a:p>
            <a:pPr algn="l"/>
            <a:r>
              <a:rPr lang="en-IN" dirty="0"/>
              <a:t>Let's understand this with an example. You have a product bundle priced at $500, with the following products included in it:</a:t>
            </a:r>
          </a:p>
          <a:p>
            <a:pPr algn="l"/>
            <a:endParaRPr lang="en-IN" dirty="0"/>
          </a:p>
        </p:txBody>
      </p:sp>
    </p:spTree>
    <p:extLst>
      <p:ext uri="{BB962C8B-B14F-4D97-AF65-F5344CB8AC3E}">
        <p14:creationId xmlns:p14="http://schemas.microsoft.com/office/powerpoint/2010/main" val="39424914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																																																																																																															This bundle will be added to an opportunity with a price of $500.</a:t>
            </a:r>
          </a:p>
          <a:p>
            <a:pPr algn="l"/>
            <a:endParaRPr lang="en-IN" dirty="0"/>
          </a:p>
        </p:txBody>
      </p:sp>
      <p:graphicFrame>
        <p:nvGraphicFramePr>
          <p:cNvPr id="3" name="Table 2">
            <a:extLst>
              <a:ext uri="{FF2B5EF4-FFF2-40B4-BE49-F238E27FC236}">
                <a16:creationId xmlns:a16="http://schemas.microsoft.com/office/drawing/2014/main" id="{9797B1E7-F5F2-41B7-A607-88D20E8AEC5D}"/>
              </a:ext>
            </a:extLst>
          </p:cNvPr>
          <p:cNvGraphicFramePr>
            <a:graphicFrameLocks noGrp="1"/>
          </p:cNvGraphicFramePr>
          <p:nvPr>
            <p:extLst>
              <p:ext uri="{D42A27DB-BD31-4B8C-83A1-F6EECF244321}">
                <p14:modId xmlns:p14="http://schemas.microsoft.com/office/powerpoint/2010/main" val="4144407684"/>
              </p:ext>
            </p:extLst>
          </p:nvPr>
        </p:nvGraphicFramePr>
        <p:xfrm>
          <a:off x="968490" y="1102659"/>
          <a:ext cx="9789155" cy="3155811"/>
        </p:xfrm>
        <a:graphic>
          <a:graphicData uri="http://schemas.openxmlformats.org/drawingml/2006/table">
            <a:tbl>
              <a:tblPr firstRow="1" firstCol="1" bandRow="1">
                <a:tableStyleId>{5C22544A-7EE6-4342-B048-85BDC9FD1C3A}</a:tableStyleId>
              </a:tblPr>
              <a:tblGrid>
                <a:gridCol w="4289184">
                  <a:extLst>
                    <a:ext uri="{9D8B030D-6E8A-4147-A177-3AD203B41FA5}">
                      <a16:colId xmlns:a16="http://schemas.microsoft.com/office/drawing/2014/main" val="3058028966"/>
                    </a:ext>
                  </a:extLst>
                </a:gridCol>
                <a:gridCol w="1970467">
                  <a:extLst>
                    <a:ext uri="{9D8B030D-6E8A-4147-A177-3AD203B41FA5}">
                      <a16:colId xmlns:a16="http://schemas.microsoft.com/office/drawing/2014/main" val="2231003509"/>
                    </a:ext>
                  </a:extLst>
                </a:gridCol>
                <a:gridCol w="3529504">
                  <a:extLst>
                    <a:ext uri="{9D8B030D-6E8A-4147-A177-3AD203B41FA5}">
                      <a16:colId xmlns:a16="http://schemas.microsoft.com/office/drawing/2014/main" val="3433096273"/>
                    </a:ext>
                  </a:extLst>
                </a:gridCol>
              </a:tblGrid>
              <a:tr h="1051937">
                <a:tc>
                  <a:txBody>
                    <a:bodyPr/>
                    <a:lstStyle/>
                    <a:p>
                      <a:pPr algn="ctr">
                        <a:lnSpc>
                          <a:spcPct val="107000"/>
                        </a:lnSpc>
                        <a:spcAft>
                          <a:spcPts val="0"/>
                        </a:spcAft>
                      </a:pPr>
                      <a:r>
                        <a:rPr lang="en-IN" sz="3200" dirty="0">
                          <a:effectLst/>
                          <a:latin typeface="Trebuchet MS" panose="020B0603020202020204" pitchFamily="34" charset="0"/>
                        </a:rPr>
                        <a:t>Products in the bundle</a:t>
                      </a:r>
                      <a:endParaRPr lang="en-IN" sz="3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dirty="0">
                          <a:effectLst/>
                          <a:latin typeface="Trebuchet MS" panose="020B0603020202020204" pitchFamily="34" charset="0"/>
                        </a:rPr>
                        <a:t>Unit</a:t>
                      </a:r>
                      <a:endParaRPr lang="en-IN" sz="3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dirty="0">
                          <a:effectLst/>
                          <a:latin typeface="Trebuchet MS" panose="020B0603020202020204" pitchFamily="34" charset="0"/>
                        </a:rPr>
                        <a:t>Price per unit</a:t>
                      </a:r>
                      <a:endParaRPr lang="en-IN" sz="3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91008728"/>
                  </a:ext>
                </a:extLst>
              </a:tr>
              <a:tr h="1051937">
                <a:tc>
                  <a:txBody>
                    <a:bodyPr/>
                    <a:lstStyle/>
                    <a:p>
                      <a:pPr algn="ctr">
                        <a:lnSpc>
                          <a:spcPct val="107000"/>
                        </a:lnSpc>
                        <a:spcAft>
                          <a:spcPts val="0"/>
                        </a:spcAft>
                      </a:pPr>
                      <a:r>
                        <a:rPr lang="en-IN" sz="3200">
                          <a:effectLst/>
                          <a:latin typeface="Trebuchet MS" panose="020B0603020202020204" pitchFamily="34" charset="0"/>
                        </a:rPr>
                        <a:t>Required product A</a:t>
                      </a:r>
                      <a:endParaRPr lang="en-IN" sz="32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a:effectLst/>
                          <a:latin typeface="Trebuchet MS" panose="020B0603020202020204" pitchFamily="34" charset="0"/>
                        </a:rPr>
                        <a:t>5</a:t>
                      </a:r>
                      <a:endParaRPr lang="en-IN" sz="32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dirty="0">
                          <a:effectLst/>
                          <a:latin typeface="Trebuchet MS" panose="020B0603020202020204" pitchFamily="34" charset="0"/>
                        </a:rPr>
                        <a:t>$50</a:t>
                      </a:r>
                      <a:endParaRPr lang="en-IN" sz="3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4416356"/>
                  </a:ext>
                </a:extLst>
              </a:tr>
              <a:tr h="1051937">
                <a:tc>
                  <a:txBody>
                    <a:bodyPr/>
                    <a:lstStyle/>
                    <a:p>
                      <a:pPr algn="ctr">
                        <a:lnSpc>
                          <a:spcPct val="107000"/>
                        </a:lnSpc>
                        <a:spcAft>
                          <a:spcPts val="0"/>
                        </a:spcAft>
                      </a:pPr>
                      <a:r>
                        <a:rPr lang="en-IN" sz="3200">
                          <a:effectLst/>
                          <a:latin typeface="Trebuchet MS" panose="020B0603020202020204" pitchFamily="34" charset="0"/>
                        </a:rPr>
                        <a:t>Required product B</a:t>
                      </a:r>
                      <a:endParaRPr lang="en-IN" sz="32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a:effectLst/>
                          <a:latin typeface="Trebuchet MS" panose="020B0603020202020204" pitchFamily="34" charset="0"/>
                        </a:rPr>
                        <a:t>5</a:t>
                      </a:r>
                      <a:endParaRPr lang="en-IN" sz="32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IN" sz="3200" dirty="0">
                          <a:effectLst/>
                          <a:latin typeface="Trebuchet MS" panose="020B0603020202020204" pitchFamily="34" charset="0"/>
                        </a:rPr>
                        <a:t>$70</a:t>
                      </a:r>
                      <a:endParaRPr lang="en-IN" sz="3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08932367"/>
                  </a:ext>
                </a:extLst>
              </a:tr>
            </a:tbl>
          </a:graphicData>
        </a:graphic>
      </p:graphicFrame>
    </p:spTree>
    <p:extLst>
      <p:ext uri="{BB962C8B-B14F-4D97-AF65-F5344CB8AC3E}">
        <p14:creationId xmlns:p14="http://schemas.microsoft.com/office/powerpoint/2010/main" val="6191917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Now, let's see how the calculation differs if the product bundle priced at $500 includes the following required and optional products:</a:t>
            </a:r>
          </a:p>
          <a:p>
            <a:pPr algn="l"/>
            <a:endParaRPr lang="en-IN" dirty="0"/>
          </a:p>
          <a:p>
            <a:pPr algn="l"/>
            <a:r>
              <a:rPr lang="en-IN" dirty="0"/>
              <a:t>																																																																																																															</a:t>
            </a:r>
          </a:p>
        </p:txBody>
      </p:sp>
      <p:graphicFrame>
        <p:nvGraphicFramePr>
          <p:cNvPr id="4" name="Table 3">
            <a:extLst>
              <a:ext uri="{FF2B5EF4-FFF2-40B4-BE49-F238E27FC236}">
                <a16:creationId xmlns:a16="http://schemas.microsoft.com/office/drawing/2014/main" id="{0FBC7F69-69A8-4352-9FC2-64911B93ADAD}"/>
              </a:ext>
            </a:extLst>
          </p:cNvPr>
          <p:cNvGraphicFramePr>
            <a:graphicFrameLocks noGrp="1"/>
          </p:cNvGraphicFramePr>
          <p:nvPr>
            <p:extLst>
              <p:ext uri="{D42A27DB-BD31-4B8C-83A1-F6EECF244321}">
                <p14:modId xmlns:p14="http://schemas.microsoft.com/office/powerpoint/2010/main" val="3936606637"/>
              </p:ext>
            </p:extLst>
          </p:nvPr>
        </p:nvGraphicFramePr>
        <p:xfrm>
          <a:off x="968488" y="2232212"/>
          <a:ext cx="10044653" cy="3579085"/>
        </p:xfrm>
        <a:graphic>
          <a:graphicData uri="http://schemas.openxmlformats.org/drawingml/2006/table">
            <a:tbl>
              <a:tblPr firstRow="1" firstCol="1" bandRow="1">
                <a:tableStyleId>{5C22544A-7EE6-4342-B048-85BDC9FD1C3A}</a:tableStyleId>
              </a:tblPr>
              <a:tblGrid>
                <a:gridCol w="5391726">
                  <a:extLst>
                    <a:ext uri="{9D8B030D-6E8A-4147-A177-3AD203B41FA5}">
                      <a16:colId xmlns:a16="http://schemas.microsoft.com/office/drawing/2014/main" val="2257214285"/>
                    </a:ext>
                  </a:extLst>
                </a:gridCol>
                <a:gridCol w="1990235">
                  <a:extLst>
                    <a:ext uri="{9D8B030D-6E8A-4147-A177-3AD203B41FA5}">
                      <a16:colId xmlns:a16="http://schemas.microsoft.com/office/drawing/2014/main" val="4033716027"/>
                    </a:ext>
                  </a:extLst>
                </a:gridCol>
                <a:gridCol w="2662692">
                  <a:extLst>
                    <a:ext uri="{9D8B030D-6E8A-4147-A177-3AD203B41FA5}">
                      <a16:colId xmlns:a16="http://schemas.microsoft.com/office/drawing/2014/main" val="2140506795"/>
                    </a:ext>
                  </a:extLst>
                </a:gridCol>
              </a:tblGrid>
              <a:tr h="715817">
                <a:tc>
                  <a:txBody>
                    <a:bodyPr/>
                    <a:lstStyle/>
                    <a:p>
                      <a:pPr>
                        <a:lnSpc>
                          <a:spcPct val="107000"/>
                        </a:lnSpc>
                        <a:spcAft>
                          <a:spcPts val="0"/>
                        </a:spcAft>
                      </a:pPr>
                      <a:r>
                        <a:rPr lang="en-IN" sz="2400" dirty="0">
                          <a:effectLst/>
                          <a:latin typeface="Trebuchet MS" panose="020B0603020202020204" pitchFamily="34" charset="0"/>
                        </a:rPr>
                        <a:t>Product bundle</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Unit</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Price per unit</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0475012"/>
                  </a:ext>
                </a:extLst>
              </a:tr>
              <a:tr h="715817">
                <a:tc>
                  <a:txBody>
                    <a:bodyPr/>
                    <a:lstStyle/>
                    <a:p>
                      <a:pPr>
                        <a:lnSpc>
                          <a:spcPct val="107000"/>
                        </a:lnSpc>
                        <a:spcAft>
                          <a:spcPts val="0"/>
                        </a:spcAft>
                      </a:pPr>
                      <a:r>
                        <a:rPr lang="en-IN" sz="2400" dirty="0">
                          <a:effectLst/>
                          <a:latin typeface="Trebuchet MS" panose="020B0603020202020204" pitchFamily="34" charset="0"/>
                        </a:rPr>
                        <a:t>Required product A</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5</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$50</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7963451"/>
                  </a:ext>
                </a:extLst>
              </a:tr>
              <a:tr h="715817">
                <a:tc>
                  <a:txBody>
                    <a:bodyPr/>
                    <a:lstStyle/>
                    <a:p>
                      <a:pPr>
                        <a:lnSpc>
                          <a:spcPct val="107000"/>
                        </a:lnSpc>
                        <a:spcAft>
                          <a:spcPts val="0"/>
                        </a:spcAft>
                      </a:pPr>
                      <a:r>
                        <a:rPr lang="en-IN" sz="2400" dirty="0">
                          <a:effectLst/>
                          <a:latin typeface="Trebuchet MS" panose="020B0603020202020204" pitchFamily="34" charset="0"/>
                        </a:rPr>
                        <a:t>Required product B</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5</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$70</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39431"/>
                  </a:ext>
                </a:extLst>
              </a:tr>
              <a:tr h="715817">
                <a:tc>
                  <a:txBody>
                    <a:bodyPr/>
                    <a:lstStyle/>
                    <a:p>
                      <a:pPr>
                        <a:lnSpc>
                          <a:spcPct val="107000"/>
                        </a:lnSpc>
                        <a:spcAft>
                          <a:spcPts val="0"/>
                        </a:spcAft>
                      </a:pPr>
                      <a:r>
                        <a:rPr lang="en-IN" sz="2400" dirty="0">
                          <a:effectLst/>
                          <a:latin typeface="Trebuchet MS" panose="020B0603020202020204" pitchFamily="34" charset="0"/>
                        </a:rPr>
                        <a:t>Optional product C</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dirty="0">
                          <a:effectLst/>
                          <a:latin typeface="Trebuchet MS" panose="020B0603020202020204" pitchFamily="34" charset="0"/>
                        </a:rPr>
                        <a:t>5</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a:effectLst/>
                          <a:latin typeface="Trebuchet MS" panose="020B0603020202020204" pitchFamily="34" charset="0"/>
                        </a:rPr>
                        <a:t>$40</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51394"/>
                  </a:ext>
                </a:extLst>
              </a:tr>
              <a:tr h="715817">
                <a:tc>
                  <a:txBody>
                    <a:bodyPr/>
                    <a:lstStyle/>
                    <a:p>
                      <a:pPr>
                        <a:lnSpc>
                          <a:spcPct val="107000"/>
                        </a:lnSpc>
                        <a:spcAft>
                          <a:spcPts val="0"/>
                        </a:spcAft>
                      </a:pPr>
                      <a:r>
                        <a:rPr lang="en-IN" sz="2400">
                          <a:effectLst/>
                          <a:latin typeface="Trebuchet MS" panose="020B0603020202020204" pitchFamily="34" charset="0"/>
                        </a:rPr>
                        <a:t>Optional product D</a:t>
                      </a:r>
                      <a:endParaRPr lang="en-IN" sz="24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dirty="0">
                          <a:effectLst/>
                          <a:latin typeface="Trebuchet MS" panose="020B0603020202020204" pitchFamily="34" charset="0"/>
                        </a:rPr>
                        <a:t>5</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400" dirty="0">
                          <a:effectLst/>
                          <a:latin typeface="Trebuchet MS" panose="020B0603020202020204" pitchFamily="34" charset="0"/>
                        </a:rPr>
                        <a:t>$50</a:t>
                      </a:r>
                      <a:endParaRPr lang="en-IN" sz="24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5856330"/>
                  </a:ext>
                </a:extLst>
              </a:tr>
            </a:tbl>
          </a:graphicData>
        </a:graphic>
      </p:graphicFrame>
    </p:spTree>
    <p:extLst>
      <p:ext uri="{BB962C8B-B14F-4D97-AF65-F5344CB8AC3E}">
        <p14:creationId xmlns:p14="http://schemas.microsoft.com/office/powerpoint/2010/main" val="37132483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When this bundle is added to an opportunity, its price will be calculated as follows:</a:t>
            </a:r>
          </a:p>
          <a:p>
            <a:pPr algn="l"/>
            <a:r>
              <a:rPr lang="en-IN" dirty="0"/>
              <a:t>																																																																																																										</a:t>
            </a:r>
          </a:p>
        </p:txBody>
      </p:sp>
      <p:graphicFrame>
        <p:nvGraphicFramePr>
          <p:cNvPr id="3" name="Table 2">
            <a:extLst>
              <a:ext uri="{FF2B5EF4-FFF2-40B4-BE49-F238E27FC236}">
                <a16:creationId xmlns:a16="http://schemas.microsoft.com/office/drawing/2014/main" id="{FB30A80D-6B48-4962-B489-1C6961B6882E}"/>
              </a:ext>
            </a:extLst>
          </p:cNvPr>
          <p:cNvGraphicFramePr>
            <a:graphicFrameLocks noGrp="1"/>
          </p:cNvGraphicFramePr>
          <p:nvPr>
            <p:extLst>
              <p:ext uri="{D42A27DB-BD31-4B8C-83A1-F6EECF244321}">
                <p14:modId xmlns:p14="http://schemas.microsoft.com/office/powerpoint/2010/main" val="3189647900"/>
              </p:ext>
            </p:extLst>
          </p:nvPr>
        </p:nvGraphicFramePr>
        <p:xfrm>
          <a:off x="793376" y="2218765"/>
          <a:ext cx="10031505" cy="3536576"/>
        </p:xfrm>
        <a:graphic>
          <a:graphicData uri="http://schemas.openxmlformats.org/drawingml/2006/table">
            <a:tbl>
              <a:tblPr firstRow="1" firstCol="1" bandRow="1">
                <a:tableStyleId>{5C22544A-7EE6-4342-B048-85BDC9FD1C3A}</a:tableStyleId>
              </a:tblPr>
              <a:tblGrid>
                <a:gridCol w="2933833">
                  <a:extLst>
                    <a:ext uri="{9D8B030D-6E8A-4147-A177-3AD203B41FA5}">
                      <a16:colId xmlns:a16="http://schemas.microsoft.com/office/drawing/2014/main" val="3321231476"/>
                    </a:ext>
                  </a:extLst>
                </a:gridCol>
                <a:gridCol w="1154073">
                  <a:extLst>
                    <a:ext uri="{9D8B030D-6E8A-4147-A177-3AD203B41FA5}">
                      <a16:colId xmlns:a16="http://schemas.microsoft.com/office/drawing/2014/main" val="3137918590"/>
                    </a:ext>
                  </a:extLst>
                </a:gridCol>
                <a:gridCol w="4101353">
                  <a:extLst>
                    <a:ext uri="{9D8B030D-6E8A-4147-A177-3AD203B41FA5}">
                      <a16:colId xmlns:a16="http://schemas.microsoft.com/office/drawing/2014/main" val="2277667223"/>
                    </a:ext>
                  </a:extLst>
                </a:gridCol>
                <a:gridCol w="1842246">
                  <a:extLst>
                    <a:ext uri="{9D8B030D-6E8A-4147-A177-3AD203B41FA5}">
                      <a16:colId xmlns:a16="http://schemas.microsoft.com/office/drawing/2014/main" val="2906206535"/>
                    </a:ext>
                  </a:extLst>
                </a:gridCol>
              </a:tblGrid>
              <a:tr h="2375634">
                <a:tc>
                  <a:txBody>
                    <a:bodyPr/>
                    <a:lstStyle/>
                    <a:p>
                      <a:pPr>
                        <a:lnSpc>
                          <a:spcPct val="107000"/>
                        </a:lnSpc>
                        <a:spcAft>
                          <a:spcPts val="0"/>
                        </a:spcAft>
                      </a:pPr>
                      <a:r>
                        <a:rPr lang="en-IN" sz="2000">
                          <a:effectLst/>
                          <a:latin typeface="Trebuchet MS" panose="020B0603020202020204" pitchFamily="34" charset="0"/>
                        </a:rPr>
                        <a:t>Product bundle price</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a:effectLst/>
                          <a:latin typeface="Trebuchet MS" panose="020B0603020202020204" pitchFamily="34" charset="0"/>
                        </a:rPr>
                        <a:t>+</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a:effectLst/>
                          <a:latin typeface="Trebuchet MS" panose="020B0603020202020204" pitchFamily="34" charset="0"/>
                        </a:rPr>
                        <a:t>Sum of optional products' price</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a:effectLst/>
                          <a:latin typeface="Trebuchet MS" panose="020B0603020202020204" pitchFamily="34" charset="0"/>
                        </a:rPr>
                        <a:t>Total</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4857844"/>
                  </a:ext>
                </a:extLst>
              </a:tr>
              <a:tr h="1160942">
                <a:tc>
                  <a:txBody>
                    <a:bodyPr/>
                    <a:lstStyle/>
                    <a:p>
                      <a:pPr>
                        <a:lnSpc>
                          <a:spcPct val="107000"/>
                        </a:lnSpc>
                        <a:spcAft>
                          <a:spcPts val="0"/>
                        </a:spcAft>
                      </a:pPr>
                      <a:r>
                        <a:rPr lang="en-IN" sz="2000">
                          <a:effectLst/>
                          <a:latin typeface="Trebuchet MS" panose="020B0603020202020204" pitchFamily="34" charset="0"/>
                        </a:rPr>
                        <a:t>$500</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a:effectLst/>
                          <a:latin typeface="Trebuchet MS" panose="020B0603020202020204" pitchFamily="34" charset="0"/>
                        </a:rPr>
                        <a:t>+</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a:effectLst/>
                          <a:latin typeface="Trebuchet MS" panose="020B0603020202020204" pitchFamily="34" charset="0"/>
                        </a:rPr>
                        <a:t>(5 × $40) + (5 × $50) = $450</a:t>
                      </a:r>
                      <a:endParaRPr lang="en-IN" sz="200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2000" dirty="0">
                          <a:effectLst/>
                          <a:latin typeface="Trebuchet MS" panose="020B0603020202020204" pitchFamily="34" charset="0"/>
                        </a:rPr>
                        <a:t>$950</a:t>
                      </a:r>
                      <a:endParaRPr lang="en-IN" sz="20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65341522"/>
                  </a:ext>
                </a:extLst>
              </a:tr>
            </a:tbl>
          </a:graphicData>
        </a:graphic>
      </p:graphicFrame>
    </p:spTree>
    <p:extLst>
      <p:ext uri="{BB962C8B-B14F-4D97-AF65-F5344CB8AC3E}">
        <p14:creationId xmlns:p14="http://schemas.microsoft.com/office/powerpoint/2010/main" val="18766037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fontScale="25000" lnSpcReduction="20000"/>
          </a:bodyPr>
          <a:lstStyle/>
          <a:p>
            <a:pPr algn="l">
              <a:lnSpc>
                <a:spcPct val="120000"/>
              </a:lnSpc>
            </a:pPr>
            <a:r>
              <a:rPr lang="en-IN" sz="9600" dirty="0"/>
              <a:t>When you try to update a product that's a required item in a bundle that has been added to an opportunity, quote, order, or invoice record, you might get an error in Dynamics 365 Sales: "</a:t>
            </a:r>
            <a:r>
              <a:rPr lang="en-IN" sz="9600" i="1" dirty="0"/>
              <a:t>You can't update this bundle item because it's a required product in the bundle."</a:t>
            </a:r>
            <a:endParaRPr lang="en-IN" sz="9600" dirty="0"/>
          </a:p>
          <a:p>
            <a:pPr algn="l">
              <a:lnSpc>
                <a:spcPct val="120000"/>
              </a:lnSpc>
            </a:pPr>
            <a:r>
              <a:rPr lang="en-IN" sz="9600" dirty="0"/>
              <a:t>Because the pricing-related fields for a product that's required for the bundle aren't used in price calculations, you can't modify these fields. The pricing-related fields are Unit, Existing Product, Pricing, and Price per Unit, Volume Discount, Quantity, Amount, Manual Discount, Tax, Extended Amount, Product Type code, Transaction Currency, and Parent Bundle. You can modify fields other than these pricing-related fields.</a:t>
            </a:r>
          </a:p>
          <a:p>
            <a:pPr algn="l">
              <a:lnSpc>
                <a:spcPct val="120000"/>
              </a:lnSpc>
            </a:pPr>
            <a:r>
              <a:rPr lang="en-IN" sz="1800" dirty="0"/>
              <a:t>																																																																																																										</a:t>
            </a:r>
          </a:p>
        </p:txBody>
      </p:sp>
    </p:spTree>
    <p:extLst>
      <p:ext uri="{BB962C8B-B14F-4D97-AF65-F5344CB8AC3E}">
        <p14:creationId xmlns:p14="http://schemas.microsoft.com/office/powerpoint/2010/main" val="12220678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Price Calculation and Product Bundle</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lnSpc>
                <a:spcPct val="120000"/>
              </a:lnSpc>
            </a:pPr>
            <a:r>
              <a:rPr lang="en-IN" b="1" dirty="0"/>
              <a:t>Reference Link:</a:t>
            </a:r>
          </a:p>
          <a:p>
            <a:pPr algn="l">
              <a:lnSpc>
                <a:spcPct val="120000"/>
              </a:lnSpc>
            </a:pPr>
            <a:r>
              <a:rPr lang="en-IN" b="1" dirty="0"/>
              <a:t> </a:t>
            </a:r>
            <a:r>
              <a:rPr lang="en-IN" u="sng" dirty="0">
                <a:hlinkClick r:id="rId3"/>
              </a:rPr>
              <a:t>https://docs.microsoft.com/en-us/dynamics365/sales/pricing-product-bundles</a:t>
            </a:r>
            <a:r>
              <a:rPr lang="en-IN" sz="1800" dirty="0"/>
              <a:t>																																																																																																										</a:t>
            </a:r>
          </a:p>
        </p:txBody>
      </p:sp>
    </p:spTree>
    <p:extLst>
      <p:ext uri="{BB962C8B-B14F-4D97-AF65-F5344CB8AC3E}">
        <p14:creationId xmlns:p14="http://schemas.microsoft.com/office/powerpoint/2010/main" val="21877346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Enhance Experience for Adding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lnSpc>
                <a:spcPct val="120000"/>
              </a:lnSpc>
            </a:pPr>
            <a:r>
              <a:rPr lang="en-IN" dirty="0"/>
              <a:t>Add Products to an Opportunity using enhanced “Add Products” button is available now for the salesperson for adding multiple products.</a:t>
            </a:r>
            <a:endParaRPr lang="en-IN" b="1" dirty="0"/>
          </a:p>
          <a:p>
            <a:pPr algn="l"/>
            <a:r>
              <a:rPr lang="en-IN" b="1" dirty="0"/>
              <a:t>Reference Links: </a:t>
            </a:r>
            <a:endParaRPr lang="en-IN" dirty="0"/>
          </a:p>
          <a:p>
            <a:pPr marL="342900" lvl="0" indent="-342900" algn="l">
              <a:buFont typeface="Arial" panose="020B0604020202020204" pitchFamily="34" charset="0"/>
              <a:buChar char="•"/>
            </a:pPr>
            <a:r>
              <a:rPr lang="en-IN" u="sng" dirty="0">
                <a:hlinkClick r:id="rId3"/>
              </a:rPr>
              <a:t>https://docs.microsoft.com/en-us/dynamics365/sales/add-products-enhanced-experience</a:t>
            </a:r>
            <a:r>
              <a:rPr lang="en-IN" dirty="0"/>
              <a:t> </a:t>
            </a:r>
          </a:p>
          <a:p>
            <a:pPr marL="342900" lvl="0" indent="-342900" algn="l">
              <a:buFont typeface="Arial" panose="020B0604020202020204" pitchFamily="34" charset="0"/>
              <a:buChar char="•"/>
            </a:pPr>
            <a:r>
              <a:rPr lang="en-IN" u="sng" dirty="0">
                <a:hlinkClick r:id="rId4"/>
              </a:rPr>
              <a:t>https://www.inogic.com/blog/2020/05/productivity-booster-enhanced-experience-for-adding-line-items-products-with-2020-release-wave-1/</a:t>
            </a:r>
            <a:r>
              <a:rPr lang="en-IN" u="sng" dirty="0"/>
              <a:t> </a:t>
            </a:r>
            <a:endParaRPr lang="en-IN" dirty="0"/>
          </a:p>
          <a:p>
            <a:pPr marL="342900" lvl="0" indent="-342900" algn="l">
              <a:buFont typeface="Arial" panose="020B0604020202020204" pitchFamily="34" charset="0"/>
              <a:buChar char="•"/>
            </a:pPr>
            <a:r>
              <a:rPr lang="en-IN" u="sng" dirty="0">
                <a:hlinkClick r:id="rId5"/>
              </a:rPr>
              <a:t>https://www.inogic.com/blog/2021/05/enhanced-experience-for-adding-line-items-products-with-2021-release-wave-1/</a:t>
            </a:r>
            <a:r>
              <a:rPr lang="en-IN" u="sng" dirty="0"/>
              <a:t> </a:t>
            </a:r>
            <a:endParaRPr lang="en-IN" dirty="0"/>
          </a:p>
          <a:p>
            <a:pPr marL="342900" indent="-342900" algn="l">
              <a:buFont typeface="Arial" panose="020B0604020202020204" pitchFamily="34" charset="0"/>
              <a:buChar char="•"/>
            </a:pPr>
            <a:r>
              <a:rPr lang="en-IN" u="sng" dirty="0">
                <a:hlinkClick r:id="rId6"/>
              </a:rPr>
              <a:t>https://docs.microsoft.com/en-us/dynamics365/sales/enable-enhanced-add-product-experience?tabs=SE#enable-or-disable-the-enhanced-experience</a:t>
            </a:r>
            <a:endParaRPr lang="en-IN" sz="1800" dirty="0"/>
          </a:p>
        </p:txBody>
      </p:sp>
    </p:spTree>
    <p:extLst>
      <p:ext uri="{BB962C8B-B14F-4D97-AF65-F5344CB8AC3E}">
        <p14:creationId xmlns:p14="http://schemas.microsoft.com/office/powerpoint/2010/main" val="11378849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Enhance Experience for Adding Products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Add Products to Quote/Order/Invoice using enhanced “Add Products” button is available for the salesperson for adding multiple products.</a:t>
            </a:r>
            <a:endParaRPr lang="en-IN" b="1" dirty="0"/>
          </a:p>
          <a:p>
            <a:pPr marL="342900" indent="-342900" algn="l">
              <a:buFont typeface="Arial" panose="020B0604020202020204" pitchFamily="34" charset="0"/>
              <a:buChar char="•"/>
            </a:pPr>
            <a:r>
              <a:rPr lang="en-IN" b="1" dirty="0"/>
              <a:t>Reference Link: </a:t>
            </a:r>
            <a:r>
              <a:rPr lang="en-IN" u="sng" dirty="0">
                <a:hlinkClick r:id="rId3"/>
              </a:rPr>
              <a:t>https://docs.microsoft.com/en-us/dynamics365/sales/add-products-qoi-enhanced</a:t>
            </a:r>
            <a:r>
              <a:rPr lang="en-IN" dirty="0"/>
              <a:t> </a:t>
            </a:r>
          </a:p>
          <a:p>
            <a:pPr algn="l"/>
            <a:r>
              <a:rPr lang="en-IN" dirty="0"/>
              <a:t>You can customize the Add Products dialog box as per your wish.</a:t>
            </a:r>
            <a:endParaRPr lang="en-IN" b="1" dirty="0"/>
          </a:p>
          <a:p>
            <a:pPr marL="342900" indent="-342900" algn="l">
              <a:buFont typeface="Arial" panose="020B0604020202020204" pitchFamily="34" charset="0"/>
              <a:buChar char="•"/>
            </a:pPr>
            <a:r>
              <a:rPr lang="en-IN" b="1" dirty="0"/>
              <a:t>Reference Link: </a:t>
            </a:r>
            <a:r>
              <a:rPr lang="en-IN" u="sng" dirty="0">
                <a:hlinkClick r:id="rId4"/>
              </a:rPr>
              <a:t>https://docs.microsoft.com/en-us/dynamics365/sales/customize-add-products-dialog-box?tabs=SEAddColumns%2CSEProductColumns</a:t>
            </a:r>
            <a:endParaRPr lang="en-IN" sz="1800" dirty="0"/>
          </a:p>
        </p:txBody>
      </p:sp>
    </p:spTree>
    <p:extLst>
      <p:ext uri="{BB962C8B-B14F-4D97-AF65-F5344CB8AC3E}">
        <p14:creationId xmlns:p14="http://schemas.microsoft.com/office/powerpoint/2010/main" val="248303678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Configure Product Catalog Settings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endParaRPr lang="en-IN" sz="1800" dirty="0"/>
          </a:p>
        </p:txBody>
      </p:sp>
      <p:pic>
        <p:nvPicPr>
          <p:cNvPr id="8" name="Picture 7">
            <a:extLst>
              <a:ext uri="{FF2B5EF4-FFF2-40B4-BE49-F238E27FC236}">
                <a16:creationId xmlns:a16="http://schemas.microsoft.com/office/drawing/2014/main" id="{E968FBCA-D3EB-4F43-95AD-9ADE9234F4E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8489" y="1102659"/>
            <a:ext cx="10889226" cy="5104673"/>
          </a:xfrm>
          <a:prstGeom prst="rect">
            <a:avLst/>
          </a:prstGeom>
          <a:noFill/>
          <a:ln>
            <a:solidFill>
              <a:schemeClr val="tx1"/>
            </a:solidFill>
          </a:ln>
        </p:spPr>
      </p:pic>
    </p:spTree>
    <p:extLst>
      <p:ext uri="{BB962C8B-B14F-4D97-AF65-F5344CB8AC3E}">
        <p14:creationId xmlns:p14="http://schemas.microsoft.com/office/powerpoint/2010/main" val="20718581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dirty="0"/>
            </a:br>
            <a:r>
              <a:rPr lang="en-IN" dirty="0"/>
              <a:t>Configure Product Catalog Settings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b="1" dirty="0"/>
              <a:t>Reference Link</a:t>
            </a:r>
            <a:r>
              <a:rPr lang="en-IN" dirty="0"/>
              <a:t>: </a:t>
            </a:r>
          </a:p>
          <a:p>
            <a:pPr marL="342900" indent="-342900" algn="l">
              <a:buFont typeface="Arial" panose="020B0604020202020204" pitchFamily="34" charset="0"/>
              <a:buChar char="•"/>
            </a:pPr>
            <a:r>
              <a:rPr lang="en-IN" u="sng" dirty="0">
                <a:hlinkClick r:id="rId3"/>
              </a:rPr>
              <a:t>https://docs.microsoft.com/en-us/dynamics365/sales/configure-product-catalog-settings</a:t>
            </a:r>
            <a:r>
              <a:rPr lang="en-IN" dirty="0"/>
              <a:t> </a:t>
            </a:r>
          </a:p>
          <a:p>
            <a:pPr algn="l"/>
            <a:endParaRPr lang="en-IN" sz="1800" dirty="0"/>
          </a:p>
        </p:txBody>
      </p:sp>
    </p:spTree>
    <p:extLst>
      <p:ext uri="{BB962C8B-B14F-4D97-AF65-F5344CB8AC3E}">
        <p14:creationId xmlns:p14="http://schemas.microsoft.com/office/powerpoint/2010/main" val="252885279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pPr algn="l"/>
            <a:br>
              <a:rPr lang="en-IN" sz="1600" dirty="0"/>
            </a:br>
            <a:br>
              <a:rPr lang="en-IN" sz="1600" dirty="0"/>
            </a:br>
            <a:br>
              <a:rPr lang="en-IN" sz="1600" dirty="0"/>
            </a:br>
            <a:br>
              <a:rPr lang="en-IN" sz="1600" dirty="0"/>
            </a:br>
            <a:br>
              <a:rPr lang="en-IN" sz="1600" dirty="0"/>
            </a:br>
            <a:br>
              <a:rPr lang="en-IN" sz="1600" dirty="0"/>
            </a:br>
            <a:br>
              <a:rPr lang="en-IN" sz="1600" dirty="0"/>
            </a:br>
            <a:br>
              <a:rPr lang="en-IN" sz="1600" dirty="0"/>
            </a:br>
            <a:r>
              <a:rPr lang="en-IN" sz="2400" b="1" dirty="0"/>
              <a:t>Price Calculation for Opportunity, Quote, </a:t>
            </a:r>
            <a:br>
              <a:rPr lang="en-IN" sz="2400" b="1" dirty="0"/>
            </a:br>
            <a:r>
              <a:rPr lang="en-IN" sz="2400" b="1" dirty="0"/>
              <a:t>Order, and Invoice records</a:t>
            </a:r>
            <a:endParaRPr lang="en-IN" sz="1600" dirty="0"/>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b="1" dirty="0"/>
              <a:t>Reference Link: </a:t>
            </a:r>
          </a:p>
          <a:p>
            <a:pPr marL="342900" indent="-342900" algn="l">
              <a:buFont typeface="Arial" panose="020B0604020202020204" pitchFamily="34" charset="0"/>
              <a:buChar char="•"/>
            </a:pPr>
            <a:r>
              <a:rPr lang="en-IN" u="sng" dirty="0">
                <a:hlinkClick r:id="rId3"/>
              </a:rPr>
              <a:t>https://docs.microsoft.com/en-us/dynamics365/sales/price-calculation-opportunity-quote-order-invoice-records</a:t>
            </a:r>
            <a:endParaRPr lang="en-IN" sz="1800" dirty="0"/>
          </a:p>
        </p:txBody>
      </p:sp>
    </p:spTree>
    <p:extLst>
      <p:ext uri="{BB962C8B-B14F-4D97-AF65-F5344CB8AC3E}">
        <p14:creationId xmlns:p14="http://schemas.microsoft.com/office/powerpoint/2010/main" val="148169728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US" dirty="0"/>
              <a:t>1. </a:t>
            </a:r>
            <a:r>
              <a:rPr lang="en-IN" b="1" dirty="0"/>
              <a:t>Is it compulsory to always follow the typical OOB sales process path from Lead to Invoice?</a:t>
            </a:r>
            <a:endParaRPr lang="en-IN" dirty="0"/>
          </a:p>
          <a:p>
            <a:pPr algn="l"/>
            <a:r>
              <a:rPr lang="en-IN" dirty="0"/>
              <a:t>It is not compulsory it is up to your business requirement, for e.g. If your organization would not like to create lead entity record and start the business from Opportunity entity itself then they can do so.</a:t>
            </a:r>
          </a:p>
          <a:p>
            <a:pPr algn="l"/>
            <a:r>
              <a:rPr lang="en-US" dirty="0"/>
              <a:t>2.</a:t>
            </a:r>
            <a:r>
              <a:rPr lang="en-IN" b="1" dirty="0"/>
              <a:t> From how many places lead records can be created in Dynamics 365?</a:t>
            </a:r>
            <a:endParaRPr lang="en-IN" dirty="0"/>
          </a:p>
          <a:p>
            <a:pPr algn="l"/>
            <a:r>
              <a:rPr lang="en-IN" dirty="0"/>
              <a:t>There are many places as mentioned below:</a:t>
            </a:r>
          </a:p>
          <a:p>
            <a:pPr marL="800089" lvl="1" indent="-342900" algn="l">
              <a:buFont typeface="Arial" panose="020B0604020202020204" pitchFamily="34" charset="0"/>
              <a:buChar char="•"/>
            </a:pPr>
            <a:r>
              <a:rPr lang="en-IN" dirty="0">
                <a:solidFill>
                  <a:schemeClr val="tx1">
                    <a:lumMod val="50000"/>
                    <a:lumOff val="50000"/>
                  </a:schemeClr>
                </a:solidFill>
              </a:rPr>
              <a:t>Manually (Sales hub--&gt;under Sales area--&gt;navigate to Leads--&gt;click on +New from command bar)</a:t>
            </a:r>
            <a:endParaRPr lang="en-IN" sz="2400" dirty="0">
              <a:solidFill>
                <a:schemeClr val="tx1">
                  <a:lumMod val="50000"/>
                  <a:lumOff val="50000"/>
                </a:schemeClr>
              </a:solidFill>
            </a:endParaRPr>
          </a:p>
          <a:p>
            <a:pPr marL="800089" lvl="1" indent="-342900" algn="l">
              <a:buFont typeface="Arial" panose="020B0604020202020204" pitchFamily="34" charset="0"/>
              <a:buChar char="•"/>
            </a:pPr>
            <a:r>
              <a:rPr lang="en-IN" dirty="0">
                <a:solidFill>
                  <a:schemeClr val="tx1">
                    <a:lumMod val="50000"/>
                    <a:lumOff val="50000"/>
                  </a:schemeClr>
                </a:solidFill>
              </a:rPr>
              <a:t>Converting email activities to leads</a:t>
            </a:r>
            <a:endParaRPr lang="en-IN" sz="2400" dirty="0">
              <a:solidFill>
                <a:schemeClr val="tx1">
                  <a:lumMod val="50000"/>
                  <a:lumOff val="50000"/>
                </a:schemeClr>
              </a:solidFill>
            </a:endParaRPr>
          </a:p>
          <a:p>
            <a:pPr marL="800089" lvl="1" indent="-342900" algn="l">
              <a:buFont typeface="Arial" panose="020B0604020202020204" pitchFamily="34" charset="0"/>
              <a:buChar char="•"/>
            </a:pPr>
            <a:r>
              <a:rPr lang="en-IN" dirty="0">
                <a:solidFill>
                  <a:schemeClr val="tx1">
                    <a:lumMod val="50000"/>
                    <a:lumOff val="50000"/>
                  </a:schemeClr>
                </a:solidFill>
              </a:rPr>
              <a:t>Bulk importing leads</a:t>
            </a:r>
            <a:endParaRPr lang="en-IN" sz="2400" dirty="0">
              <a:solidFill>
                <a:schemeClr val="tx1">
                  <a:lumMod val="50000"/>
                  <a:lumOff val="50000"/>
                </a:schemeClr>
              </a:solidFill>
            </a:endParaRPr>
          </a:p>
          <a:p>
            <a:pPr lvl="1" algn="l"/>
            <a:r>
              <a:rPr lang="en-IN" dirty="0">
                <a:solidFill>
                  <a:schemeClr val="tx1">
                    <a:lumMod val="50000"/>
                    <a:lumOff val="50000"/>
                  </a:schemeClr>
                </a:solidFill>
              </a:rPr>
              <a:t>For more details go through below link:</a:t>
            </a:r>
          </a:p>
          <a:p>
            <a:pPr lvl="1" algn="l"/>
            <a:r>
              <a:rPr lang="en-IN" u="sng" dirty="0">
                <a:hlinkClick r:id="rId3"/>
              </a:rPr>
              <a:t>https://docs.microsoft.com/en-us/learn/modules/manage-leads-dynamics-365-sales/2-create-leads</a:t>
            </a:r>
            <a:endParaRPr lang="en-IN" dirty="0"/>
          </a:p>
          <a:p>
            <a:pPr algn="l"/>
            <a:endParaRPr lang="en-IN" sz="1800" dirty="0"/>
          </a:p>
        </p:txBody>
      </p:sp>
    </p:spTree>
    <p:extLst>
      <p:ext uri="{BB962C8B-B14F-4D97-AF65-F5344CB8AC3E}">
        <p14:creationId xmlns:p14="http://schemas.microsoft.com/office/powerpoint/2010/main" val="27108102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US" dirty="0"/>
              <a:t>3. </a:t>
            </a:r>
            <a:r>
              <a:rPr lang="en-IN" b="1" dirty="0"/>
              <a:t>Can I have more than one BPFs on entity record and how to select the desired BPF amongst all?</a:t>
            </a:r>
            <a:endParaRPr lang="en-IN" dirty="0"/>
          </a:p>
          <a:p>
            <a:pPr algn="l"/>
            <a:r>
              <a:rPr lang="en-IN" dirty="0"/>
              <a:t>Yes, you can create multiple BPFs. for switching over the BPFs on entity record form you need to click on “Process” button from command bar after it click on “Switch Process” to display all the BPFs.</a:t>
            </a:r>
          </a:p>
          <a:p>
            <a:pPr algn="l"/>
            <a:r>
              <a:rPr lang="en-IN" b="1" dirty="0"/>
              <a:t>NOTE</a:t>
            </a:r>
            <a:r>
              <a:rPr lang="en-IN" dirty="0"/>
              <a:t>: You can have maximum up to 10 active business process flows per table/entity.</a:t>
            </a:r>
          </a:p>
          <a:p>
            <a:pPr algn="l"/>
            <a:r>
              <a:rPr lang="en-IN" dirty="0"/>
              <a:t> </a:t>
            </a:r>
          </a:p>
          <a:p>
            <a:pPr algn="l"/>
            <a:r>
              <a:rPr lang="en-IN" dirty="0"/>
              <a:t>For more details go through below link:</a:t>
            </a:r>
          </a:p>
          <a:p>
            <a:pPr algn="l"/>
            <a:r>
              <a:rPr lang="en-IN" u="sng" dirty="0">
                <a:hlinkClick r:id="rId3"/>
              </a:rPr>
              <a:t>https://docs.microsoft.com/en-us/power-automate/business-process-flows-overview</a:t>
            </a:r>
            <a:r>
              <a:rPr lang="en-IN" u="sng" dirty="0"/>
              <a:t> </a:t>
            </a:r>
            <a:endParaRPr lang="en-IN" dirty="0"/>
          </a:p>
          <a:p>
            <a:pPr algn="l"/>
            <a:endParaRPr lang="en-IN" dirty="0"/>
          </a:p>
        </p:txBody>
      </p:sp>
    </p:spTree>
    <p:extLst>
      <p:ext uri="{BB962C8B-B14F-4D97-AF65-F5344CB8AC3E}">
        <p14:creationId xmlns:p14="http://schemas.microsoft.com/office/powerpoint/2010/main" val="23387982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US" dirty="0"/>
              <a:t>4. </a:t>
            </a:r>
            <a:r>
              <a:rPr lang="en-IN" b="1" dirty="0"/>
              <a:t>While qualifying lead record Account not created what must be the reason?</a:t>
            </a:r>
            <a:endParaRPr lang="en-IN" dirty="0"/>
          </a:p>
          <a:p>
            <a:pPr algn="l"/>
            <a:r>
              <a:rPr lang="en-IN" dirty="0"/>
              <a:t>Check while qualifying if Company name field filled on lead record.</a:t>
            </a:r>
          </a:p>
          <a:p>
            <a:pPr algn="l"/>
            <a:r>
              <a:rPr lang="en-US" dirty="0"/>
              <a:t>5</a:t>
            </a:r>
            <a:r>
              <a:rPr lang="en-IN" dirty="0"/>
              <a:t>.</a:t>
            </a:r>
            <a:r>
              <a:rPr lang="en-IN" b="1" dirty="0"/>
              <a:t> Can I change the OOB lead qualification experience? What happens when I try to qualify if I do so?</a:t>
            </a:r>
            <a:endParaRPr lang="en-IN" dirty="0"/>
          </a:p>
          <a:p>
            <a:pPr algn="l"/>
            <a:r>
              <a:rPr lang="en-IN" dirty="0"/>
              <a:t>Under Sales hub Change the area to App Settings</a:t>
            </a:r>
          </a:p>
          <a:p>
            <a:pPr algn="l"/>
            <a:r>
              <a:rPr lang="en-IN" dirty="0"/>
              <a:t>Under General settings --&gt; “Lead + Opportunity Management” --&gt;Go to Lead Qualification” by default this setting is Yes means on qualifying the lead Account, Contact and Opportunity created but if turned off then while qualifying lead record you can choose only those records which you want to create.</a:t>
            </a:r>
          </a:p>
          <a:p>
            <a:pPr algn="l"/>
            <a:endParaRPr lang="en-IN" dirty="0"/>
          </a:p>
        </p:txBody>
      </p:sp>
    </p:spTree>
    <p:extLst>
      <p:ext uri="{BB962C8B-B14F-4D97-AF65-F5344CB8AC3E}">
        <p14:creationId xmlns:p14="http://schemas.microsoft.com/office/powerpoint/2010/main" val="376263526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endParaRPr lang="en-IN" dirty="0"/>
          </a:p>
        </p:txBody>
      </p:sp>
      <p:pic>
        <p:nvPicPr>
          <p:cNvPr id="8" name="Picture 7">
            <a:extLst>
              <a:ext uri="{FF2B5EF4-FFF2-40B4-BE49-F238E27FC236}">
                <a16:creationId xmlns:a16="http://schemas.microsoft.com/office/drawing/2014/main" id="{58C98691-DBC7-4DB2-8373-07610A1BFFD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8947" y="1046703"/>
            <a:ext cx="10576204" cy="5034401"/>
          </a:xfrm>
          <a:prstGeom prst="rect">
            <a:avLst/>
          </a:prstGeom>
          <a:noFill/>
          <a:ln>
            <a:solidFill>
              <a:schemeClr val="tx1"/>
            </a:solidFill>
          </a:ln>
        </p:spPr>
      </p:pic>
    </p:spTree>
    <p:extLst>
      <p:ext uri="{BB962C8B-B14F-4D97-AF65-F5344CB8AC3E}">
        <p14:creationId xmlns:p14="http://schemas.microsoft.com/office/powerpoint/2010/main" val="381292126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When you try to qualify lead you will see below page for option to create or skip record creation.</a:t>
            </a:r>
          </a:p>
          <a:p>
            <a:pPr algn="l"/>
            <a:endParaRPr lang="en-IN" dirty="0"/>
          </a:p>
          <a:p>
            <a:pPr algn="l"/>
            <a:endParaRPr lang="en-IN" dirty="0"/>
          </a:p>
        </p:txBody>
      </p:sp>
      <p:pic>
        <p:nvPicPr>
          <p:cNvPr id="9" name="Picture 8">
            <a:extLst>
              <a:ext uri="{FF2B5EF4-FFF2-40B4-BE49-F238E27FC236}">
                <a16:creationId xmlns:a16="http://schemas.microsoft.com/office/drawing/2014/main" id="{6B5339A6-20FD-4D56-B4FF-944993CBD2D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6417" y="2169161"/>
            <a:ext cx="9098877" cy="3545840"/>
          </a:xfrm>
          <a:prstGeom prst="rect">
            <a:avLst/>
          </a:prstGeom>
          <a:noFill/>
          <a:ln>
            <a:solidFill>
              <a:schemeClr val="tx1"/>
            </a:solidFill>
          </a:ln>
        </p:spPr>
      </p:pic>
    </p:spTree>
    <p:extLst>
      <p:ext uri="{BB962C8B-B14F-4D97-AF65-F5344CB8AC3E}">
        <p14:creationId xmlns:p14="http://schemas.microsoft.com/office/powerpoint/2010/main" val="28713389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For more details go through below link:</a:t>
            </a:r>
          </a:p>
          <a:p>
            <a:pPr marL="342900" indent="-342900" algn="l">
              <a:buFont typeface="Arial" panose="020B0604020202020204" pitchFamily="34" charset="0"/>
              <a:buChar char="•"/>
            </a:pPr>
            <a:r>
              <a:rPr lang="en-IN" u="sng" dirty="0">
                <a:hlinkClick r:id="rId3"/>
              </a:rPr>
              <a:t>https://docs.microsoft.com/en-us/dynamics365/sales/define-lead-qualification-experience</a:t>
            </a:r>
            <a:r>
              <a:rPr lang="en-IN" u="sng" dirty="0"/>
              <a:t> </a:t>
            </a:r>
            <a:endParaRPr lang="en-IN" dirty="0"/>
          </a:p>
          <a:p>
            <a:pPr algn="l"/>
            <a:endParaRPr lang="en-IN" dirty="0"/>
          </a:p>
          <a:p>
            <a:pPr algn="l"/>
            <a:endParaRPr lang="en-IN" dirty="0"/>
          </a:p>
        </p:txBody>
      </p:sp>
    </p:spTree>
    <p:extLst>
      <p:ext uri="{BB962C8B-B14F-4D97-AF65-F5344CB8AC3E}">
        <p14:creationId xmlns:p14="http://schemas.microsoft.com/office/powerpoint/2010/main" val="46603464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US" dirty="0"/>
              <a:t>6.</a:t>
            </a:r>
            <a:r>
              <a:rPr lang="en-IN" b="1" dirty="0"/>
              <a:t> What happens when duplicates for Account or Contact are found while qualifying leads?</a:t>
            </a:r>
            <a:endParaRPr lang="en-IN" dirty="0"/>
          </a:p>
          <a:p>
            <a:pPr algn="l"/>
            <a:r>
              <a:rPr lang="en-IN" dirty="0"/>
              <a:t>When qualifying a lead, if a duplicate account or contact is detected while creating new records, a duplicate warning is shown to you.</a:t>
            </a:r>
          </a:p>
          <a:p>
            <a:pPr algn="l"/>
            <a:r>
              <a:rPr lang="en-US" dirty="0"/>
              <a:t>7. </a:t>
            </a:r>
            <a:r>
              <a:rPr lang="en-IN" b="1" dirty="0"/>
              <a:t>What happens to timeline information (like phone call, email activities etc.) that salesperson created on lead record, when leads are qualified?</a:t>
            </a:r>
            <a:endParaRPr lang="en-IN" dirty="0"/>
          </a:p>
          <a:p>
            <a:pPr algn="l"/>
            <a:r>
              <a:rPr lang="en-IN" dirty="0"/>
              <a:t>When a lead is qualified, timeline activities are displayed in the newly created Opportunity record so that the timeline information is not lost.</a:t>
            </a:r>
          </a:p>
          <a:p>
            <a:pPr algn="l"/>
            <a:r>
              <a:rPr lang="en-US" dirty="0"/>
              <a:t>8.</a:t>
            </a:r>
            <a:r>
              <a:rPr lang="en-IN" b="1" dirty="0"/>
              <a:t> When clicking on “Close as Won” button I am not able to close the opportunity, what must be the reason?</a:t>
            </a:r>
            <a:endParaRPr lang="en-IN" dirty="0"/>
          </a:p>
          <a:p>
            <a:pPr algn="l"/>
            <a:r>
              <a:rPr lang="en-IN" dirty="0"/>
              <a:t>Verify there are no active or draft quotes associated with the corresponding opportunity. If you have then you must close all the quotes before closing the opportunity.</a:t>
            </a:r>
          </a:p>
          <a:p>
            <a:pPr algn="l"/>
            <a:endParaRPr lang="en-IN" dirty="0"/>
          </a:p>
          <a:p>
            <a:pPr algn="l"/>
            <a:endParaRPr lang="en-IN" dirty="0"/>
          </a:p>
        </p:txBody>
      </p:sp>
    </p:spTree>
    <p:extLst>
      <p:ext uri="{BB962C8B-B14F-4D97-AF65-F5344CB8AC3E}">
        <p14:creationId xmlns:p14="http://schemas.microsoft.com/office/powerpoint/2010/main" val="1731838603"/>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US" dirty="0"/>
              <a:t>9.</a:t>
            </a:r>
            <a:r>
              <a:rPr lang="en-IN" b="1" dirty="0"/>
              <a:t> Can I revise the quote once the Quote is closed as Won? </a:t>
            </a:r>
          </a:p>
          <a:p>
            <a:pPr algn="l"/>
            <a:r>
              <a:rPr lang="en-IN" dirty="0"/>
              <a:t>No, the Revise button is not displayed on Won Quote.</a:t>
            </a:r>
          </a:p>
          <a:p>
            <a:pPr algn="l"/>
            <a:r>
              <a:rPr lang="en-IN" dirty="0"/>
              <a:t>10. </a:t>
            </a:r>
            <a:r>
              <a:rPr lang="en-IN" b="1" dirty="0"/>
              <a:t>I was not able to view Revise button on Quote command bar what must be the reason?</a:t>
            </a:r>
            <a:endParaRPr lang="en-IN" dirty="0"/>
          </a:p>
          <a:p>
            <a:pPr algn="l"/>
            <a:r>
              <a:rPr lang="en-IN" dirty="0"/>
              <a:t>Verify if Quote is activated.</a:t>
            </a:r>
          </a:p>
          <a:p>
            <a:pPr algn="l"/>
            <a:r>
              <a:rPr lang="en-IN" dirty="0"/>
              <a:t>11. </a:t>
            </a:r>
            <a:r>
              <a:rPr lang="en-IN" b="1" dirty="0"/>
              <a:t>Salesperson Closed the quote as it was asked for cancellation by customer afterwards while trying to revise the quote salesperson was experiencing below pop up, what must be the reason?</a:t>
            </a:r>
            <a:endParaRPr lang="en-IN" dirty="0"/>
          </a:p>
          <a:p>
            <a:pPr algn="l"/>
            <a:r>
              <a:rPr lang="en-IN" dirty="0"/>
              <a:t>This is OOB pop up restriction, as you still have draft or active quote associated with same quote number you are not able to do so.</a:t>
            </a:r>
          </a:p>
          <a:p>
            <a:pPr algn="l"/>
            <a:endParaRPr lang="en-IN" dirty="0"/>
          </a:p>
        </p:txBody>
      </p:sp>
      <p:pic>
        <p:nvPicPr>
          <p:cNvPr id="8" name="Picture 7">
            <a:extLst>
              <a:ext uri="{FF2B5EF4-FFF2-40B4-BE49-F238E27FC236}">
                <a16:creationId xmlns:a16="http://schemas.microsoft.com/office/drawing/2014/main" id="{CFC952BB-131F-4FDD-A99B-17A608407C3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68488" y="5128399"/>
            <a:ext cx="2984836" cy="1303790"/>
          </a:xfrm>
          <a:prstGeom prst="rect">
            <a:avLst/>
          </a:prstGeom>
          <a:noFill/>
          <a:ln>
            <a:solidFill>
              <a:schemeClr val="tx1"/>
            </a:solidFill>
          </a:ln>
        </p:spPr>
      </p:pic>
    </p:spTree>
    <p:extLst>
      <p:ext uri="{BB962C8B-B14F-4D97-AF65-F5344CB8AC3E}">
        <p14:creationId xmlns:p14="http://schemas.microsoft.com/office/powerpoint/2010/main" val="160458594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lnSpcReduction="10000"/>
          </a:bodyPr>
          <a:lstStyle/>
          <a:p>
            <a:pPr algn="l"/>
            <a:r>
              <a:rPr lang="en-IN" dirty="0"/>
              <a:t>12. </a:t>
            </a:r>
            <a:r>
              <a:rPr lang="en-IN" b="1" dirty="0"/>
              <a:t>On Quote record which field is used for storing Account and/or Contact both?</a:t>
            </a:r>
            <a:endParaRPr lang="en-IN" dirty="0"/>
          </a:p>
          <a:p>
            <a:pPr algn="l"/>
            <a:r>
              <a:rPr lang="en-IN" dirty="0"/>
              <a:t>Potential Customer field on Quote is used</a:t>
            </a:r>
          </a:p>
          <a:p>
            <a:pPr algn="l"/>
            <a:r>
              <a:rPr lang="en-IN" dirty="0"/>
              <a:t>13. </a:t>
            </a:r>
            <a:r>
              <a:rPr lang="en-IN" b="1" dirty="0"/>
              <a:t>You need to ensure that estimated revenue for opportunities is automatically calculated. What should you do?</a:t>
            </a:r>
            <a:endParaRPr lang="en-IN" dirty="0"/>
          </a:p>
          <a:p>
            <a:pPr algn="l"/>
            <a:r>
              <a:rPr lang="en-IN" dirty="0"/>
              <a:t>Make sure the Revenue field value set as System calculated</a:t>
            </a:r>
          </a:p>
          <a:p>
            <a:pPr algn="l"/>
            <a:r>
              <a:rPr lang="en-IN" dirty="0"/>
              <a:t>14.</a:t>
            </a:r>
            <a:r>
              <a:rPr lang="en-IN" b="1" dirty="0"/>
              <a:t> When lead is qualified, what happens in terms of BPF stage on lead record?</a:t>
            </a:r>
            <a:endParaRPr lang="en-IN" dirty="0"/>
          </a:p>
          <a:p>
            <a:pPr algn="l"/>
            <a:r>
              <a:rPr lang="en-IN" dirty="0"/>
              <a:t>BPF stage advanced from qualify to develop stage, and at any time you can navigate to opportunity record by clicking on Develop stage.</a:t>
            </a:r>
          </a:p>
          <a:p>
            <a:pPr algn="l"/>
            <a:r>
              <a:rPr lang="en-IN" dirty="0"/>
              <a:t>15.</a:t>
            </a:r>
            <a:r>
              <a:rPr lang="en-IN" b="1" dirty="0"/>
              <a:t> If you do not want to change the ownership of record and yet want to provide the access to other user, which feature you should use?</a:t>
            </a:r>
            <a:endParaRPr lang="en-IN" dirty="0"/>
          </a:p>
          <a:p>
            <a:pPr algn="l"/>
            <a:r>
              <a:rPr lang="en-IN" dirty="0"/>
              <a:t>You can share the record with other user</a:t>
            </a:r>
          </a:p>
          <a:p>
            <a:pPr algn="l"/>
            <a:endParaRPr lang="en-IN" dirty="0"/>
          </a:p>
        </p:txBody>
      </p:sp>
    </p:spTree>
    <p:extLst>
      <p:ext uri="{BB962C8B-B14F-4D97-AF65-F5344CB8AC3E}">
        <p14:creationId xmlns:p14="http://schemas.microsoft.com/office/powerpoint/2010/main" val="139280144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16.</a:t>
            </a:r>
            <a:r>
              <a:rPr lang="en-IN" b="1" dirty="0"/>
              <a:t> While sharing the records from Salesperson A to Salesperson B, permission dialog box opens up with which options?</a:t>
            </a:r>
            <a:endParaRPr lang="en-IN" dirty="0"/>
          </a:p>
          <a:p>
            <a:pPr algn="l"/>
            <a:r>
              <a:rPr lang="en-IN" dirty="0"/>
              <a:t>Read, Write, Delete, Append, Append to, Assign, Share</a:t>
            </a:r>
          </a:p>
          <a:p>
            <a:pPr algn="l"/>
            <a:r>
              <a:rPr lang="en-IN" dirty="0"/>
              <a:t> </a:t>
            </a:r>
          </a:p>
          <a:p>
            <a:pPr algn="l"/>
            <a:r>
              <a:rPr lang="en-IN" dirty="0"/>
              <a:t>For more details go through below link:</a:t>
            </a:r>
          </a:p>
          <a:p>
            <a:pPr algn="l"/>
            <a:r>
              <a:rPr lang="en-IN" u="sng" dirty="0">
                <a:hlinkClick r:id="rId3"/>
              </a:rPr>
              <a:t>https://www.inogic.com/blog/2021/08/new-model-driven-app-experience-for-sharing-entity-rows/</a:t>
            </a:r>
            <a:r>
              <a:rPr lang="en-IN" b="1" dirty="0"/>
              <a:t> </a:t>
            </a:r>
            <a:endParaRPr lang="en-IN" dirty="0"/>
          </a:p>
          <a:p>
            <a:pPr algn="l"/>
            <a:endParaRPr lang="en-IN" dirty="0"/>
          </a:p>
        </p:txBody>
      </p:sp>
    </p:spTree>
    <p:extLst>
      <p:ext uri="{BB962C8B-B14F-4D97-AF65-F5344CB8AC3E}">
        <p14:creationId xmlns:p14="http://schemas.microsoft.com/office/powerpoint/2010/main" val="40503446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17.</a:t>
            </a:r>
            <a:r>
              <a:rPr lang="en-IN" b="1" dirty="0"/>
              <a:t> What is the major difference between Assign and Share feature?</a:t>
            </a:r>
          </a:p>
          <a:p>
            <a:pPr algn="l"/>
            <a:r>
              <a:rPr lang="en-IN" dirty="0"/>
              <a:t>Let say if User Paul open the opportunity record and wanted to share this with User Alex so Paul after clicking on share button from opportunity command bar it gets shared but still ownership of record remain under User Paul only. </a:t>
            </a:r>
          </a:p>
          <a:p>
            <a:pPr algn="l"/>
            <a:r>
              <a:rPr lang="en-IN" dirty="0"/>
              <a:t>Note: User Alex has the access depend upon the privileges provided while sharing.</a:t>
            </a:r>
          </a:p>
          <a:p>
            <a:pPr algn="l"/>
            <a:r>
              <a:rPr lang="en-IN" dirty="0"/>
              <a:t> </a:t>
            </a:r>
          </a:p>
          <a:p>
            <a:pPr algn="l"/>
            <a:r>
              <a:rPr lang="en-IN" dirty="0"/>
              <a:t>If User Paul assign the record then ownership changed to User Alex, this way User Paul has no longer access to that record as User Alex is the owner.</a:t>
            </a:r>
          </a:p>
          <a:p>
            <a:pPr algn="l"/>
            <a:endParaRPr lang="en-IN" dirty="0"/>
          </a:p>
          <a:p>
            <a:pPr algn="l"/>
            <a:endParaRPr lang="en-IN" dirty="0"/>
          </a:p>
        </p:txBody>
      </p:sp>
    </p:spTree>
    <p:extLst>
      <p:ext uri="{BB962C8B-B14F-4D97-AF65-F5344CB8AC3E}">
        <p14:creationId xmlns:p14="http://schemas.microsoft.com/office/powerpoint/2010/main" val="2157507454"/>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dirty="0"/>
              <a:t>18.</a:t>
            </a:r>
            <a:r>
              <a:rPr lang="en-IN" b="1" dirty="0"/>
              <a:t> If Price list is mandatory then what is the purpose of selecting currency on opportunity record?</a:t>
            </a:r>
            <a:endParaRPr lang="en-IN" dirty="0"/>
          </a:p>
          <a:p>
            <a:pPr algn="l"/>
            <a:r>
              <a:rPr lang="en-IN" dirty="0"/>
              <a:t>To filter the price list while adding products as opportunity products/lines.</a:t>
            </a:r>
          </a:p>
          <a:p>
            <a:pPr algn="l"/>
            <a:r>
              <a:rPr lang="en-IN" dirty="0"/>
              <a:t>19.</a:t>
            </a:r>
            <a:r>
              <a:rPr lang="en-IN" b="1" dirty="0"/>
              <a:t> Can I make Price list optional?</a:t>
            </a:r>
            <a:endParaRPr lang="en-IN" dirty="0"/>
          </a:p>
          <a:p>
            <a:pPr algn="l"/>
            <a:r>
              <a:rPr lang="en-IN" dirty="0"/>
              <a:t>Yes you can make price list optional.</a:t>
            </a:r>
          </a:p>
          <a:p>
            <a:pPr algn="l"/>
            <a:r>
              <a:rPr lang="en-IN" dirty="0"/>
              <a:t> </a:t>
            </a:r>
          </a:p>
          <a:p>
            <a:pPr algn="l"/>
            <a:r>
              <a:rPr lang="en-IN" dirty="0"/>
              <a:t>For more details go through below link:</a:t>
            </a:r>
          </a:p>
          <a:p>
            <a:pPr algn="l"/>
            <a:r>
              <a:rPr lang="en-IN" u="sng" dirty="0">
                <a:hlinkClick r:id="rId3"/>
              </a:rPr>
              <a:t>https://www.inogic.com/blog/2019/11/optional-price-lists-new-dynamics-365-crm-wave-2-release-feature/</a:t>
            </a:r>
            <a:endParaRPr lang="en-IN" dirty="0"/>
          </a:p>
        </p:txBody>
      </p:sp>
    </p:spTree>
    <p:extLst>
      <p:ext uri="{BB962C8B-B14F-4D97-AF65-F5344CB8AC3E}">
        <p14:creationId xmlns:p14="http://schemas.microsoft.com/office/powerpoint/2010/main" val="33233786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1" cy="5048718"/>
          </a:xfrm>
        </p:spPr>
        <p:txBody>
          <a:bodyPr>
            <a:normAutofit/>
          </a:bodyPr>
          <a:lstStyle/>
          <a:p>
            <a:pPr algn="l"/>
            <a:r>
              <a:rPr lang="en-IN" b="1" dirty="0"/>
              <a:t>20.Purpose of Recalculate opportunity button?</a:t>
            </a:r>
            <a:endParaRPr lang="en-IN" dirty="0"/>
          </a:p>
          <a:p>
            <a:pPr algn="l"/>
            <a:r>
              <a:rPr lang="en-IN" dirty="0"/>
              <a:t>This button allow you to recalculate the estimated revenue.</a:t>
            </a:r>
          </a:p>
          <a:p>
            <a:pPr algn="l"/>
            <a:r>
              <a:rPr lang="en-IN" b="1" dirty="0"/>
              <a:t>21.Is there any way by which I can open the existing closed opportunity?</a:t>
            </a:r>
            <a:endParaRPr lang="en-IN" dirty="0"/>
          </a:p>
          <a:p>
            <a:pPr algn="l"/>
            <a:r>
              <a:rPr lang="en-IN" dirty="0"/>
              <a:t>Yes by using “Reopen Opportunity” button you can open the existing closed opportunities.</a:t>
            </a:r>
          </a:p>
          <a:p>
            <a:pPr algn="l"/>
            <a:r>
              <a:rPr lang="en-IN" b="1" dirty="0"/>
              <a:t>22.Can Salesperson add multiple products at a time?</a:t>
            </a:r>
            <a:endParaRPr lang="en-IN" dirty="0"/>
          </a:p>
          <a:p>
            <a:pPr algn="l"/>
            <a:r>
              <a:rPr lang="en-IN" dirty="0"/>
              <a:t>Yes there is setting available, change the area to App Settings--&gt;under product catalog settings--&gt;Turn on the Adding Products (preview) as shown below:</a:t>
            </a:r>
          </a:p>
          <a:p>
            <a:pPr algn="l"/>
            <a:endParaRPr lang="en-IN" dirty="0"/>
          </a:p>
        </p:txBody>
      </p:sp>
    </p:spTree>
    <p:extLst>
      <p:ext uri="{BB962C8B-B14F-4D97-AF65-F5344CB8AC3E}">
        <p14:creationId xmlns:p14="http://schemas.microsoft.com/office/powerpoint/2010/main" val="418995266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a:bodyPr>
          <a:lstStyle/>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r>
              <a:rPr lang="en-IN" b="1" dirty="0"/>
              <a:t>NOTE:</a:t>
            </a:r>
            <a:r>
              <a:rPr lang="en-IN" dirty="0"/>
              <a:t> by default this feature is off you must turn on it by navigating to App settings.</a:t>
            </a:r>
          </a:p>
          <a:p>
            <a:pPr algn="l"/>
            <a:r>
              <a:rPr lang="en-IN" dirty="0"/>
              <a:t>For more details go through below link:</a:t>
            </a:r>
          </a:p>
          <a:p>
            <a:pPr marL="342900" indent="-342900" algn="l">
              <a:buFont typeface="Arial" panose="020B0604020202020204" pitchFamily="34" charset="0"/>
              <a:buChar char="•"/>
            </a:pPr>
            <a:r>
              <a:rPr lang="en-IN" u="sng" dirty="0">
                <a:hlinkClick r:id="rId3"/>
              </a:rPr>
              <a:t>https://www.inogic.com/blog/2021/05/enhanced-experience-for-adding-line-items-products-with-2021-release-wave-1/</a:t>
            </a:r>
            <a:r>
              <a:rPr lang="en-IN" u="sng" dirty="0"/>
              <a:t> </a:t>
            </a:r>
            <a:endParaRPr lang="en-IN" dirty="0"/>
          </a:p>
          <a:p>
            <a:pPr algn="l"/>
            <a:endParaRPr lang="en-IN" dirty="0"/>
          </a:p>
        </p:txBody>
      </p:sp>
      <p:pic>
        <p:nvPicPr>
          <p:cNvPr id="8" name="Picture 7">
            <a:extLst>
              <a:ext uri="{FF2B5EF4-FFF2-40B4-BE49-F238E27FC236}">
                <a16:creationId xmlns:a16="http://schemas.microsoft.com/office/drawing/2014/main" id="{C5327D77-AD6F-451F-97BD-FD6F3B4D763B}"/>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968488" y="1088343"/>
            <a:ext cx="6427394" cy="2757516"/>
          </a:xfrm>
          <a:prstGeom prst="rect">
            <a:avLst/>
          </a:prstGeom>
          <a:noFill/>
          <a:ln>
            <a:solidFill>
              <a:schemeClr val="tx1"/>
            </a:solidFill>
          </a:ln>
        </p:spPr>
      </p:pic>
    </p:spTree>
    <p:extLst>
      <p:ext uri="{BB962C8B-B14F-4D97-AF65-F5344CB8AC3E}">
        <p14:creationId xmlns:p14="http://schemas.microsoft.com/office/powerpoint/2010/main" val="105546011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a:bodyPr>
          <a:lstStyle/>
          <a:p>
            <a:pPr algn="l"/>
            <a:r>
              <a:rPr lang="en-IN" b="1" dirty="0"/>
              <a:t>23.How Adding Products (Preview) feature beneficial for salesperson?</a:t>
            </a:r>
            <a:endParaRPr lang="en-IN" dirty="0"/>
          </a:p>
          <a:p>
            <a:pPr algn="l"/>
            <a:r>
              <a:rPr lang="en-IN" dirty="0"/>
              <a:t>Salesperson can add MULTIPLE line items/products throughout the sales process from opportunity, quote, order, and invoice</a:t>
            </a:r>
          </a:p>
          <a:p>
            <a:pPr algn="l"/>
            <a:r>
              <a:rPr lang="en-IN" b="1" dirty="0"/>
              <a:t>24.What are preview features?</a:t>
            </a:r>
          </a:p>
          <a:p>
            <a:pPr algn="l"/>
            <a:r>
              <a:rPr lang="en-IN" dirty="0"/>
              <a:t>Preview features are the features that aren't complete, but are made available on a "preview" basis so customers can get early access and provide feedback. They are not recommendation for production deployment.</a:t>
            </a:r>
          </a:p>
          <a:p>
            <a:pPr algn="l"/>
            <a:r>
              <a:rPr lang="en-IN" dirty="0"/>
              <a:t>For more details go through below link:</a:t>
            </a:r>
          </a:p>
          <a:p>
            <a:pPr algn="l"/>
            <a:r>
              <a:rPr lang="en-IN" u="sng" dirty="0">
                <a:hlinkClick r:id="rId3"/>
              </a:rPr>
              <a:t>https://docs.microsoft.com/en-us/power-platform/admin/what-are-preview-features-how-do-i-enable-them</a:t>
            </a:r>
            <a:r>
              <a:rPr lang="en-IN" u="sng" dirty="0"/>
              <a:t> </a:t>
            </a:r>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dirty="0"/>
          </a:p>
        </p:txBody>
      </p:sp>
    </p:spTree>
    <p:extLst>
      <p:ext uri="{BB962C8B-B14F-4D97-AF65-F5344CB8AC3E}">
        <p14:creationId xmlns:p14="http://schemas.microsoft.com/office/powerpoint/2010/main" val="31066343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a:bodyPr>
          <a:lstStyle/>
          <a:p>
            <a:pPr algn="l"/>
            <a:r>
              <a:rPr lang="en-IN" b="1" dirty="0"/>
              <a:t>25.What is the concept of write in products?</a:t>
            </a:r>
            <a:endParaRPr lang="en-IN" dirty="0"/>
          </a:p>
          <a:p>
            <a:pPr algn="l"/>
            <a:r>
              <a:rPr lang="en-IN" dirty="0"/>
              <a:t>You may have a need to use write-in products on the opportunity or quote if you want to estimate something that is not in the product catalog (If it is defined in product catalog means that is the Existing product). Write-in products allow you to simply type the name of a product or service and type in the price and it is temporary available only for that particular opportunity or quote.</a:t>
            </a:r>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dirty="0"/>
          </a:p>
        </p:txBody>
      </p:sp>
    </p:spTree>
    <p:extLst>
      <p:ext uri="{BB962C8B-B14F-4D97-AF65-F5344CB8AC3E}">
        <p14:creationId xmlns:p14="http://schemas.microsoft.com/office/powerpoint/2010/main" val="411151910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a:bodyPr>
          <a:lstStyle/>
          <a:p>
            <a:pPr algn="l"/>
            <a:r>
              <a:rPr lang="en-IN" b="1" dirty="0"/>
              <a:t>26.Is there any setting responsible for performing System pricing calculation?</a:t>
            </a:r>
            <a:endParaRPr lang="en-IN" dirty="0"/>
          </a:p>
          <a:p>
            <a:pPr algn="l"/>
            <a:r>
              <a:rPr lang="en-IN" dirty="0"/>
              <a:t>Yes, if you navigate to App Settings--&gt;Product Catalog Settings--&gt;You will find “System Pricing Calculation” option is selected by default. That means system uses the inbuilt Microsoft plugins for pricing calculation.</a:t>
            </a:r>
          </a:p>
          <a:p>
            <a:pPr algn="l"/>
            <a:r>
              <a:rPr lang="en-IN" dirty="0"/>
              <a:t> </a:t>
            </a:r>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dirty="0"/>
          </a:p>
        </p:txBody>
      </p:sp>
    </p:spTree>
    <p:extLst>
      <p:ext uri="{BB962C8B-B14F-4D97-AF65-F5344CB8AC3E}">
        <p14:creationId xmlns:p14="http://schemas.microsoft.com/office/powerpoint/2010/main" val="376664495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fontScale="92500" lnSpcReduction="10000"/>
          </a:bodyPr>
          <a:lstStyle/>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b="1" u="sng" dirty="0"/>
          </a:p>
          <a:p>
            <a:pPr algn="l"/>
            <a:r>
              <a:rPr lang="en-IN" b="1" dirty="0"/>
              <a:t>NOTE:</a:t>
            </a:r>
            <a:r>
              <a:rPr lang="en-IN" dirty="0"/>
              <a:t> Disabling this option will require you to then provide custom programming to calculate all the system calculated pricing fields for Opportunities, Quotes Orders and Invoices.</a:t>
            </a:r>
          </a:p>
          <a:p>
            <a:pPr algn="l"/>
            <a:endParaRPr lang="en-IN" dirty="0"/>
          </a:p>
        </p:txBody>
      </p:sp>
      <p:pic>
        <p:nvPicPr>
          <p:cNvPr id="8" name="Picture 7">
            <a:extLst>
              <a:ext uri="{FF2B5EF4-FFF2-40B4-BE49-F238E27FC236}">
                <a16:creationId xmlns:a16="http://schemas.microsoft.com/office/drawing/2014/main" id="{9A27CC99-836A-482F-890E-84ED3FA27A1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8808" y="1212123"/>
            <a:ext cx="5789874" cy="3722948"/>
          </a:xfrm>
          <a:prstGeom prst="rect">
            <a:avLst/>
          </a:prstGeom>
          <a:noFill/>
          <a:ln>
            <a:solidFill>
              <a:schemeClr val="tx1"/>
            </a:solidFill>
          </a:ln>
        </p:spPr>
      </p:pic>
    </p:spTree>
    <p:extLst>
      <p:ext uri="{BB962C8B-B14F-4D97-AF65-F5344CB8AC3E}">
        <p14:creationId xmlns:p14="http://schemas.microsoft.com/office/powerpoint/2010/main" val="386215527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fontScale="25000" lnSpcReduction="20000"/>
          </a:bodyPr>
          <a:lstStyle/>
          <a:p>
            <a:pPr algn="l"/>
            <a:r>
              <a:rPr lang="en-US" sz="9600" b="1" dirty="0"/>
              <a:t>27.In the Product Catalog, users have existing product named an iPhone and Bundle named IOS Devices. Now, while adding a new product which one user should select as the parent of a new product?</a:t>
            </a:r>
          </a:p>
          <a:p>
            <a:pPr algn="l"/>
            <a:r>
              <a:rPr lang="en-US" sz="9600" dirty="0"/>
              <a:t>Neither product not a bundle. Because If the User selects any of the product or bundle as a parent while creating a new product it should give an error message as we can only select a product family as a parent.</a:t>
            </a:r>
            <a:endParaRPr lang="en-IN" sz="9600" dirty="0"/>
          </a:p>
          <a:p>
            <a:pPr algn="l"/>
            <a:r>
              <a:rPr lang="en-US" sz="9600" b="1" dirty="0"/>
              <a:t>28.Can multiple Units will be added to a price list?</a:t>
            </a:r>
            <a:endParaRPr lang="en-IN" sz="9600" dirty="0"/>
          </a:p>
          <a:p>
            <a:pPr algn="l"/>
            <a:r>
              <a:rPr lang="en-US" sz="9600" dirty="0"/>
              <a:t>No.</a:t>
            </a:r>
            <a:endParaRPr lang="en-IN" sz="9600" dirty="0"/>
          </a:p>
          <a:p>
            <a:pPr algn="l"/>
            <a:r>
              <a:rPr lang="en-US" sz="9600" b="1" dirty="0"/>
              <a:t>29.What would be an ideal scenario to keep in mind for selecting units while adding the product to a bundle?</a:t>
            </a:r>
            <a:endParaRPr lang="en-IN" sz="9600" dirty="0"/>
          </a:p>
          <a:p>
            <a:r>
              <a:rPr lang="en-US" sz="9600" dirty="0"/>
              <a:t> </a:t>
            </a:r>
            <a:endParaRPr lang="en-IN" sz="9600" dirty="0"/>
          </a:p>
          <a:p>
            <a:pPr algn="l"/>
            <a:r>
              <a:rPr lang="en-US" sz="9600" dirty="0"/>
              <a:t>The unit we are selecting must be the same default unit that we have selected while creating a product. </a:t>
            </a:r>
            <a:endParaRPr lang="en-IN" sz="9600" dirty="0"/>
          </a:p>
          <a:p>
            <a:pPr algn="l"/>
            <a:r>
              <a:rPr lang="en-US" sz="9600" dirty="0"/>
              <a:t>Otherwise, it will give an error message as “The Product can’t be added to bundle. You have to use a Product unit that belongs to the Unit Group of Product”</a:t>
            </a:r>
            <a:endParaRPr lang="en-IN" sz="9600" dirty="0"/>
          </a:p>
          <a:p>
            <a:pPr algn="l"/>
            <a:endParaRPr lang="en-IN" dirty="0"/>
          </a:p>
          <a:p>
            <a:pPr algn="l"/>
            <a:endParaRPr lang="en-IN" dirty="0"/>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b="1" u="sng" dirty="0"/>
          </a:p>
          <a:p>
            <a:pPr algn="l"/>
            <a:endParaRPr lang="en-IN" dirty="0"/>
          </a:p>
        </p:txBody>
      </p:sp>
    </p:spTree>
    <p:extLst>
      <p:ext uri="{BB962C8B-B14F-4D97-AF65-F5344CB8AC3E}">
        <p14:creationId xmlns:p14="http://schemas.microsoft.com/office/powerpoint/2010/main" val="301714668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fontScale="25000" lnSpcReduction="20000"/>
          </a:bodyPr>
          <a:lstStyle/>
          <a:p>
            <a:pPr algn="l"/>
            <a:r>
              <a:rPr lang="en-US" sz="9600" b="1" dirty="0"/>
              <a:t>30.Can user create a product in the system with an active state directly?</a:t>
            </a:r>
            <a:endParaRPr lang="en-IN" sz="9600" dirty="0"/>
          </a:p>
          <a:p>
            <a:pPr algn="l"/>
            <a:r>
              <a:rPr lang="en-US" sz="9600" dirty="0"/>
              <a:t>To create an active product user need to check if “Create a product in an active state” is enabled in the Product catalog setting.</a:t>
            </a:r>
          </a:p>
          <a:p>
            <a:pPr algn="l"/>
            <a:r>
              <a:rPr lang="en-IN" sz="9600" dirty="0"/>
              <a:t>31.</a:t>
            </a:r>
            <a:r>
              <a:rPr lang="en-US" sz="9600" b="1" dirty="0"/>
              <a:t>Why user is restricted to add more than three products in the bundle. </a:t>
            </a:r>
            <a:endParaRPr lang="en-IN" sz="9600" dirty="0"/>
          </a:p>
          <a:p>
            <a:pPr algn="l"/>
            <a:r>
              <a:rPr lang="en-US" sz="9600" dirty="0"/>
              <a:t>“The maximum number of products in a bundle” is set to 3 from product catalog settings.</a:t>
            </a:r>
            <a:endParaRPr lang="en-IN" sz="9600" dirty="0"/>
          </a:p>
          <a:p>
            <a:pPr lvl="0" algn="l"/>
            <a:r>
              <a:rPr lang="en-US" sz="9600" b="1" dirty="0"/>
              <a:t>32.What are the different types available while defining the Discount List?</a:t>
            </a:r>
            <a:endParaRPr lang="en-IN" sz="9600" dirty="0"/>
          </a:p>
          <a:p>
            <a:pPr algn="l"/>
            <a:r>
              <a:rPr lang="en-US" sz="9600" dirty="0"/>
              <a:t>  Percentage and Amount</a:t>
            </a:r>
            <a:endParaRPr lang="en-IN" sz="9600" dirty="0"/>
          </a:p>
          <a:p>
            <a:r>
              <a:rPr lang="en-US" sz="9600" dirty="0"/>
              <a:t> </a:t>
            </a:r>
            <a:endParaRPr lang="en-IN" sz="9600" dirty="0"/>
          </a:p>
          <a:p>
            <a:pPr algn="l"/>
            <a:r>
              <a:rPr lang="en-IN" sz="9600" dirty="0"/>
              <a:t>33.</a:t>
            </a:r>
            <a:r>
              <a:rPr lang="en-IN" sz="9600" b="1" dirty="0"/>
              <a:t> What user should do to change the properties of the existing record?</a:t>
            </a:r>
            <a:endParaRPr lang="en-IN" sz="9600" dirty="0"/>
          </a:p>
          <a:p>
            <a:pPr algn="l"/>
            <a:r>
              <a:rPr lang="en-US" sz="9600" dirty="0"/>
              <a:t>If the user wants to change the properties of the existing record user should use the revise button on the ribbon bar, it will change the status of the active record to under Revision and let the user change the properties of that record.</a:t>
            </a:r>
            <a:endParaRPr lang="en-IN" sz="9600" dirty="0"/>
          </a:p>
          <a:p>
            <a:pPr algn="l"/>
            <a:endParaRPr lang="en-IN" dirty="0"/>
          </a:p>
          <a:p>
            <a:pPr algn="l"/>
            <a:endParaRPr lang="en-IN" dirty="0"/>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b="1" u="sng" dirty="0"/>
          </a:p>
          <a:p>
            <a:pPr algn="l"/>
            <a:endParaRPr lang="en-IN" dirty="0"/>
          </a:p>
        </p:txBody>
      </p:sp>
    </p:spTree>
    <p:extLst>
      <p:ext uri="{BB962C8B-B14F-4D97-AF65-F5344CB8AC3E}">
        <p14:creationId xmlns:p14="http://schemas.microsoft.com/office/powerpoint/2010/main" val="89315872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88" y="1102659"/>
            <a:ext cx="10676663" cy="5048718"/>
          </a:xfrm>
        </p:spPr>
        <p:txBody>
          <a:bodyPr>
            <a:normAutofit fontScale="25000" lnSpcReduction="20000"/>
          </a:bodyPr>
          <a:lstStyle/>
          <a:p>
            <a:pPr algn="l">
              <a:lnSpc>
                <a:spcPct val="120000"/>
              </a:lnSpc>
            </a:pPr>
            <a:r>
              <a:rPr lang="en-IN" sz="9600" dirty="0"/>
              <a:t>34.</a:t>
            </a:r>
            <a:r>
              <a:rPr lang="en-US" sz="9600" b="1" dirty="0"/>
              <a:t> When will be the Publish button is visible on the ribbon bar?</a:t>
            </a:r>
            <a:endParaRPr lang="en-IN" sz="9600" dirty="0"/>
          </a:p>
          <a:p>
            <a:pPr algn="l">
              <a:lnSpc>
                <a:spcPct val="120000"/>
              </a:lnSpc>
            </a:pPr>
            <a:r>
              <a:rPr lang="en-US" sz="9600" dirty="0"/>
              <a:t>When the record is in the Draft &amp; under Revision, the Publish Button will be displayed on the ribbon bar.</a:t>
            </a:r>
            <a:endParaRPr lang="en-IN" sz="9600" dirty="0"/>
          </a:p>
          <a:p>
            <a:pPr lvl="0" algn="l">
              <a:lnSpc>
                <a:spcPct val="120000"/>
              </a:lnSpc>
            </a:pPr>
            <a:r>
              <a:rPr lang="en-IN" sz="9600" dirty="0"/>
              <a:t>35.</a:t>
            </a:r>
            <a:r>
              <a:rPr lang="en-US" sz="9600" b="1" dirty="0"/>
              <a:t> Is it possible to publish all the products and Bundles from that product family all at once? If yes, How?   </a:t>
            </a:r>
          </a:p>
          <a:p>
            <a:pPr algn="l">
              <a:lnSpc>
                <a:spcPct val="120000"/>
              </a:lnSpc>
            </a:pPr>
            <a:r>
              <a:rPr lang="en-US" sz="9600" dirty="0"/>
              <a:t>Yes, users can publish all the products and Bundles from that product family all at once using Publish Hierarchy.</a:t>
            </a:r>
            <a:endParaRPr lang="en-IN" sz="9600" dirty="0"/>
          </a:p>
          <a:p>
            <a:pPr algn="l">
              <a:lnSpc>
                <a:spcPct val="120000"/>
              </a:lnSpc>
            </a:pPr>
            <a:r>
              <a:rPr lang="en-IN" sz="9600" dirty="0"/>
              <a:t>36.</a:t>
            </a:r>
            <a:r>
              <a:rPr lang="en-US" sz="9600" b="1" dirty="0"/>
              <a:t> How user can tell if Products have a hierarchy or not. </a:t>
            </a:r>
            <a:endParaRPr lang="en-IN" sz="9600" dirty="0"/>
          </a:p>
          <a:p>
            <a:pPr algn="l">
              <a:lnSpc>
                <a:spcPct val="120000"/>
              </a:lnSpc>
            </a:pPr>
            <a:r>
              <a:rPr lang="en-US" sz="9600" dirty="0"/>
              <a:t>Hierarchy symbol is present in front of the products. </a:t>
            </a:r>
            <a:endParaRPr lang="en-IN" sz="9600" dirty="0"/>
          </a:p>
          <a:p>
            <a:pPr lvl="0" algn="l"/>
            <a:endParaRPr lang="en-IN" dirty="0"/>
          </a:p>
          <a:p>
            <a:r>
              <a:rPr lang="en-US" dirty="0"/>
              <a:t> </a:t>
            </a:r>
            <a:endParaRPr lang="en-IN" dirty="0"/>
          </a:p>
          <a:p>
            <a:pPr algn="l"/>
            <a:endParaRPr lang="en-IN" dirty="0"/>
          </a:p>
          <a:p>
            <a:pPr algn="l"/>
            <a:endParaRPr lang="en-IN" dirty="0"/>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b="1" u="sng" dirty="0"/>
          </a:p>
          <a:p>
            <a:pPr algn="l"/>
            <a:endParaRPr lang="en-IN" dirty="0"/>
          </a:p>
        </p:txBody>
      </p:sp>
    </p:spTree>
    <p:extLst>
      <p:ext uri="{BB962C8B-B14F-4D97-AF65-F5344CB8AC3E}">
        <p14:creationId xmlns:p14="http://schemas.microsoft.com/office/powerpoint/2010/main" val="86303106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3" cy="5048718"/>
          </a:xfrm>
        </p:spPr>
        <p:txBody>
          <a:bodyPr>
            <a:normAutofit fontScale="25000" lnSpcReduction="20000"/>
          </a:bodyPr>
          <a:lstStyle/>
          <a:p>
            <a:pPr algn="l"/>
            <a:r>
              <a:rPr lang="en-US" sz="9600" b="1" dirty="0"/>
              <a:t>37.Can the user able to see the hierarchy for the record without opening the actual record?</a:t>
            </a:r>
            <a:endParaRPr lang="en-IN" sz="9600" dirty="0"/>
          </a:p>
          <a:p>
            <a:pPr algn="l"/>
            <a:r>
              <a:rPr lang="en-US" sz="9600" dirty="0"/>
              <a:t>To see the hierarchy user must select a product record from the list. Once the product is selected View Hierarchy button is visible on the ribbon bar. With a click of that button, the user can see the hierarchy present for that product.</a:t>
            </a:r>
            <a:endParaRPr lang="en-IN" sz="9600" dirty="0"/>
          </a:p>
          <a:p>
            <a:pPr algn="l"/>
            <a:r>
              <a:rPr lang="en-US" sz="9600" b="1" dirty="0"/>
              <a:t>38.If Price list is mandatory, can user add products with different price lists to the same quote?</a:t>
            </a:r>
            <a:endParaRPr lang="en-IN" sz="9600" dirty="0"/>
          </a:p>
          <a:p>
            <a:pPr algn="l"/>
            <a:r>
              <a:rPr lang="en-US" sz="9600" dirty="0"/>
              <a:t>No</a:t>
            </a:r>
          </a:p>
          <a:p>
            <a:pPr algn="l"/>
            <a:r>
              <a:rPr lang="en-IN" sz="9600" dirty="0"/>
              <a:t>39.</a:t>
            </a:r>
            <a:r>
              <a:rPr lang="en-US" sz="9600" b="1" dirty="0"/>
              <a:t> What product/company owner would do in case of the product is no longer available for sale? </a:t>
            </a:r>
            <a:endParaRPr lang="en-IN" sz="9600" dirty="0"/>
          </a:p>
          <a:p>
            <a:pPr algn="l"/>
            <a:r>
              <a:rPr lang="en-US" sz="9600" dirty="0"/>
              <a:t>The product owner will retire that product record.</a:t>
            </a:r>
          </a:p>
          <a:p>
            <a:pPr algn="l"/>
            <a:r>
              <a:rPr lang="en-US" sz="9600" b="1" dirty="0"/>
              <a:t>40.What are the different data types of properties?</a:t>
            </a:r>
          </a:p>
          <a:p>
            <a:pPr algn="l"/>
            <a:r>
              <a:rPr lang="en-IN" sz="9600" dirty="0"/>
              <a:t>Options set, Decimal, Floating Point Number, Single Line of Text and Whole Number</a:t>
            </a:r>
          </a:p>
          <a:p>
            <a:pPr algn="l"/>
            <a:endParaRPr lang="en-IN" dirty="0"/>
          </a:p>
          <a:p>
            <a:pPr algn="l"/>
            <a:endParaRPr lang="en-IN" dirty="0"/>
          </a:p>
          <a:p>
            <a:pPr algn="l"/>
            <a:endParaRPr lang="en-IN" dirty="0"/>
          </a:p>
          <a:p>
            <a:r>
              <a:rPr lang="en-US" dirty="0"/>
              <a:t> </a:t>
            </a:r>
            <a:endParaRPr lang="en-IN" dirty="0"/>
          </a:p>
          <a:p>
            <a:pPr algn="l"/>
            <a:endParaRPr lang="en-IN" dirty="0"/>
          </a:p>
          <a:p>
            <a:pPr lvl="0" algn="l"/>
            <a:endParaRPr lang="en-IN" dirty="0"/>
          </a:p>
          <a:p>
            <a:r>
              <a:rPr lang="en-US" dirty="0"/>
              <a:t> </a:t>
            </a:r>
            <a:endParaRPr lang="en-IN" dirty="0"/>
          </a:p>
          <a:p>
            <a:pPr algn="l"/>
            <a:endParaRPr lang="en-IN" dirty="0"/>
          </a:p>
          <a:p>
            <a:pPr algn="l"/>
            <a:endParaRPr lang="en-IN" dirty="0"/>
          </a:p>
          <a:p>
            <a:pPr algn="l"/>
            <a:endParaRPr lang="en-IN" dirty="0"/>
          </a:p>
          <a:p>
            <a:r>
              <a:rPr lang="en-IN" dirty="0"/>
              <a:t> </a:t>
            </a:r>
          </a:p>
          <a:p>
            <a:pPr algn="l"/>
            <a:endParaRPr lang="en-IN" dirty="0"/>
          </a:p>
          <a:p>
            <a:pPr algn="l"/>
            <a:endParaRPr lang="en-IN" dirty="0"/>
          </a:p>
          <a:p>
            <a:pPr algn="l"/>
            <a:endParaRPr lang="en-IN" dirty="0"/>
          </a:p>
          <a:p>
            <a:pPr algn="l"/>
            <a:endParaRPr lang="en-IN" dirty="0"/>
          </a:p>
          <a:p>
            <a:pPr algn="l"/>
            <a:endParaRPr lang="en-IN" dirty="0"/>
          </a:p>
          <a:p>
            <a:pPr algn="l"/>
            <a:endParaRPr lang="en-IN" dirty="0"/>
          </a:p>
          <a:p>
            <a:pPr algn="l"/>
            <a:endParaRPr lang="en-IN" b="1" dirty="0"/>
          </a:p>
          <a:p>
            <a:pPr algn="l"/>
            <a:endParaRPr lang="en-IN" b="1" u="sng" dirty="0"/>
          </a:p>
          <a:p>
            <a:pPr algn="l"/>
            <a:endParaRPr lang="en-IN" dirty="0"/>
          </a:p>
        </p:txBody>
      </p:sp>
    </p:spTree>
    <p:extLst>
      <p:ext uri="{BB962C8B-B14F-4D97-AF65-F5344CB8AC3E}">
        <p14:creationId xmlns:p14="http://schemas.microsoft.com/office/powerpoint/2010/main" val="419802697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3" cy="5048718"/>
          </a:xfrm>
        </p:spPr>
        <p:txBody>
          <a:bodyPr>
            <a:normAutofit fontScale="25000" lnSpcReduction="20000"/>
          </a:bodyPr>
          <a:lstStyle/>
          <a:p>
            <a:pPr algn="l"/>
            <a:r>
              <a:rPr lang="en-IN" sz="9600" b="1" dirty="0"/>
              <a:t>41.What are the different sales relationship types?</a:t>
            </a:r>
          </a:p>
          <a:p>
            <a:pPr algn="l"/>
            <a:r>
              <a:rPr lang="en-IN" sz="9600" dirty="0"/>
              <a:t>Up-Sell, Cross-Sell, Accessories, Substitute</a:t>
            </a:r>
          </a:p>
          <a:p>
            <a:pPr algn="l"/>
            <a:r>
              <a:rPr lang="en-IN" sz="9600" b="1" dirty="0"/>
              <a:t>42.When the product that the user selects in Related Product where it will be shown as a recommendation for the existing product?</a:t>
            </a:r>
            <a:endParaRPr lang="en-IN" sz="9600" dirty="0"/>
          </a:p>
          <a:p>
            <a:pPr algn="l"/>
            <a:r>
              <a:rPr lang="en-IN" sz="9600" dirty="0"/>
              <a:t>When the Direction of the product relationship is selected as Uni-Direction.</a:t>
            </a:r>
          </a:p>
          <a:p>
            <a:pPr lvl="0" algn="l"/>
            <a:r>
              <a:rPr lang="en-IN" sz="9600" b="1" dirty="0"/>
              <a:t>43.Can the product come up with more than one price list item?</a:t>
            </a:r>
            <a:endParaRPr lang="en-IN" sz="9600" dirty="0"/>
          </a:p>
          <a:p>
            <a:pPr algn="l"/>
            <a:r>
              <a:rPr lang="en-IN" sz="9600" dirty="0"/>
              <a:t>Yes</a:t>
            </a:r>
          </a:p>
          <a:p>
            <a:pPr lvl="0" algn="l"/>
            <a:r>
              <a:rPr lang="en-IN" sz="9600" b="1" dirty="0"/>
              <a:t>44.Is it compulsory to assign a discount list to a product?</a:t>
            </a:r>
            <a:endParaRPr lang="en-IN" sz="9600" dirty="0"/>
          </a:p>
          <a:p>
            <a:pPr algn="l"/>
            <a:r>
              <a:rPr lang="en-IN" sz="9600" dirty="0"/>
              <a:t>No</a:t>
            </a:r>
          </a:p>
          <a:p>
            <a:pPr lvl="0" algn="l"/>
            <a:r>
              <a:rPr lang="en-IN" sz="9600" b="1" dirty="0"/>
              <a:t>45.Can product have multiple price lists with different currency?</a:t>
            </a:r>
            <a:endParaRPr lang="en-IN" sz="9600" dirty="0"/>
          </a:p>
          <a:p>
            <a:pPr algn="l"/>
            <a:r>
              <a:rPr lang="en-IN" sz="12800" b="1" dirty="0"/>
              <a:t> </a:t>
            </a:r>
            <a:r>
              <a:rPr lang="en-IN" sz="9600" dirty="0"/>
              <a:t>Yes, Product can have multiple price list with different currency (that is product can have multiple currencies set), but as you know Quote/Order/Invoice doesn't support multi-currency at a time, 1 Quote can only use 1 Currency selected as lookup.</a:t>
            </a:r>
          </a:p>
          <a:p>
            <a:pPr algn="l"/>
            <a:endParaRPr lang="en-IN" sz="38400" dirty="0"/>
          </a:p>
          <a:p>
            <a:pPr algn="l"/>
            <a:endParaRPr lang="en-IN" sz="8000" dirty="0"/>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spTree>
    <p:extLst>
      <p:ext uri="{BB962C8B-B14F-4D97-AF65-F5344CB8AC3E}">
        <p14:creationId xmlns:p14="http://schemas.microsoft.com/office/powerpoint/2010/main" val="163212953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3" cy="5048718"/>
          </a:xfrm>
        </p:spPr>
        <p:txBody>
          <a:bodyPr>
            <a:normAutofit fontScale="25000" lnSpcReduction="20000"/>
          </a:bodyPr>
          <a:lstStyle/>
          <a:p>
            <a:pPr lvl="0" algn="l"/>
            <a:r>
              <a:rPr lang="en-IN" sz="9600" b="1" dirty="0"/>
              <a:t>46.Is it compulsory to set a currency on a price list?</a:t>
            </a:r>
          </a:p>
          <a:p>
            <a:pPr lvl="0" algn="l"/>
            <a:r>
              <a:rPr lang="en-IN" sz="9600" dirty="0"/>
              <a:t>Yes.</a:t>
            </a:r>
          </a:p>
          <a:p>
            <a:pPr lvl="0" algn="l"/>
            <a:r>
              <a:rPr lang="en-IN" sz="9600" b="1" dirty="0"/>
              <a:t>47.</a:t>
            </a:r>
            <a:r>
              <a:rPr lang="en-IN" sz="7200" b="1" dirty="0"/>
              <a:t> </a:t>
            </a:r>
            <a:r>
              <a:rPr lang="en-IN" sz="9600" b="1" dirty="0"/>
              <a:t>How many currencies can be set on a price list?</a:t>
            </a:r>
            <a:endParaRPr lang="en-IN" sz="9600" dirty="0"/>
          </a:p>
          <a:p>
            <a:pPr algn="l"/>
            <a:r>
              <a:rPr lang="en-IN" sz="9600" dirty="0"/>
              <a:t>Multiple currencies are available to select, but we select only one currency at a time.</a:t>
            </a:r>
          </a:p>
          <a:p>
            <a:pPr algn="l"/>
            <a:r>
              <a:rPr lang="en-IN" sz="9600" dirty="0"/>
              <a:t> </a:t>
            </a:r>
          </a:p>
          <a:p>
            <a:pPr lvl="0" algn="l"/>
            <a:r>
              <a:rPr lang="en-IN" sz="9600" b="1" dirty="0"/>
              <a:t>48.How many types of prices can be defined on a product?</a:t>
            </a:r>
            <a:endParaRPr lang="en-IN" sz="9600" dirty="0"/>
          </a:p>
          <a:p>
            <a:pPr algn="l"/>
            <a:r>
              <a:rPr lang="en-IN" sz="9600" dirty="0"/>
              <a:t>One or more prices we can define on a product.</a:t>
            </a:r>
          </a:p>
          <a:p>
            <a:pPr algn="l"/>
            <a:r>
              <a:rPr lang="en-US" sz="9600" dirty="0"/>
              <a:t> </a:t>
            </a:r>
            <a:endParaRPr lang="en-IN" sz="9600" dirty="0"/>
          </a:p>
          <a:p>
            <a:pPr lvl="0" algn="l"/>
            <a:r>
              <a:rPr lang="en-IN" sz="9600" b="1" dirty="0"/>
              <a:t>49.What happens to the related records when we delete a currency?</a:t>
            </a:r>
            <a:endParaRPr lang="en-IN" sz="9600" dirty="0"/>
          </a:p>
          <a:p>
            <a:pPr algn="l"/>
            <a:r>
              <a:rPr lang="en-IN" sz="9600" dirty="0"/>
              <a:t>When we delete a currency it shows an error message as currency is associated with the related record and can't be deleted.</a:t>
            </a:r>
          </a:p>
          <a:p>
            <a:pPr algn="l"/>
            <a:r>
              <a:rPr lang="en-IN" sz="9600" dirty="0"/>
              <a:t> </a:t>
            </a:r>
          </a:p>
          <a:p>
            <a:r>
              <a:rPr lang="en-IN" b="1" dirty="0"/>
              <a:t> </a:t>
            </a:r>
            <a:endParaRPr lang="en-IN" dirty="0"/>
          </a:p>
          <a:p>
            <a:pPr lvl="0" algn="l"/>
            <a:endParaRPr lang="en-IN" sz="3800" dirty="0"/>
          </a:p>
          <a:p>
            <a:pPr lvl="0" algn="l"/>
            <a:endParaRPr lang="en-IN" sz="3800" dirty="0"/>
          </a:p>
          <a:p>
            <a:pPr algn="l"/>
            <a:r>
              <a:rPr lang="en-IN" sz="3800" b="1" dirty="0"/>
              <a:t> </a:t>
            </a:r>
            <a:endParaRPr lang="en-IN" sz="3800" dirty="0"/>
          </a:p>
          <a:p>
            <a:endParaRPr lang="en-IN" dirty="0"/>
          </a:p>
          <a:p>
            <a:pPr algn="l"/>
            <a:endParaRPr lang="en-IN" sz="2600" dirty="0"/>
          </a:p>
          <a:p>
            <a:pPr algn="l"/>
            <a:endParaRPr lang="en-IN" sz="8000" dirty="0"/>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spTree>
    <p:extLst>
      <p:ext uri="{BB962C8B-B14F-4D97-AF65-F5344CB8AC3E}">
        <p14:creationId xmlns:p14="http://schemas.microsoft.com/office/powerpoint/2010/main" val="143303266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0" y="1102659"/>
            <a:ext cx="10676663" cy="5048718"/>
          </a:xfrm>
        </p:spPr>
        <p:txBody>
          <a:bodyPr>
            <a:normAutofit fontScale="25000" lnSpcReduction="20000"/>
          </a:bodyPr>
          <a:lstStyle/>
          <a:p>
            <a:pPr lvl="0" algn="l"/>
            <a:r>
              <a:rPr lang="en-IN" sz="9600" b="1" dirty="0"/>
              <a:t>50.Where I will find the “List Price”, “Standard Cost” and “Current Cost” fields on Product?</a:t>
            </a:r>
            <a:endParaRPr lang="en-IN" sz="9600" dirty="0"/>
          </a:p>
          <a:p>
            <a:pPr algn="l"/>
            <a:r>
              <a:rPr lang="en-IN" sz="9600" b="1" dirty="0"/>
              <a:t> </a:t>
            </a:r>
            <a:endParaRPr lang="en-IN" sz="9600" dirty="0"/>
          </a:p>
          <a:p>
            <a:pPr algn="l"/>
            <a:r>
              <a:rPr lang="en-IN" sz="9600" dirty="0"/>
              <a:t>By default, it is added to the “Project Information” form of the Product entity. You can add the same on the Product main form from </a:t>
            </a:r>
            <a:r>
              <a:rPr lang="en-IN" sz="9600" u="sng" dirty="0">
                <a:hlinkClick r:id="rId3" action="ppaction://hlinkfile"/>
              </a:rPr>
              <a:t>make.powerapps.com</a:t>
            </a:r>
            <a:endParaRPr lang="en-IN" sz="9600" dirty="0"/>
          </a:p>
          <a:p>
            <a:pPr algn="l"/>
            <a:r>
              <a:rPr lang="en-IN" sz="9600" dirty="0"/>
              <a:t> </a:t>
            </a:r>
          </a:p>
          <a:p>
            <a:pPr lvl="0" algn="l"/>
            <a:r>
              <a:rPr lang="en-IN" sz="9600" b="1" dirty="0"/>
              <a:t>51.Can we add the Product into the bundle after revising it?</a:t>
            </a:r>
            <a:endParaRPr lang="en-IN" sz="9600" dirty="0"/>
          </a:p>
          <a:p>
            <a:pPr algn="l"/>
            <a:r>
              <a:rPr lang="en-IN" sz="9600" b="1" dirty="0"/>
              <a:t> </a:t>
            </a:r>
            <a:endParaRPr lang="en-IN" sz="9600" dirty="0"/>
          </a:p>
          <a:p>
            <a:pPr algn="l"/>
            <a:r>
              <a:rPr lang="en-IN" sz="9600" dirty="0"/>
              <a:t>No, you can only revise the Product Properties.</a:t>
            </a:r>
          </a:p>
          <a:p>
            <a:pPr algn="l"/>
            <a:r>
              <a:rPr lang="en-IN" sz="9600" b="1" dirty="0"/>
              <a:t> </a:t>
            </a:r>
            <a:endParaRPr lang="en-IN" sz="9600" dirty="0"/>
          </a:p>
          <a:p>
            <a:pPr lvl="0" algn="l"/>
            <a:r>
              <a:rPr lang="en-IN" sz="9600" b="1" dirty="0"/>
              <a:t>52.Can we have two properties with the same data type in Product?</a:t>
            </a:r>
            <a:endParaRPr lang="en-IN" sz="9600" dirty="0"/>
          </a:p>
          <a:p>
            <a:pPr algn="l"/>
            <a:r>
              <a:rPr lang="en-IN" sz="9600" b="1" dirty="0"/>
              <a:t> </a:t>
            </a:r>
            <a:endParaRPr lang="en-IN" sz="9600" dirty="0"/>
          </a:p>
          <a:p>
            <a:pPr algn="l"/>
            <a:r>
              <a:rPr lang="en-IN" sz="9600" dirty="0"/>
              <a:t>Yes.</a:t>
            </a:r>
          </a:p>
          <a:p>
            <a:pPr lvl="0" algn="l"/>
            <a:endParaRPr lang="en-IN" sz="3800" dirty="0"/>
          </a:p>
          <a:p>
            <a:pPr lvl="0" algn="l"/>
            <a:endParaRPr lang="en-IN" sz="3800" dirty="0"/>
          </a:p>
          <a:p>
            <a:pPr algn="l"/>
            <a:r>
              <a:rPr lang="en-IN" sz="3800" b="1" dirty="0"/>
              <a:t> </a:t>
            </a:r>
            <a:endParaRPr lang="en-IN" sz="3800" dirty="0"/>
          </a:p>
          <a:p>
            <a:endParaRPr lang="en-IN" dirty="0"/>
          </a:p>
          <a:p>
            <a:pPr algn="l"/>
            <a:endParaRPr lang="en-IN" sz="2600" dirty="0"/>
          </a:p>
          <a:p>
            <a:pPr algn="l"/>
            <a:endParaRPr lang="en-IN" sz="8000" dirty="0"/>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spTree>
    <p:extLst>
      <p:ext uri="{BB962C8B-B14F-4D97-AF65-F5344CB8AC3E}">
        <p14:creationId xmlns:p14="http://schemas.microsoft.com/office/powerpoint/2010/main" val="142659903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10676662" cy="5235926"/>
          </a:xfrm>
        </p:spPr>
        <p:txBody>
          <a:bodyPr>
            <a:normAutofit fontScale="25000" lnSpcReduction="20000"/>
          </a:bodyPr>
          <a:lstStyle/>
          <a:p>
            <a:pPr lvl="0" algn="l"/>
            <a:r>
              <a:rPr lang="en-IN" sz="9600" b="1" dirty="0"/>
              <a:t>53.What happens when you retire Product Family?</a:t>
            </a:r>
            <a:endParaRPr lang="en-IN" sz="9600" dirty="0"/>
          </a:p>
          <a:p>
            <a:pPr algn="l"/>
            <a:r>
              <a:rPr lang="en-IN" sz="9600" b="1" dirty="0"/>
              <a:t> </a:t>
            </a:r>
            <a:endParaRPr lang="en-IN" sz="9600" dirty="0"/>
          </a:p>
          <a:p>
            <a:pPr algn="l"/>
            <a:r>
              <a:rPr lang="en-IN" sz="9600" dirty="0"/>
              <a:t>All Products/Product Bundles associated with Family get retired if not having any dependencies.</a:t>
            </a:r>
          </a:p>
          <a:p>
            <a:pPr algn="l"/>
            <a:r>
              <a:rPr lang="en-IN" sz="9600" b="1" dirty="0"/>
              <a:t> </a:t>
            </a:r>
            <a:endParaRPr lang="en-IN" sz="9600" dirty="0"/>
          </a:p>
          <a:p>
            <a:pPr lvl="0" algn="l"/>
            <a:r>
              <a:rPr lang="en-IN" sz="9600" b="1" dirty="0"/>
              <a:t>54.Can you retire the Product which is added on Opportunity/Quote/Order/Invoice?</a:t>
            </a:r>
            <a:endParaRPr lang="en-IN" sz="9600" dirty="0"/>
          </a:p>
          <a:p>
            <a:pPr algn="l"/>
            <a:r>
              <a:rPr lang="en-IN" sz="9600" b="1" dirty="0"/>
              <a:t> </a:t>
            </a:r>
            <a:endParaRPr lang="en-IN" sz="9600" dirty="0"/>
          </a:p>
          <a:p>
            <a:pPr algn="l"/>
            <a:r>
              <a:rPr lang="en-IN" sz="9600" dirty="0"/>
              <a:t>You can retire the Product even if added on Opportunity/Quote/Order/Invoice.</a:t>
            </a:r>
          </a:p>
          <a:p>
            <a:pPr algn="l"/>
            <a:r>
              <a:rPr lang="en-IN" sz="9600" b="1" dirty="0"/>
              <a:t> </a:t>
            </a:r>
            <a:endParaRPr lang="en-IN" sz="9600" dirty="0"/>
          </a:p>
          <a:p>
            <a:pPr lvl="0" algn="l"/>
            <a:r>
              <a:rPr lang="en-IN" sz="9600" b="1" dirty="0"/>
              <a:t>55.Can you add the Product Family record on the Opportunity/Quote/Order/Invoice?</a:t>
            </a:r>
            <a:endParaRPr lang="en-IN" sz="9600" dirty="0"/>
          </a:p>
          <a:p>
            <a:pPr algn="l"/>
            <a:endParaRPr lang="en-IN" sz="9600" b="1" dirty="0"/>
          </a:p>
          <a:p>
            <a:pPr algn="l"/>
            <a:r>
              <a:rPr lang="en-IN" sz="9600" b="1" dirty="0"/>
              <a:t> </a:t>
            </a:r>
            <a:r>
              <a:rPr lang="en-IN" sz="9600" dirty="0"/>
              <a:t>No, we can only add Products with Product Structure = Product/Bundle.</a:t>
            </a:r>
          </a:p>
          <a:p>
            <a:pPr lvl="0" algn="l"/>
            <a:endParaRPr lang="en-IN" sz="3800" dirty="0"/>
          </a:p>
          <a:p>
            <a:pPr lvl="0" algn="l"/>
            <a:endParaRPr lang="en-IN" sz="3800" dirty="0"/>
          </a:p>
          <a:p>
            <a:pPr algn="l"/>
            <a:r>
              <a:rPr lang="en-IN" sz="3800" b="1" dirty="0"/>
              <a:t> </a:t>
            </a:r>
            <a:endParaRPr lang="en-IN" sz="3800" dirty="0"/>
          </a:p>
          <a:p>
            <a:endParaRPr lang="en-IN" dirty="0"/>
          </a:p>
          <a:p>
            <a:pPr algn="l"/>
            <a:endParaRPr lang="en-IN" sz="2600" dirty="0"/>
          </a:p>
          <a:p>
            <a:pPr algn="l"/>
            <a:endParaRPr lang="en-IN" sz="8000" dirty="0"/>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spTree>
    <p:extLst>
      <p:ext uri="{BB962C8B-B14F-4D97-AF65-F5344CB8AC3E}">
        <p14:creationId xmlns:p14="http://schemas.microsoft.com/office/powerpoint/2010/main" val="163311751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968491" y="1102659"/>
            <a:ext cx="10676662" cy="5235926"/>
          </a:xfrm>
        </p:spPr>
        <p:txBody>
          <a:bodyPr>
            <a:normAutofit fontScale="25000" lnSpcReduction="20000"/>
          </a:bodyPr>
          <a:lstStyle/>
          <a:p>
            <a:pPr lvl="0" algn="l"/>
            <a:r>
              <a:rPr lang="en-IN" sz="9600" b="1" dirty="0"/>
              <a:t>56.What happens in terms of properties when you select Product Family record as Parent on Product?</a:t>
            </a:r>
            <a:endParaRPr lang="en-IN" sz="9600" dirty="0"/>
          </a:p>
          <a:p>
            <a:pPr algn="l"/>
            <a:r>
              <a:rPr lang="en-IN" sz="9600" b="1" dirty="0"/>
              <a:t> </a:t>
            </a:r>
            <a:r>
              <a:rPr lang="en-IN" sz="9600" dirty="0"/>
              <a:t>Properties added to the selected Product Family get automatically copied/ inherited on the Product.</a:t>
            </a:r>
          </a:p>
          <a:p>
            <a:pPr algn="l"/>
            <a:r>
              <a:rPr lang="en-IN" sz="9600" dirty="0"/>
              <a:t> </a:t>
            </a:r>
            <a:r>
              <a:rPr lang="en-IN" sz="9600" b="1" dirty="0"/>
              <a:t>57.Can you add/change the Parent on Product once the Product is published?</a:t>
            </a:r>
            <a:endParaRPr lang="en-IN" sz="9600" dirty="0"/>
          </a:p>
          <a:p>
            <a:pPr algn="l"/>
            <a:r>
              <a:rPr lang="en-IN" sz="9600" b="1" dirty="0"/>
              <a:t> </a:t>
            </a:r>
            <a:r>
              <a:rPr lang="en-IN" sz="9600" dirty="0"/>
              <a:t>No. the Parent field gets Read Only. And you can do the same by revising the Product using the “Revise” button.</a:t>
            </a:r>
          </a:p>
          <a:p>
            <a:pPr algn="l"/>
            <a:r>
              <a:rPr lang="en-IN" sz="9600" b="1" dirty="0"/>
              <a:t> 58.Can we retire the Product if it’s associated with bundle?</a:t>
            </a:r>
            <a:endParaRPr lang="en-IN" sz="9600" dirty="0"/>
          </a:p>
          <a:p>
            <a:pPr algn="l"/>
            <a:r>
              <a:rPr lang="en-IN" sz="9600" b="1" dirty="0"/>
              <a:t> </a:t>
            </a:r>
            <a:r>
              <a:rPr lang="en-IN" sz="9600" dirty="0"/>
              <a:t>It is restricted as below error message displayed:</a:t>
            </a:r>
          </a:p>
          <a:p>
            <a:pPr lvl="0" algn="l"/>
            <a:endParaRPr lang="en-IN" sz="3800" dirty="0"/>
          </a:p>
          <a:p>
            <a:pPr lvl="0" algn="l"/>
            <a:endParaRPr lang="en-IN" sz="3800" dirty="0"/>
          </a:p>
          <a:p>
            <a:pPr algn="l"/>
            <a:r>
              <a:rPr lang="en-IN" sz="3800" b="1" dirty="0"/>
              <a:t> </a:t>
            </a:r>
            <a:endParaRPr lang="en-IN" sz="3800" dirty="0"/>
          </a:p>
          <a:p>
            <a:endParaRPr lang="en-IN" dirty="0"/>
          </a:p>
          <a:p>
            <a:pPr algn="l"/>
            <a:endParaRPr lang="en-IN" sz="2600" dirty="0"/>
          </a:p>
          <a:p>
            <a:pPr algn="l"/>
            <a:endParaRPr lang="en-IN" sz="8000" dirty="0"/>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pic>
        <p:nvPicPr>
          <p:cNvPr id="8" name="Picture 7">
            <a:extLst>
              <a:ext uri="{FF2B5EF4-FFF2-40B4-BE49-F238E27FC236}">
                <a16:creationId xmlns:a16="http://schemas.microsoft.com/office/drawing/2014/main" id="{E61ED7FE-276B-42A1-9D48-A373479C13E2}"/>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8490" y="4646793"/>
            <a:ext cx="4168285" cy="1691792"/>
          </a:xfrm>
          <a:prstGeom prst="rect">
            <a:avLst/>
          </a:prstGeom>
          <a:noFill/>
          <a:ln>
            <a:solidFill>
              <a:schemeClr val="tx1"/>
            </a:solidFill>
          </a:ln>
        </p:spPr>
      </p:pic>
    </p:spTree>
    <p:extLst>
      <p:ext uri="{BB962C8B-B14F-4D97-AF65-F5344CB8AC3E}">
        <p14:creationId xmlns:p14="http://schemas.microsoft.com/office/powerpoint/2010/main" val="425996407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755929" y="1102659"/>
            <a:ext cx="10889223" cy="5235926"/>
          </a:xfrm>
        </p:spPr>
        <p:txBody>
          <a:bodyPr>
            <a:normAutofit fontScale="25000" lnSpcReduction="20000"/>
          </a:bodyPr>
          <a:lstStyle/>
          <a:p>
            <a:pPr algn="l"/>
            <a:r>
              <a:rPr lang="en-IN" sz="9600" b="1" dirty="0"/>
              <a:t>59.What happens when you try to reactive the retired product that has Product Properties associated?</a:t>
            </a:r>
            <a:endParaRPr lang="en-IN" sz="9600" dirty="0"/>
          </a:p>
          <a:p>
            <a:pPr algn="l"/>
            <a:r>
              <a:rPr lang="en-IN" sz="9600" dirty="0"/>
              <a:t>It is restricted as below error message displayed:</a:t>
            </a:r>
          </a:p>
          <a:p>
            <a:r>
              <a:rPr lang="en-IN" b="1" dirty="0"/>
              <a:t> </a:t>
            </a:r>
            <a:endParaRPr lang="en-IN" dirty="0"/>
          </a:p>
          <a:p>
            <a:pPr algn="l"/>
            <a:endParaRPr lang="en-IN" sz="8000" dirty="0"/>
          </a:p>
          <a:p>
            <a:pPr algn="l"/>
            <a:endParaRPr lang="en-IN" sz="8000" dirty="0"/>
          </a:p>
          <a:p>
            <a:pPr algn="l"/>
            <a:endParaRPr lang="en-IN" sz="8000" dirty="0"/>
          </a:p>
          <a:p>
            <a:pPr lvl="0" algn="l"/>
            <a:endParaRPr lang="en-IN" b="1" dirty="0"/>
          </a:p>
          <a:p>
            <a:pPr lvl="0" algn="l"/>
            <a:r>
              <a:rPr lang="en-IN" sz="9600" b="1" dirty="0"/>
              <a:t>60.If I have Currency on Product as US dollar, then can I select the Price list of different currency (e.g. Rupees) in Default Price list of same product?</a:t>
            </a:r>
            <a:endParaRPr lang="en-IN" sz="9600" dirty="0"/>
          </a:p>
          <a:p>
            <a:pPr algn="l"/>
            <a:r>
              <a:rPr lang="en-IN" sz="9600" b="1" dirty="0"/>
              <a:t> </a:t>
            </a:r>
            <a:r>
              <a:rPr lang="en-IN" sz="9600" dirty="0"/>
              <a:t>Yes</a:t>
            </a:r>
          </a:p>
          <a:p>
            <a:pPr algn="l"/>
            <a:r>
              <a:rPr lang="en-IN" sz="9600" b="1" dirty="0"/>
              <a:t>61.Where you can see the Product Relationship you created for the Product?</a:t>
            </a:r>
            <a:endParaRPr lang="en-IN" sz="9600" dirty="0"/>
          </a:p>
          <a:p>
            <a:pPr algn="l"/>
            <a:r>
              <a:rPr lang="en-IN" sz="9600" b="1" dirty="0"/>
              <a:t> </a:t>
            </a:r>
            <a:r>
              <a:rPr lang="en-IN" sz="9600" dirty="0"/>
              <a:t>You can see the Product Relationship record on the Opportunity Line/Quote Line/Order Line/Invoice Line sub-grid added on Opportunity/Quote/Order/Invoice.</a:t>
            </a:r>
          </a:p>
          <a:p>
            <a:pPr algn="l"/>
            <a:r>
              <a:rPr lang="en-IN" dirty="0"/>
              <a:t> </a:t>
            </a:r>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pic>
        <p:nvPicPr>
          <p:cNvPr id="10" name="Picture 9">
            <a:extLst>
              <a:ext uri="{FF2B5EF4-FFF2-40B4-BE49-F238E27FC236}">
                <a16:creationId xmlns:a16="http://schemas.microsoft.com/office/drawing/2014/main" id="{1FD62261-F09E-4EEF-A60C-AE53F4092D6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65342" y="2161711"/>
            <a:ext cx="4932045" cy="1267289"/>
          </a:xfrm>
          <a:prstGeom prst="rect">
            <a:avLst/>
          </a:prstGeom>
          <a:noFill/>
          <a:ln>
            <a:solidFill>
              <a:schemeClr val="tx1"/>
            </a:solidFill>
          </a:ln>
        </p:spPr>
      </p:pic>
    </p:spTree>
    <p:extLst>
      <p:ext uri="{BB962C8B-B14F-4D97-AF65-F5344CB8AC3E}">
        <p14:creationId xmlns:p14="http://schemas.microsoft.com/office/powerpoint/2010/main" val="287851856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755929" y="1102659"/>
            <a:ext cx="10889223" cy="5235926"/>
          </a:xfrm>
        </p:spPr>
        <p:txBody>
          <a:bodyPr>
            <a:normAutofit fontScale="25000" lnSpcReduction="20000"/>
          </a:bodyPr>
          <a:lstStyle/>
          <a:p>
            <a:pPr lvl="0" algn="l"/>
            <a:r>
              <a:rPr lang="en-IN" sz="9600" b="1" dirty="0"/>
              <a:t>62.What type of Product you can set as Parent on the Product/Bundle?</a:t>
            </a:r>
            <a:endParaRPr lang="en-IN" sz="9600" dirty="0"/>
          </a:p>
          <a:p>
            <a:pPr algn="l"/>
            <a:r>
              <a:rPr lang="en-IN" sz="9600" b="1" dirty="0"/>
              <a:t> </a:t>
            </a:r>
            <a:r>
              <a:rPr lang="en-IN" sz="9600" dirty="0"/>
              <a:t>We can set only Product having Product Structure = Product Family as a Parent independent of its status.</a:t>
            </a:r>
          </a:p>
          <a:p>
            <a:pPr algn="l"/>
            <a:r>
              <a:rPr lang="en-IN" sz="9600" b="1" dirty="0"/>
              <a:t> </a:t>
            </a:r>
            <a:r>
              <a:rPr lang="en-IN" sz="9600" dirty="0"/>
              <a:t>63.</a:t>
            </a:r>
            <a:r>
              <a:rPr lang="en-IN" sz="9600" b="1" dirty="0"/>
              <a:t>What will be the currency when a new Product gets created?</a:t>
            </a:r>
            <a:endParaRPr lang="en-IN" sz="9600" dirty="0"/>
          </a:p>
          <a:p>
            <a:pPr algn="l"/>
            <a:r>
              <a:rPr lang="en-IN" sz="9600" b="1" dirty="0"/>
              <a:t> </a:t>
            </a:r>
            <a:r>
              <a:rPr lang="en-IN" sz="9600" dirty="0"/>
              <a:t>Default currency will be set based on the selected CRM region/country you selected while creating environment.</a:t>
            </a:r>
          </a:p>
          <a:p>
            <a:pPr algn="l"/>
            <a:r>
              <a:rPr lang="en-IN" sz="9600" dirty="0"/>
              <a:t> 64.</a:t>
            </a:r>
            <a:r>
              <a:rPr lang="en-IN" sz="9600" b="1" dirty="0"/>
              <a:t>Can we add existing option set properties of Product to another product?</a:t>
            </a:r>
            <a:endParaRPr lang="en-IN" sz="9600" dirty="0"/>
          </a:p>
          <a:p>
            <a:pPr algn="l"/>
            <a:r>
              <a:rPr lang="en-IN" sz="9600" b="1" dirty="0"/>
              <a:t> For example: I created “Pink” default value as an Option set property for 1 product, can I use the same on other product?</a:t>
            </a:r>
            <a:endParaRPr lang="en-IN" sz="9600" dirty="0"/>
          </a:p>
          <a:p>
            <a:pPr algn="l"/>
            <a:endParaRPr lang="en-IN" sz="9600" dirty="0"/>
          </a:p>
          <a:p>
            <a:pPr algn="l"/>
            <a:r>
              <a:rPr lang="en-IN" dirty="0"/>
              <a:t> </a:t>
            </a:r>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pic>
        <p:nvPicPr>
          <p:cNvPr id="8" name="Picture 7">
            <a:extLst>
              <a:ext uri="{FF2B5EF4-FFF2-40B4-BE49-F238E27FC236}">
                <a16:creationId xmlns:a16="http://schemas.microsoft.com/office/drawing/2014/main" id="{B9FB4AAF-E5AB-4625-95D9-E7ED413D620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6091" y="4558514"/>
            <a:ext cx="4616521" cy="1836025"/>
          </a:xfrm>
          <a:prstGeom prst="rect">
            <a:avLst/>
          </a:prstGeom>
          <a:noFill/>
          <a:ln>
            <a:solidFill>
              <a:schemeClr val="tx1"/>
            </a:solidFill>
          </a:ln>
        </p:spPr>
      </p:pic>
    </p:spTree>
    <p:extLst>
      <p:ext uri="{BB962C8B-B14F-4D97-AF65-F5344CB8AC3E}">
        <p14:creationId xmlns:p14="http://schemas.microsoft.com/office/powerpoint/2010/main" val="337090305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755929" y="1102659"/>
            <a:ext cx="10889223" cy="5235926"/>
          </a:xfrm>
        </p:spPr>
        <p:txBody>
          <a:bodyPr>
            <a:normAutofit/>
          </a:bodyPr>
          <a:lstStyle/>
          <a:p>
            <a:pPr algn="l"/>
            <a:r>
              <a:rPr lang="en-IN" dirty="0"/>
              <a:t>No, below error get displayed:</a:t>
            </a:r>
          </a:p>
          <a:p>
            <a:pPr algn="l"/>
            <a:endParaRPr lang="en-IN" sz="8000" dirty="0"/>
          </a:p>
          <a:p>
            <a:pPr algn="l"/>
            <a:endParaRPr lang="en-IN" sz="1100" dirty="0"/>
          </a:p>
          <a:p>
            <a:pPr algn="l"/>
            <a:endParaRPr lang="en-IN" sz="1100" dirty="0"/>
          </a:p>
          <a:p>
            <a:pPr algn="l"/>
            <a:endParaRPr lang="en-IN" sz="1100" dirty="0"/>
          </a:p>
          <a:p>
            <a:r>
              <a:rPr lang="en-US" sz="1100" dirty="0"/>
              <a:t> </a:t>
            </a:r>
            <a:endParaRPr lang="en-IN" sz="1100" dirty="0"/>
          </a:p>
          <a:p>
            <a:pPr algn="l"/>
            <a:endParaRPr lang="en-IN" sz="1100"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pic>
        <p:nvPicPr>
          <p:cNvPr id="9" name="Picture 8">
            <a:extLst>
              <a:ext uri="{FF2B5EF4-FFF2-40B4-BE49-F238E27FC236}">
                <a16:creationId xmlns:a16="http://schemas.microsoft.com/office/drawing/2014/main" id="{78C559AF-3B38-4E38-88DB-AB673CEF712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091" y="1741962"/>
            <a:ext cx="5423344" cy="3488944"/>
          </a:xfrm>
          <a:prstGeom prst="rect">
            <a:avLst/>
          </a:prstGeom>
          <a:noFill/>
          <a:ln>
            <a:solidFill>
              <a:schemeClr val="tx1"/>
            </a:solidFill>
          </a:ln>
        </p:spPr>
      </p:pic>
    </p:spTree>
    <p:extLst>
      <p:ext uri="{BB962C8B-B14F-4D97-AF65-F5344CB8AC3E}">
        <p14:creationId xmlns:p14="http://schemas.microsoft.com/office/powerpoint/2010/main" val="218387163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816091" y="384945"/>
            <a:ext cx="9296097" cy="647443"/>
          </a:xfrm>
        </p:spPr>
        <p:txBody>
          <a:bodyPr>
            <a:noAutofit/>
          </a:bodyPr>
          <a:lstStyle/>
          <a:p>
            <a:r>
              <a:rPr lang="en-IN" dirty="0"/>
              <a:t>FAQs</a:t>
            </a:r>
          </a:p>
        </p:txBody>
      </p:sp>
      <p:sp>
        <p:nvSpPr>
          <p:cNvPr id="5" name="Subtitle 2">
            <a:extLst>
              <a:ext uri="{FF2B5EF4-FFF2-40B4-BE49-F238E27FC236}">
                <a16:creationId xmlns:a16="http://schemas.microsoft.com/office/drawing/2014/main" id="{B80DC485-9D3E-48E5-8165-9E5481955FFA}"/>
              </a:ext>
            </a:extLst>
          </p:cNvPr>
          <p:cNvSpPr txBox="1">
            <a:spLocks/>
          </p:cNvSpPr>
          <p:nvPr/>
        </p:nvSpPr>
        <p:spPr>
          <a:xfrm>
            <a:off x="793377" y="1102659"/>
            <a:ext cx="11064338" cy="5235926"/>
          </a:xfrm>
          <a:prstGeom prst="rect">
            <a:avLst/>
          </a:prstGeom>
        </p:spPr>
        <p:txBody>
          <a:bodyPr vert="horz" lIns="91440" tIns="45720" rIns="91440" bIns="45720" rtlCol="0">
            <a:noAutofit/>
          </a:bodyPr>
          <a:lstStyle>
            <a:lvl1pPr marL="0" indent="0" algn="ctr" defTabSz="914377" rtl="0" eaLnBrk="1" latinLnBrk="0" hangingPunct="1">
              <a:lnSpc>
                <a:spcPct val="90000"/>
              </a:lnSpc>
              <a:spcBef>
                <a:spcPts val="1000"/>
              </a:spcBef>
              <a:buFont typeface="Arial" panose="020B0604020202020204" pitchFamily="34" charset="0"/>
              <a:buNone/>
              <a:defRPr sz="2400" kern="1200">
                <a:solidFill>
                  <a:schemeClr val="tx1">
                    <a:lumMod val="50000"/>
                    <a:lumOff val="50000"/>
                  </a:schemeClr>
                </a:solidFill>
                <a:latin typeface="Trebuchet MS" panose="020B0603020202020204" pitchFamily="34" charset="0"/>
                <a:ea typeface="+mn-ea"/>
                <a:cs typeface="+mn-cs"/>
              </a:defRPr>
            </a:lvl1pPr>
            <a:lvl2pPr marL="457189" indent="0" algn="ctr" defTabSz="914377" rtl="0" eaLnBrk="1" latinLnBrk="0" hangingPunct="1">
              <a:lnSpc>
                <a:spcPct val="90000"/>
              </a:lnSpc>
              <a:spcBef>
                <a:spcPts val="500"/>
              </a:spcBef>
              <a:buFont typeface="Arial" panose="020B0604020202020204" pitchFamily="34" charset="0"/>
              <a:buNone/>
              <a:defRPr sz="2000" kern="1200">
                <a:solidFill>
                  <a:schemeClr val="tx1"/>
                </a:solidFill>
                <a:latin typeface="Trebuchet MS" panose="020B0603020202020204" pitchFamily="34" charset="0"/>
                <a:ea typeface="+mn-ea"/>
                <a:cs typeface="+mn-cs"/>
              </a:defRPr>
            </a:lvl2pPr>
            <a:lvl3pPr marL="914377" indent="0" algn="ctr" defTabSz="914377" rtl="0" eaLnBrk="1" latinLnBrk="0" hangingPunct="1">
              <a:lnSpc>
                <a:spcPct val="90000"/>
              </a:lnSpc>
              <a:spcBef>
                <a:spcPts val="500"/>
              </a:spcBef>
              <a:buFont typeface="Arial" panose="020B0604020202020204" pitchFamily="34" charset="0"/>
              <a:buNone/>
              <a:defRPr sz="1800" kern="1200">
                <a:solidFill>
                  <a:schemeClr val="tx1"/>
                </a:solidFill>
                <a:latin typeface="Trebuchet MS" panose="020B0603020202020204" pitchFamily="34" charset="0"/>
                <a:ea typeface="+mn-ea"/>
                <a:cs typeface="+mn-cs"/>
              </a:defRPr>
            </a:lvl3pPr>
            <a:lvl4pPr marL="1371566"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4pPr>
            <a:lvl5pPr marL="1828754"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Trebuchet MS" panose="020B0603020202020204" pitchFamily="34" charset="0"/>
                <a:ea typeface="+mn-ea"/>
                <a:cs typeface="+mn-cs"/>
              </a:defRPr>
            </a:lvl5pPr>
            <a:lvl6pPr marL="2285943"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131"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320"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509" indent="0" algn="ctr" defTabSz="914377"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00000"/>
              </a:lnSpc>
              <a:buFont typeface="Arial" panose="020B0604020202020204" pitchFamily="34" charset="0"/>
              <a:buChar char="•"/>
            </a:pPr>
            <a:endParaRPr lang="en-IN" dirty="0"/>
          </a:p>
        </p:txBody>
      </p:sp>
      <p:sp>
        <p:nvSpPr>
          <p:cNvPr id="6" name="Title 1">
            <a:extLst>
              <a:ext uri="{FF2B5EF4-FFF2-40B4-BE49-F238E27FC236}">
                <a16:creationId xmlns:a16="http://schemas.microsoft.com/office/drawing/2014/main" id="{0CE4EEC9-8D24-4D12-9094-E49D9B605B9A}"/>
              </a:ext>
            </a:extLst>
          </p:cNvPr>
          <p:cNvSpPr txBox="1">
            <a:spLocks/>
          </p:cNvSpPr>
          <p:nvPr/>
        </p:nvSpPr>
        <p:spPr>
          <a:xfrm>
            <a:off x="968491" y="1046704"/>
            <a:ext cx="10676662" cy="5034402"/>
          </a:xfrm>
          <a:prstGeom prst="rect">
            <a:avLst/>
          </a:prstGeom>
        </p:spPr>
        <p:txBody>
          <a:bodyPr vert="horz" lIns="91440" tIns="45720" rIns="91440" bIns="45720" rtlCol="0" anchor="b">
            <a:noAutofit/>
          </a:bodyPr>
          <a:lstStyle>
            <a:lvl1pPr algn="ctr" defTabSz="914377" rtl="0" eaLnBrk="1" latinLnBrk="0" hangingPunct="1">
              <a:lnSpc>
                <a:spcPct val="90000"/>
              </a:lnSpc>
              <a:spcBef>
                <a:spcPct val="0"/>
              </a:spcBef>
              <a:buNone/>
              <a:defRPr sz="3600" kern="1200">
                <a:solidFill>
                  <a:schemeClr val="tx1">
                    <a:lumMod val="50000"/>
                    <a:lumOff val="50000"/>
                  </a:schemeClr>
                </a:solidFill>
                <a:latin typeface="Trebuchet MS" panose="020B0603020202020204" pitchFamily="34" charset="0"/>
                <a:ea typeface="+mj-ea"/>
                <a:cs typeface="+mj-cs"/>
              </a:defRPr>
            </a:lvl1pPr>
          </a:lstStyle>
          <a:p>
            <a:pPr algn="l"/>
            <a:endParaRPr lang="en-IN" dirty="0"/>
          </a:p>
        </p:txBody>
      </p:sp>
      <p:sp>
        <p:nvSpPr>
          <p:cNvPr id="7" name="Subtitle 6">
            <a:extLst>
              <a:ext uri="{FF2B5EF4-FFF2-40B4-BE49-F238E27FC236}">
                <a16:creationId xmlns:a16="http://schemas.microsoft.com/office/drawing/2014/main" id="{23CAB589-37C6-4FEF-B2B8-B1AAF8593662}"/>
              </a:ext>
            </a:extLst>
          </p:cNvPr>
          <p:cNvSpPr>
            <a:spLocks noGrp="1"/>
          </p:cNvSpPr>
          <p:nvPr>
            <p:ph type="subTitle" idx="1"/>
          </p:nvPr>
        </p:nvSpPr>
        <p:spPr>
          <a:xfrm>
            <a:off x="755929" y="1102659"/>
            <a:ext cx="10889223" cy="5235926"/>
          </a:xfrm>
        </p:spPr>
        <p:txBody>
          <a:bodyPr>
            <a:normAutofit/>
          </a:bodyPr>
          <a:lstStyle/>
          <a:p>
            <a:pPr algn="l"/>
            <a:r>
              <a:rPr lang="en-US" dirty="0"/>
              <a:t> </a:t>
            </a:r>
            <a:r>
              <a:rPr lang="en-IN" b="1" dirty="0"/>
              <a:t>By default, what are the maximum number of Products we can add in the bundle and Properties we can add for Product or bundle?</a:t>
            </a:r>
          </a:p>
          <a:p>
            <a:pPr algn="l"/>
            <a:r>
              <a:rPr lang="en-IN" dirty="0"/>
              <a:t>Under App Settings--&gt;Product Catlog Settings you will find the default set value as below:</a:t>
            </a:r>
          </a:p>
          <a:p>
            <a:pPr algn="l"/>
            <a:endParaRPr lang="en-IN" b="1" dirty="0"/>
          </a:p>
          <a:p>
            <a:pPr algn="l"/>
            <a:endParaRPr lang="en-IN" dirty="0"/>
          </a:p>
          <a:p>
            <a:pPr algn="l"/>
            <a:r>
              <a:rPr lang="en-IN" b="1" dirty="0"/>
              <a:t> </a:t>
            </a:r>
            <a:endParaRPr lang="en-IN" dirty="0"/>
          </a:p>
          <a:p>
            <a:pPr algn="l"/>
            <a:endParaRPr lang="en-IN" dirty="0"/>
          </a:p>
          <a:p>
            <a:pPr lvl="0" algn="l"/>
            <a:endParaRPr lang="en-IN" sz="1100" dirty="0"/>
          </a:p>
          <a:p>
            <a:r>
              <a:rPr lang="en-US" sz="1100" dirty="0"/>
              <a:t> </a:t>
            </a:r>
            <a:endParaRPr lang="en-IN" sz="1100" dirty="0"/>
          </a:p>
          <a:p>
            <a:pPr algn="l"/>
            <a:endParaRPr lang="en-IN" sz="1100" dirty="0"/>
          </a:p>
          <a:p>
            <a:pPr algn="l"/>
            <a:endParaRPr lang="en-IN" sz="1100" dirty="0"/>
          </a:p>
          <a:p>
            <a:pPr algn="l"/>
            <a:endParaRPr lang="en-IN" sz="1100" dirty="0"/>
          </a:p>
          <a:p>
            <a:r>
              <a:rPr lang="en-IN" sz="1100" dirty="0"/>
              <a:t> </a:t>
            </a:r>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dirty="0"/>
          </a:p>
          <a:p>
            <a:pPr algn="l"/>
            <a:endParaRPr lang="en-IN" sz="1100" b="1" dirty="0"/>
          </a:p>
          <a:p>
            <a:pPr algn="l"/>
            <a:endParaRPr lang="en-IN" sz="1100" b="1" u="sng" dirty="0"/>
          </a:p>
          <a:p>
            <a:pPr algn="l"/>
            <a:endParaRPr lang="en-IN" sz="1100" dirty="0"/>
          </a:p>
        </p:txBody>
      </p:sp>
      <p:pic>
        <p:nvPicPr>
          <p:cNvPr id="8" name="Picture 7">
            <a:extLst>
              <a:ext uri="{FF2B5EF4-FFF2-40B4-BE49-F238E27FC236}">
                <a16:creationId xmlns:a16="http://schemas.microsoft.com/office/drawing/2014/main" id="{FE397591-F3BF-4B2A-9459-D0DD51E2149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816091" y="2856514"/>
            <a:ext cx="6673921" cy="3538025"/>
          </a:xfrm>
          <a:prstGeom prst="rect">
            <a:avLst/>
          </a:prstGeom>
          <a:noFill/>
          <a:ln>
            <a:solidFill>
              <a:schemeClr val="tx1"/>
            </a:solidFill>
          </a:ln>
        </p:spPr>
      </p:pic>
    </p:spTree>
    <p:extLst>
      <p:ext uri="{BB962C8B-B14F-4D97-AF65-F5344CB8AC3E}">
        <p14:creationId xmlns:p14="http://schemas.microsoft.com/office/powerpoint/2010/main" val="159386033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88231" y="3026847"/>
            <a:ext cx="8025231" cy="1655763"/>
          </a:xfrm>
        </p:spPr>
        <p:txBody>
          <a:bodyPr>
            <a:normAutofit/>
          </a:bodyPr>
          <a:lstStyle/>
          <a:p>
            <a:r>
              <a:rPr lang="en-IN" altLang="en-US" sz="4000" dirty="0">
                <a:solidFill>
                  <a:schemeClr val="bg1">
                    <a:lumMod val="50000"/>
                  </a:schemeClr>
                </a:solidFill>
                <a:latin typeface="Trebuchet MS" panose="020B0603020202020204" pitchFamily="34" charset="0"/>
              </a:rPr>
              <a:t>Thank You</a:t>
            </a:r>
          </a:p>
          <a:p>
            <a:endParaRPr lang="en-US" sz="4000" dirty="0">
              <a:solidFill>
                <a:schemeClr val="bg1">
                  <a:lumMod val="50000"/>
                </a:schemeClr>
              </a:solidFill>
              <a:latin typeface="Trebuchet MS" panose="020B0603020202020204" pitchFamily="34" charset="0"/>
            </a:endParaRPr>
          </a:p>
        </p:txBody>
      </p:sp>
    </p:spTree>
    <p:extLst>
      <p:ext uri="{BB962C8B-B14F-4D97-AF65-F5344CB8AC3E}">
        <p14:creationId xmlns:p14="http://schemas.microsoft.com/office/powerpoint/2010/main" val="4108236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2265</TotalTime>
  <Words>13453</Words>
  <Application>Microsoft Office PowerPoint</Application>
  <PresentationFormat>Widescreen</PresentationFormat>
  <Paragraphs>1216</Paragraphs>
  <Slides>151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151</vt:i4>
      </vt:variant>
    </vt:vector>
  </HeadingPairs>
  <TitlesOfParts>
    <vt:vector size="156" baseType="lpstr">
      <vt:lpstr>Arial</vt:lpstr>
      <vt:lpstr>Calibri</vt:lpstr>
      <vt:lpstr>Times New Roman</vt:lpstr>
      <vt:lpstr>Trebuchet MS</vt:lpstr>
      <vt:lpstr>Office Theme</vt:lpstr>
      <vt:lpstr>PowerPoint Presentation</vt:lpstr>
      <vt:lpstr>Agenda</vt:lpstr>
      <vt:lpstr>Importance of Dynamics 365 Sales</vt:lpstr>
      <vt:lpstr>Importance of Dynamics 365 Sales</vt:lpstr>
      <vt:lpstr>Importance of Dynamics 365 Sales</vt:lpstr>
      <vt:lpstr>Dynamics 365 Sales components</vt:lpstr>
      <vt:lpstr>Dynamics 365 Sales components</vt:lpstr>
      <vt:lpstr>Dynamics 365 Sales components</vt:lpstr>
      <vt:lpstr>OOB typical Sales Life Cycle</vt:lpstr>
      <vt:lpstr>OOB typical Sales Life Cycle</vt:lpstr>
      <vt:lpstr>OOB typical Sales Life Cycle</vt:lpstr>
      <vt:lpstr>OOB typical Sales Life Cycle</vt:lpstr>
      <vt:lpstr>OOB typical Sales Life Cycle</vt:lpstr>
      <vt:lpstr>OOB typical Sales Life Cycle</vt:lpstr>
      <vt:lpstr>OOB typical Sales Life Cycle</vt:lpstr>
      <vt:lpstr>OOB typical Sales Life Cycle</vt:lpstr>
      <vt:lpstr>OOB typical Sales Life Cycle</vt:lpstr>
      <vt:lpstr>OOB typical Sales Life Cycle</vt:lpstr>
      <vt:lpstr>OOB typical Sales Life Cycle</vt:lpstr>
      <vt:lpstr>Lead Qualification Process</vt:lpstr>
      <vt:lpstr>Lead Qualification Process</vt:lpstr>
      <vt:lpstr>Lead Qualification Process</vt:lpstr>
      <vt:lpstr>Lead Qualification Process</vt:lpstr>
      <vt:lpstr>Lead Reactivation Process</vt:lpstr>
      <vt:lpstr>Opportunity Management</vt:lpstr>
      <vt:lpstr>Opportunity Management</vt:lpstr>
      <vt:lpstr>Opportunity Management</vt:lpstr>
      <vt:lpstr>Opportunity Management</vt:lpstr>
      <vt:lpstr>Quote Management</vt:lpstr>
      <vt:lpstr>Quote Management</vt:lpstr>
      <vt:lpstr>Quote Management</vt:lpstr>
      <vt:lpstr>Order and Invoice Management</vt:lpstr>
      <vt:lpstr>Order and Invoice Management</vt:lpstr>
      <vt:lpstr>Order and Invoice Management</vt:lpstr>
      <vt:lpstr>Order and Invoice Management</vt:lpstr>
      <vt:lpstr>System Pricing Calculations</vt:lpstr>
      <vt:lpstr>System Pricing Calculations</vt:lpstr>
      <vt:lpstr>System Pricing Calculations</vt:lpstr>
      <vt:lpstr>System Pricing Calculations</vt:lpstr>
      <vt:lpstr>System Pricing Calculations</vt:lpstr>
      <vt:lpstr>System Pricing Calculations</vt:lpstr>
      <vt:lpstr>System Pricing Calculations</vt:lpstr>
      <vt:lpstr>System Pricing Calculations</vt:lpstr>
      <vt:lpstr>System Pricing Calculations</vt:lpstr>
      <vt:lpstr>Other References: BizAppsGuru Video links:</vt:lpstr>
      <vt:lpstr>Product Catalog</vt:lpstr>
      <vt:lpstr>Product Catalog Introduction</vt:lpstr>
      <vt:lpstr>Product Catalog Introduction</vt:lpstr>
      <vt:lpstr>Product Catalog Introduction</vt:lpstr>
      <vt:lpstr>Product Catalog Introduction</vt:lpstr>
      <vt:lpstr>Components of the Product Catalog</vt:lpstr>
      <vt:lpstr>Components of the Product Catalog</vt:lpstr>
      <vt:lpstr>Components of the Product Catalog</vt:lpstr>
      <vt:lpstr>Components of the Product Catalog</vt:lpstr>
      <vt:lpstr>Unit Groups</vt:lpstr>
      <vt:lpstr>Unit Groups</vt:lpstr>
      <vt:lpstr>Unit Groups</vt:lpstr>
      <vt:lpstr>Unit Groups</vt:lpstr>
      <vt:lpstr>Unit Groups</vt:lpstr>
      <vt:lpstr>Unit Groups</vt:lpstr>
      <vt:lpstr>Unit Groups</vt:lpstr>
      <vt:lpstr>Discount List</vt:lpstr>
      <vt:lpstr>Discount List</vt:lpstr>
      <vt:lpstr>Set up Product</vt:lpstr>
      <vt:lpstr>Set up Product</vt:lpstr>
      <vt:lpstr>Set up Product Bundle</vt:lpstr>
      <vt:lpstr>Set up Product Bundle</vt:lpstr>
      <vt:lpstr>Set up Product Bundle</vt:lpstr>
      <vt:lpstr>Set up Product Family</vt:lpstr>
      <vt:lpstr>Set up Product Family</vt:lpstr>
      <vt:lpstr>Set up Product Family</vt:lpstr>
      <vt:lpstr>Price List</vt:lpstr>
      <vt:lpstr>Price List</vt:lpstr>
      <vt:lpstr>Price List</vt:lpstr>
      <vt:lpstr>Price List</vt:lpstr>
      <vt:lpstr>Price List</vt:lpstr>
      <vt:lpstr>Create Price List</vt:lpstr>
      <vt:lpstr>Create Price List</vt:lpstr>
      <vt:lpstr>Define Price list Item and Pricing Method</vt:lpstr>
      <vt:lpstr>Define Price list Item and Pricing Method</vt:lpstr>
      <vt:lpstr>Define Price list Item and Pricing Method</vt:lpstr>
      <vt:lpstr>Define Price list Item and Pricing Method</vt:lpstr>
      <vt:lpstr>Define Price list Item and Pricing Method</vt:lpstr>
      <vt:lpstr>Inactivating Price Lists</vt:lpstr>
      <vt:lpstr>Re-parenting a Product</vt:lpstr>
      <vt:lpstr>Re-parenting a Product</vt:lpstr>
      <vt:lpstr>Re-parenting a Product</vt:lpstr>
      <vt:lpstr>Product Properties</vt:lpstr>
      <vt:lpstr>Product Properties</vt:lpstr>
      <vt:lpstr>Product Properties</vt:lpstr>
      <vt:lpstr>Product Properties</vt:lpstr>
      <vt:lpstr>Product Properties</vt:lpstr>
      <vt:lpstr>Product Relationship</vt:lpstr>
      <vt:lpstr>Product Relationship</vt:lpstr>
      <vt:lpstr>Product Relationship</vt:lpstr>
      <vt:lpstr>Product Relationship</vt:lpstr>
      <vt:lpstr>Product Relationship</vt:lpstr>
      <vt:lpstr>Product Relationship</vt:lpstr>
      <vt:lpstr>Product Relationship</vt:lpstr>
      <vt:lpstr>Publishing, Cloning, Revising, and Retiring Products</vt:lpstr>
      <vt:lpstr>Publishing, Cloning, Revising, and Retiring Products</vt:lpstr>
      <vt:lpstr>Publishing, Cloning, Revising, and Retiring Products</vt:lpstr>
      <vt:lpstr>Publishing, Cloning, Revising, and Retiring Products</vt:lpstr>
      <vt:lpstr>Publishing, Cloning, Revising, and Retiring Products</vt:lpstr>
      <vt:lpstr>Delete a Product family, product, or bundle</vt:lpstr>
      <vt:lpstr> View a Product Hierarchy</vt:lpstr>
      <vt:lpstr> View a Product Hierarchy</vt:lpstr>
      <vt:lpstr> View a Product Hierarchy</vt:lpstr>
      <vt:lpstr> Price Calculation and Product Bundle</vt:lpstr>
      <vt:lpstr> Price Calculation and Product Bundle</vt:lpstr>
      <vt:lpstr> Price Calculation and Product Bundle</vt:lpstr>
      <vt:lpstr> Price Calculation and Product Bundle</vt:lpstr>
      <vt:lpstr> Price Calculation and Product Bundle</vt:lpstr>
      <vt:lpstr> Price Calculation and Product Bundle</vt:lpstr>
      <vt:lpstr> Enhance Experience for Adding Products</vt:lpstr>
      <vt:lpstr> Enhance Experience for Adding Products</vt:lpstr>
      <vt:lpstr> Configure Product Catalog Settings</vt:lpstr>
      <vt:lpstr> Configure Product Catalog Settings</vt:lpstr>
      <vt:lpstr>        Price Calculation for Opportunity, Quote,  Order, and Invoice records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FAQs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Tejashree Thakur</dc:creator>
  <cp:lastModifiedBy>Sunita Jain</cp:lastModifiedBy>
  <cp:revision>252</cp:revision>
  <dcterms:created xsi:type="dcterms:W3CDTF">2022-12-21T06:36:05Z</dcterms:created>
  <dcterms:modified xsi:type="dcterms:W3CDTF">2026-03-17T10:06:40Z</dcterms:modified>
</cp:coreProperties>
</file>
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58" r:id="rId4"/>
    <p:sldId id="257" r:id="rId5"/>
    <p:sldId id="261" r:id="rId6"/>
    <p:sldId id="262" r:id="rId7"/>
    <p:sldId id="264" r:id="rId8"/>
    <p:sldId id="265" r:id="rId9"/>
    <p:sldId id="266" r:id="rId10"/>
    <p:sldId id="267" r:id="rId11"/>
    <p:sldId id="268" r:id="rId12"/>
    <p:sldId id="269" r:id="rId13"/>
    <p:sldId id="273" r:id="rId14"/>
    <p:sldId id="274" r:id="rId15"/>
    <p:sldId id="319" r:id="rId16"/>
    <p:sldId id="320" r:id="rId17"/>
    <p:sldId id="321" r:id="rId18"/>
    <p:sldId id="263" r:id="rId19"/>
    <p:sldId id="322" r:id="rId20"/>
    <p:sldId id="323" r:id="rId21"/>
    <p:sldId id="280" r:id="rId22"/>
    <p:sldId id="282" r:id="rId23"/>
    <p:sldId id="283" r:id="rId24"/>
    <p:sldId id="284" r:id="rId25"/>
    <p:sldId id="285" r:id="rId26"/>
    <p:sldId id="286" r:id="rId27"/>
    <p:sldId id="302" r:id="rId28"/>
    <p:sldId id="303" r:id="rId29"/>
    <p:sldId id="304" r:id="rId30"/>
    <p:sldId id="305" r:id="rId31"/>
    <p:sldId id="306" r:id="rId32"/>
    <p:sldId id="307" r:id="rId33"/>
    <p:sldId id="308" r:id="rId34"/>
    <p:sldId id="309" r:id="rId35"/>
    <p:sldId id="310" r:id="rId36"/>
    <p:sldId id="312" r:id="rId37"/>
    <p:sldId id="311" r:id="rId38"/>
    <p:sldId id="314" r:id="rId39"/>
    <p:sldId id="313" r:id="rId40"/>
    <p:sldId id="315" r:id="rId41"/>
    <p:sldId id="316" r:id="rId42"/>
    <p:sldId id="317" r:id="rId43"/>
    <p:sldId id="318" r:id="rId44"/>
    <p:sldId id="287" r:id="rId45"/>
    <p:sldId id="288" r:id="rId46"/>
    <p:sldId id="289" r:id="rId47"/>
    <p:sldId id="290" r:id="rId48"/>
    <p:sldId id="291" r:id="rId49"/>
    <p:sldId id="297" r:id="rId50"/>
    <p:sldId id="29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1" autoAdjust="0"/>
    <p:restoredTop sz="94660"/>
  </p:normalViewPr>
  <p:slideViewPr>
    <p:cSldViewPr snapToGrid="0">
      <p:cViewPr varScale="1">
        <p:scale>
          <a:sx n="71" d="100"/>
          <a:sy n="71" d="100"/>
        </p:scale>
        <p:origin x="7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45BD54-D254-4322-AF58-CAE8257A3F82}"/>
              </a:ext>
            </a:extLst>
          </p:cNvPr>
          <p:cNvSpPr/>
          <p:nvPr/>
        </p:nvSpPr>
        <p:spPr>
          <a:xfrm>
            <a:off x="0" y="0"/>
            <a:ext cx="4710545"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10DB2E3-BEBB-417E-9A38-25C15BFBA35A}"/>
              </a:ext>
            </a:extLst>
          </p:cNvPr>
          <p:cNvSpPr/>
          <p:nvPr/>
        </p:nvSpPr>
        <p:spPr>
          <a:xfrm>
            <a:off x="3579669" y="198650"/>
            <a:ext cx="8409707"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B1FEF01-CFDC-4705-BBAE-88BD256BEE19}"/>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1" name="Rectangle 10">
            <a:extLst>
              <a:ext uri="{FF2B5EF4-FFF2-40B4-BE49-F238E27FC236}">
                <a16:creationId xmlns:a16="http://schemas.microsoft.com/office/drawing/2014/main" id="{776D622D-9BE6-4C9D-8064-B078A5E909E2}"/>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2" name="Rectangle 11">
            <a:extLst>
              <a:ext uri="{FF2B5EF4-FFF2-40B4-BE49-F238E27FC236}">
                <a16:creationId xmlns:a16="http://schemas.microsoft.com/office/drawing/2014/main" id="{7B9C8AFD-31CF-44B5-815D-F706827DA94E}"/>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3" name="Rectangle 12">
            <a:extLst>
              <a:ext uri="{FF2B5EF4-FFF2-40B4-BE49-F238E27FC236}">
                <a16:creationId xmlns:a16="http://schemas.microsoft.com/office/drawing/2014/main" id="{CCB5F93B-4C98-41CB-94D6-75C066006312}"/>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pic>
        <p:nvPicPr>
          <p:cNvPr id="14" name="Picture 13">
            <a:extLst>
              <a:ext uri="{FF2B5EF4-FFF2-40B4-BE49-F238E27FC236}">
                <a16:creationId xmlns:a16="http://schemas.microsoft.com/office/drawing/2014/main" id="{0F325318-E234-4F36-8B87-16BA513E58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2724" y="5082520"/>
            <a:ext cx="1724772" cy="496382"/>
          </a:xfrm>
          <a:prstGeom prst="rect">
            <a:avLst/>
          </a:prstGeom>
        </p:spPr>
      </p:pic>
      <p:pic>
        <p:nvPicPr>
          <p:cNvPr id="15" name="Picture 14">
            <a:extLst>
              <a:ext uri="{FF2B5EF4-FFF2-40B4-BE49-F238E27FC236}">
                <a16:creationId xmlns:a16="http://schemas.microsoft.com/office/drawing/2014/main" id="{33C151AA-4A07-419B-9ED6-CEF6AC61C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9516" y="4978669"/>
            <a:ext cx="2166937" cy="704084"/>
          </a:xfrm>
          <a:prstGeom prst="rect">
            <a:avLst/>
          </a:prstGeom>
        </p:spPr>
      </p:pic>
      <p:sp>
        <p:nvSpPr>
          <p:cNvPr id="2" name="Title 1">
            <a:extLst>
              <a:ext uri="{FF2B5EF4-FFF2-40B4-BE49-F238E27FC236}">
                <a16:creationId xmlns:a16="http://schemas.microsoft.com/office/drawing/2014/main" id="{357F1B1E-B7D1-4F84-BC64-4CE0DB37DA10}"/>
              </a:ext>
            </a:extLst>
          </p:cNvPr>
          <p:cNvSpPr>
            <a:spLocks noGrp="1"/>
          </p:cNvSpPr>
          <p:nvPr>
            <p:ph type="ctrTitle"/>
          </p:nvPr>
        </p:nvSpPr>
        <p:spPr>
          <a:xfrm>
            <a:off x="3778624" y="1574538"/>
            <a:ext cx="8001000" cy="1701519"/>
          </a:xfrm>
        </p:spPr>
        <p:txBody>
          <a:bodyPr anchor="ctr">
            <a:normAutofit/>
          </a:bodyPr>
          <a:lstStyle>
            <a:lvl1pPr algn="ctr">
              <a:defRPr sz="3600">
                <a:solidFill>
                  <a:schemeClr val="tx1">
                    <a:lumMod val="50000"/>
                    <a:lumOff val="50000"/>
                  </a:schemeClr>
                </a:solidFill>
                <a:latin typeface="Trebuchet MS" panose="020B0603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EE486D6E-6BA8-4C52-924A-59253267AF57}"/>
              </a:ext>
            </a:extLst>
          </p:cNvPr>
          <p:cNvSpPr>
            <a:spLocks noGrp="1"/>
          </p:cNvSpPr>
          <p:nvPr>
            <p:ph type="subTitle" idx="1"/>
          </p:nvPr>
        </p:nvSpPr>
        <p:spPr>
          <a:xfrm>
            <a:off x="3778624" y="3602038"/>
            <a:ext cx="8001000" cy="806816"/>
          </a:xfrm>
        </p:spPr>
        <p:txBody>
          <a:bodyPr anchor="ctr"/>
          <a:lstStyle>
            <a:lvl1pPr marL="0" indent="0" algn="ctr">
              <a:buNone/>
              <a:defRPr sz="2400">
                <a:solidFill>
                  <a:srgbClr val="0070C0"/>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3A3C5C8-6BE2-42E9-8B5A-2ED21D041198}"/>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5" name="Footer Placeholder 4">
            <a:extLst>
              <a:ext uri="{FF2B5EF4-FFF2-40B4-BE49-F238E27FC236}">
                <a16:creationId xmlns:a16="http://schemas.microsoft.com/office/drawing/2014/main" id="{5318EDC7-CDC2-4407-9F8F-C0CEAA4009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695F3-58FF-4760-B1DC-C5025EA66D87}"/>
              </a:ext>
            </a:extLst>
          </p:cNvPr>
          <p:cNvSpPr>
            <a:spLocks noGrp="1"/>
          </p:cNvSpPr>
          <p:nvPr>
            <p:ph type="sldNum" sz="quarter" idx="12"/>
          </p:nvPr>
        </p:nvSpPr>
        <p:spPr/>
        <p:txBody>
          <a:bodyPr/>
          <a:lstStyle/>
          <a:p>
            <a:fld id="{A1FD0E78-183D-4F7D-A18B-8A4BED7B6988}" type="slidenum">
              <a:rPr lang="en-US" smtClean="0"/>
              <a:t>‹#›</a:t>
            </a:fld>
            <a:endParaRPr lang="en-US"/>
          </a:p>
        </p:txBody>
      </p:sp>
      <p:cxnSp>
        <p:nvCxnSpPr>
          <p:cNvPr id="17" name="Straight Connector 16">
            <a:extLst>
              <a:ext uri="{FF2B5EF4-FFF2-40B4-BE49-F238E27FC236}">
                <a16:creationId xmlns:a16="http://schemas.microsoft.com/office/drawing/2014/main" id="{70565CEE-49E5-468C-A0B4-83E886C61D84}"/>
              </a:ext>
            </a:extLst>
          </p:cNvPr>
          <p:cNvCxnSpPr/>
          <p:nvPr/>
        </p:nvCxnSpPr>
        <p:spPr>
          <a:xfrm>
            <a:off x="3778624" y="3602038"/>
            <a:ext cx="800100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740C7E80-A24C-4396-B051-437EF1D79AB8}"/>
              </a:ext>
            </a:extLst>
          </p:cNvPr>
          <p:cNvSpPr/>
          <p:nvPr/>
        </p:nvSpPr>
        <p:spPr>
          <a:xfrm>
            <a:off x="7968342" y="4876803"/>
            <a:ext cx="2032000" cy="870858"/>
          </a:xfrm>
          <a:custGeom>
            <a:avLst/>
            <a:gdLst>
              <a:gd name="connsiteX0" fmla="*/ 1959429 w 2032000"/>
              <a:gd name="connsiteY0" fmla="*/ 0 h 870858"/>
              <a:gd name="connsiteX1" fmla="*/ 0 w 2032000"/>
              <a:gd name="connsiteY1" fmla="*/ 0 h 870858"/>
              <a:gd name="connsiteX2" fmla="*/ 0 w 2032000"/>
              <a:gd name="connsiteY2" fmla="*/ 870858 h 870858"/>
              <a:gd name="connsiteX3" fmla="*/ 2032000 w 2032000"/>
              <a:gd name="connsiteY3" fmla="*/ 870858 h 870858"/>
            </a:gdLst>
            <a:ahLst/>
            <a:cxnLst>
              <a:cxn ang="0">
                <a:pos x="connsiteX0" y="connsiteY0"/>
              </a:cxn>
              <a:cxn ang="0">
                <a:pos x="connsiteX1" y="connsiteY1"/>
              </a:cxn>
              <a:cxn ang="0">
                <a:pos x="connsiteX2" y="connsiteY2"/>
              </a:cxn>
              <a:cxn ang="0">
                <a:pos x="connsiteX3" y="connsiteY3"/>
              </a:cxn>
            </a:cxnLst>
            <a:rect l="l" t="t" r="r" b="b"/>
            <a:pathLst>
              <a:path w="2032000" h="870858">
                <a:moveTo>
                  <a:pt x="1959429" y="0"/>
                </a:moveTo>
                <a:lnTo>
                  <a:pt x="0" y="0"/>
                </a:lnTo>
                <a:lnTo>
                  <a:pt x="0" y="870858"/>
                </a:lnTo>
                <a:lnTo>
                  <a:pt x="2032000" y="870858"/>
                </a:lnTo>
              </a:path>
            </a:pathLst>
          </a:custGeom>
          <a:no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52EBDC4-1E90-4F52-92F1-8C4F5999C539}"/>
              </a:ext>
            </a:extLst>
          </p:cNvPr>
          <p:cNvSpPr/>
          <p:nvPr/>
        </p:nvSpPr>
        <p:spPr>
          <a:xfrm rot="10800000">
            <a:off x="5849258" y="4876803"/>
            <a:ext cx="2032000" cy="870858"/>
          </a:xfrm>
          <a:custGeom>
            <a:avLst/>
            <a:gdLst>
              <a:gd name="connsiteX0" fmla="*/ 1959429 w 2032000"/>
              <a:gd name="connsiteY0" fmla="*/ 0 h 870858"/>
              <a:gd name="connsiteX1" fmla="*/ 0 w 2032000"/>
              <a:gd name="connsiteY1" fmla="*/ 0 h 870858"/>
              <a:gd name="connsiteX2" fmla="*/ 0 w 2032000"/>
              <a:gd name="connsiteY2" fmla="*/ 870858 h 870858"/>
              <a:gd name="connsiteX3" fmla="*/ 2032000 w 2032000"/>
              <a:gd name="connsiteY3" fmla="*/ 870858 h 870858"/>
            </a:gdLst>
            <a:ahLst/>
            <a:cxnLst>
              <a:cxn ang="0">
                <a:pos x="connsiteX0" y="connsiteY0"/>
              </a:cxn>
              <a:cxn ang="0">
                <a:pos x="connsiteX1" y="connsiteY1"/>
              </a:cxn>
              <a:cxn ang="0">
                <a:pos x="connsiteX2" y="connsiteY2"/>
              </a:cxn>
              <a:cxn ang="0">
                <a:pos x="connsiteX3" y="connsiteY3"/>
              </a:cxn>
            </a:cxnLst>
            <a:rect l="l" t="t" r="r" b="b"/>
            <a:pathLst>
              <a:path w="2032000" h="870858">
                <a:moveTo>
                  <a:pt x="1959429" y="0"/>
                </a:moveTo>
                <a:lnTo>
                  <a:pt x="0" y="0"/>
                </a:lnTo>
                <a:lnTo>
                  <a:pt x="0" y="870858"/>
                </a:lnTo>
                <a:lnTo>
                  <a:pt x="2032000" y="870858"/>
                </a:lnTo>
              </a:path>
            </a:pathLst>
          </a:custGeom>
          <a:no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22B6148-D2FC-4A28-ADF7-9B3319DAB884}"/>
              </a:ext>
            </a:extLst>
          </p:cNvPr>
          <p:cNvPicPr>
            <a:picLocks noChangeAspect="1"/>
          </p:cNvPicPr>
          <p:nvPr userDrawn="1"/>
        </p:nvPicPr>
        <p:blipFill>
          <a:blip r:embed="rId4"/>
          <a:stretch>
            <a:fillRect/>
          </a:stretch>
        </p:blipFill>
        <p:spPr>
          <a:xfrm>
            <a:off x="412376" y="2661172"/>
            <a:ext cx="2576683" cy="888103"/>
          </a:xfrm>
          <a:prstGeom prst="rect">
            <a:avLst/>
          </a:prstGeom>
        </p:spPr>
      </p:pic>
    </p:spTree>
    <p:extLst>
      <p:ext uri="{BB962C8B-B14F-4D97-AF65-F5344CB8AC3E}">
        <p14:creationId xmlns:p14="http://schemas.microsoft.com/office/powerpoint/2010/main" val="113753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C48660-697D-4BB9-97F6-A5BB6C764668}"/>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0BE8EE-2EB2-435C-9D5A-AAA15842A36C}"/>
              </a:ext>
            </a:extLst>
          </p:cNvPr>
          <p:cNvSpPr/>
          <p:nvPr/>
        </p:nvSpPr>
        <p:spPr>
          <a:xfrm>
            <a:off x="207818" y="148697"/>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23355C8-5657-4103-B600-59803F24DBFF}"/>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0" name="Rectangle 9">
            <a:extLst>
              <a:ext uri="{FF2B5EF4-FFF2-40B4-BE49-F238E27FC236}">
                <a16:creationId xmlns:a16="http://schemas.microsoft.com/office/drawing/2014/main" id="{CFF2C038-CD71-4DD5-AD56-49FB9C0E8AF6}"/>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1" name="Rectangle 10">
            <a:extLst>
              <a:ext uri="{FF2B5EF4-FFF2-40B4-BE49-F238E27FC236}">
                <a16:creationId xmlns:a16="http://schemas.microsoft.com/office/drawing/2014/main" id="{D626EA1A-6BCF-4846-ABF3-498AD8F1EC82}"/>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2" name="Rectangle 11">
            <a:extLst>
              <a:ext uri="{FF2B5EF4-FFF2-40B4-BE49-F238E27FC236}">
                <a16:creationId xmlns:a16="http://schemas.microsoft.com/office/drawing/2014/main" id="{E91F1E9A-33FE-49BA-B69E-30EA3CC61DB9}"/>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3F08D64F-302C-4B73-A9F2-946CA338260A}"/>
              </a:ext>
            </a:extLst>
          </p:cNvPr>
          <p:cNvSpPr>
            <a:spLocks noGrp="1"/>
          </p:cNvSpPr>
          <p:nvPr>
            <p:ph type="title"/>
          </p:nvPr>
        </p:nvSpPr>
        <p:spPr>
          <a:xfrm>
            <a:off x="353565" y="278160"/>
            <a:ext cx="9438716" cy="797605"/>
          </a:xfrm>
        </p:spPr>
        <p:txBody>
          <a:bodyPr>
            <a:normAutofit/>
          </a:bodyPr>
          <a:lstStyle>
            <a:lvl1pPr>
              <a:defRPr sz="3200">
                <a:solidFill>
                  <a:schemeClr val="bg1">
                    <a:lumMod val="50000"/>
                  </a:schemeClr>
                </a:solidFill>
                <a:latin typeface="Trebuchet MS" panose="020B0603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372EB2DC-2ADD-4476-921C-5457C12D154E}"/>
              </a:ext>
            </a:extLst>
          </p:cNvPr>
          <p:cNvSpPr>
            <a:spLocks noGrp="1"/>
          </p:cNvSpPr>
          <p:nvPr>
            <p:ph idx="1"/>
          </p:nvPr>
        </p:nvSpPr>
        <p:spPr>
          <a:xfrm>
            <a:off x="726724" y="1279835"/>
            <a:ext cx="11223186" cy="4937543"/>
          </a:xfrm>
        </p:spPr>
        <p:txBody>
          <a:bodyPr>
            <a:normAutofit/>
          </a:bodyPr>
          <a:lstStyle>
            <a:lvl1pPr>
              <a:defRPr sz="2400">
                <a:solidFill>
                  <a:schemeClr val="bg1">
                    <a:lumMod val="50000"/>
                  </a:schemeClr>
                </a:solidFill>
                <a:latin typeface="Trebuchet MS" panose="020B0603020202020204" pitchFamily="34" charset="0"/>
              </a:defRPr>
            </a:lvl1pPr>
            <a:lvl2pPr>
              <a:defRPr sz="2400">
                <a:solidFill>
                  <a:schemeClr val="bg1">
                    <a:lumMod val="50000"/>
                  </a:schemeClr>
                </a:solidFill>
                <a:latin typeface="Trebuchet MS" panose="020B0603020202020204" pitchFamily="34" charset="0"/>
              </a:defRPr>
            </a:lvl2pPr>
            <a:lvl3pPr>
              <a:defRPr sz="2400">
                <a:solidFill>
                  <a:schemeClr val="bg1">
                    <a:lumMod val="50000"/>
                  </a:schemeClr>
                </a:solidFill>
                <a:latin typeface="Trebuchet MS" panose="020B0603020202020204" pitchFamily="34" charset="0"/>
              </a:defRPr>
            </a:lvl3pPr>
            <a:lvl4pPr>
              <a:defRPr sz="2400">
                <a:solidFill>
                  <a:schemeClr val="bg1">
                    <a:lumMod val="50000"/>
                  </a:schemeClr>
                </a:solidFill>
                <a:latin typeface="Trebuchet MS" panose="020B0603020202020204" pitchFamily="34" charset="0"/>
              </a:defRPr>
            </a:lvl4pPr>
            <a:lvl5pPr>
              <a:defRPr sz="2400">
                <a:solidFill>
                  <a:schemeClr val="bg1">
                    <a:lumMod val="50000"/>
                  </a:schemeClr>
                </a:solidFill>
                <a:latin typeface="Trebuchet MS" panose="020B0603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8B0C41-3748-45BA-AC12-3356750D6CCC}"/>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5" name="Footer Placeholder 4">
            <a:extLst>
              <a:ext uri="{FF2B5EF4-FFF2-40B4-BE49-F238E27FC236}">
                <a16:creationId xmlns:a16="http://schemas.microsoft.com/office/drawing/2014/main" id="{B2BC5298-80C2-435C-BE19-55A311B75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E8E2F2-0AF5-4302-9483-8FB2AC4A12E3}"/>
              </a:ext>
            </a:extLst>
          </p:cNvPr>
          <p:cNvSpPr>
            <a:spLocks noGrp="1"/>
          </p:cNvSpPr>
          <p:nvPr>
            <p:ph type="sldNum" sz="quarter" idx="12"/>
          </p:nvPr>
        </p:nvSpPr>
        <p:spPr/>
        <p:txBody>
          <a:bodyPr/>
          <a:lstStyle/>
          <a:p>
            <a:fld id="{A1FD0E78-183D-4F7D-A18B-8A4BED7B6988}" type="slidenum">
              <a:rPr lang="en-US" smtClean="0"/>
              <a:t>‹#›</a:t>
            </a:fld>
            <a:endParaRPr lang="en-US"/>
          </a:p>
        </p:txBody>
      </p:sp>
      <p:pic>
        <p:nvPicPr>
          <p:cNvPr id="17" name="Picture 16">
            <a:extLst>
              <a:ext uri="{FF2B5EF4-FFF2-40B4-BE49-F238E27FC236}">
                <a16:creationId xmlns:a16="http://schemas.microsoft.com/office/drawing/2014/main" id="{A2FB678F-42B4-4B1B-A00B-9412B4798BDC}"/>
              </a:ext>
            </a:extLst>
          </p:cNvPr>
          <p:cNvPicPr>
            <a:picLocks noChangeAspect="1"/>
          </p:cNvPicPr>
          <p:nvPr userDrawn="1"/>
        </p:nvPicPr>
        <p:blipFill>
          <a:blip r:embed="rId2"/>
          <a:stretch>
            <a:fillRect/>
          </a:stretch>
        </p:blipFill>
        <p:spPr>
          <a:xfrm>
            <a:off x="10789595" y="55928"/>
            <a:ext cx="1160315" cy="369561"/>
          </a:xfrm>
          <a:prstGeom prst="rect">
            <a:avLst/>
          </a:prstGeom>
        </p:spPr>
      </p:pic>
    </p:spTree>
    <p:extLst>
      <p:ext uri="{BB962C8B-B14F-4D97-AF65-F5344CB8AC3E}">
        <p14:creationId xmlns:p14="http://schemas.microsoft.com/office/powerpoint/2010/main" val="419145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1C76EB-EFA3-4D98-BF85-9CBAD51246C3}"/>
              </a:ext>
            </a:extLst>
          </p:cNvPr>
          <p:cNvSpPr/>
          <p:nvPr/>
        </p:nvSpPr>
        <p:spPr>
          <a:xfrm>
            <a:off x="0" y="0"/>
            <a:ext cx="4710545"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F9218A-B816-4B5F-A0BE-D0AAD688BCDE}"/>
              </a:ext>
            </a:extLst>
          </p:cNvPr>
          <p:cNvSpPr/>
          <p:nvPr/>
        </p:nvSpPr>
        <p:spPr>
          <a:xfrm>
            <a:off x="3579669" y="198650"/>
            <a:ext cx="8409707"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E5457F-D05E-4FBC-AA16-B4542B833804}"/>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1" name="Rectangle 10">
            <a:extLst>
              <a:ext uri="{FF2B5EF4-FFF2-40B4-BE49-F238E27FC236}">
                <a16:creationId xmlns:a16="http://schemas.microsoft.com/office/drawing/2014/main" id="{3D20450F-F92F-43A7-B557-0485260B48EC}"/>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2" name="Rectangle 11">
            <a:extLst>
              <a:ext uri="{FF2B5EF4-FFF2-40B4-BE49-F238E27FC236}">
                <a16:creationId xmlns:a16="http://schemas.microsoft.com/office/drawing/2014/main" id="{20D495CD-0755-4CD0-952C-38FDFD818912}"/>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3" name="Rectangle 12">
            <a:extLst>
              <a:ext uri="{FF2B5EF4-FFF2-40B4-BE49-F238E27FC236}">
                <a16:creationId xmlns:a16="http://schemas.microsoft.com/office/drawing/2014/main" id="{F756530E-6471-4A98-9409-D28702635498}"/>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54E16744-0EC5-4409-8030-9D707EE1A1D6}"/>
              </a:ext>
            </a:extLst>
          </p:cNvPr>
          <p:cNvSpPr>
            <a:spLocks noGrp="1"/>
          </p:cNvSpPr>
          <p:nvPr>
            <p:ph type="title"/>
          </p:nvPr>
        </p:nvSpPr>
        <p:spPr>
          <a:xfrm>
            <a:off x="3744686" y="1709739"/>
            <a:ext cx="7602764" cy="1892300"/>
          </a:xfrm>
        </p:spPr>
        <p:txBody>
          <a:bodyPr anchor="ctr">
            <a:normAutofit/>
          </a:bodyPr>
          <a:lstStyle>
            <a:lvl1pPr algn="ctr">
              <a:defRPr sz="3600">
                <a:solidFill>
                  <a:schemeClr val="bg1">
                    <a:lumMod val="50000"/>
                  </a:schemeClr>
                </a:solidFill>
                <a:latin typeface="Trebuchet MS" panose="020B0603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C98CF225-F19A-40FE-9134-ADAC53A2CB8E}"/>
              </a:ext>
            </a:extLst>
          </p:cNvPr>
          <p:cNvSpPr>
            <a:spLocks noGrp="1"/>
          </p:cNvSpPr>
          <p:nvPr>
            <p:ph type="body" idx="1"/>
          </p:nvPr>
        </p:nvSpPr>
        <p:spPr>
          <a:xfrm>
            <a:off x="3744686" y="3649066"/>
            <a:ext cx="7602764" cy="980992"/>
          </a:xfrm>
        </p:spPr>
        <p:txBody>
          <a:bodyPr anchor="ctr">
            <a:normAutofit/>
          </a:bodyPr>
          <a:lstStyle>
            <a:lvl1pPr marL="0" indent="0" algn="ctr">
              <a:buNone/>
              <a:defRPr sz="2000">
                <a:solidFill>
                  <a:srgbClr val="0070C0"/>
                </a:solidFill>
                <a:latin typeface="Trebuchet MS" panose="020B0603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6052890-A463-40F0-8781-AB9ECF34701B}"/>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5" name="Footer Placeholder 4">
            <a:extLst>
              <a:ext uri="{FF2B5EF4-FFF2-40B4-BE49-F238E27FC236}">
                <a16:creationId xmlns:a16="http://schemas.microsoft.com/office/drawing/2014/main" id="{4B4EBFC2-28E7-4B50-9949-2BDA85E26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98516-7864-4AE1-84EA-04757DF14368}"/>
              </a:ext>
            </a:extLst>
          </p:cNvPr>
          <p:cNvSpPr>
            <a:spLocks noGrp="1"/>
          </p:cNvSpPr>
          <p:nvPr>
            <p:ph type="sldNum" sz="quarter" idx="12"/>
          </p:nvPr>
        </p:nvSpPr>
        <p:spPr/>
        <p:txBody>
          <a:bodyPr/>
          <a:lstStyle/>
          <a:p>
            <a:fld id="{A1FD0E78-183D-4F7D-A18B-8A4BED7B6988}" type="slidenum">
              <a:rPr lang="en-US" smtClean="0"/>
              <a:t>‹#›</a:t>
            </a:fld>
            <a:endParaRPr lang="en-US"/>
          </a:p>
        </p:txBody>
      </p:sp>
      <p:cxnSp>
        <p:nvCxnSpPr>
          <p:cNvPr id="14" name="Straight Connector 13">
            <a:extLst>
              <a:ext uri="{FF2B5EF4-FFF2-40B4-BE49-F238E27FC236}">
                <a16:creationId xmlns:a16="http://schemas.microsoft.com/office/drawing/2014/main" id="{709AA055-0DD5-4F16-B6C2-4900CC928098}"/>
              </a:ext>
            </a:extLst>
          </p:cNvPr>
          <p:cNvCxnSpPr/>
          <p:nvPr/>
        </p:nvCxnSpPr>
        <p:spPr>
          <a:xfrm>
            <a:off x="3778624" y="3602038"/>
            <a:ext cx="800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967DAE2-94BE-4209-8E22-ED663BB8DCB2}"/>
              </a:ext>
            </a:extLst>
          </p:cNvPr>
          <p:cNvPicPr>
            <a:picLocks noChangeAspect="1"/>
          </p:cNvPicPr>
          <p:nvPr userDrawn="1"/>
        </p:nvPicPr>
        <p:blipFill>
          <a:blip r:embed="rId2"/>
          <a:stretch>
            <a:fillRect/>
          </a:stretch>
        </p:blipFill>
        <p:spPr>
          <a:xfrm>
            <a:off x="361060" y="2655889"/>
            <a:ext cx="2576683" cy="888103"/>
          </a:xfrm>
          <a:prstGeom prst="rect">
            <a:avLst/>
          </a:prstGeom>
        </p:spPr>
      </p:pic>
    </p:spTree>
    <p:extLst>
      <p:ext uri="{BB962C8B-B14F-4D97-AF65-F5344CB8AC3E}">
        <p14:creationId xmlns:p14="http://schemas.microsoft.com/office/powerpoint/2010/main" val="3753181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8ED813-B8D0-48D3-B71C-48DF5BDC9A90}"/>
              </a:ext>
            </a:extLst>
          </p:cNvPr>
          <p:cNvSpPr/>
          <p:nvPr/>
        </p:nvSpPr>
        <p:spPr>
          <a:xfrm>
            <a:off x="0" y="0"/>
            <a:ext cx="471714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F0879C-37D2-4E04-A609-4FEBD2EB69A2}"/>
              </a:ext>
            </a:extLst>
          </p:cNvPr>
          <p:cNvSpPr/>
          <p:nvPr/>
        </p:nvSpPr>
        <p:spPr>
          <a:xfrm>
            <a:off x="207818" y="201706"/>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C859E1-EF9A-419B-B3AC-AEA4B510D174}"/>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1" name="Rectangle 10">
            <a:extLst>
              <a:ext uri="{FF2B5EF4-FFF2-40B4-BE49-F238E27FC236}">
                <a16:creationId xmlns:a16="http://schemas.microsoft.com/office/drawing/2014/main" id="{D14C3DBE-5B2C-4C2D-8079-CF803A046CD5}"/>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2" name="Rectangle 11">
            <a:extLst>
              <a:ext uri="{FF2B5EF4-FFF2-40B4-BE49-F238E27FC236}">
                <a16:creationId xmlns:a16="http://schemas.microsoft.com/office/drawing/2014/main" id="{ECE1258E-5E7B-49D9-AB2A-3FCE6F2AE3D9}"/>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3" name="Rectangle 12">
            <a:extLst>
              <a:ext uri="{FF2B5EF4-FFF2-40B4-BE49-F238E27FC236}">
                <a16:creationId xmlns:a16="http://schemas.microsoft.com/office/drawing/2014/main" id="{EF2A0B40-AB4B-42CA-AD19-364DF8432A34}"/>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F3355067-D68C-4E9D-814B-94F341ACA832}"/>
              </a:ext>
            </a:extLst>
          </p:cNvPr>
          <p:cNvSpPr>
            <a:spLocks noGrp="1"/>
          </p:cNvSpPr>
          <p:nvPr>
            <p:ph type="title"/>
          </p:nvPr>
        </p:nvSpPr>
        <p:spPr/>
        <p:txBody>
          <a:bodyPr>
            <a:normAutofit/>
          </a:bodyPr>
          <a:lstStyle>
            <a:lvl1pPr>
              <a:defRPr sz="3600">
                <a:solidFill>
                  <a:schemeClr val="tx1">
                    <a:lumMod val="50000"/>
                    <a:lumOff val="50000"/>
                  </a:schemeClr>
                </a:solidFill>
                <a:latin typeface="Trebuchet MS" panose="020B0603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7E56A77-566F-415D-85B3-C170D979EF12}"/>
              </a:ext>
            </a:extLst>
          </p:cNvPr>
          <p:cNvSpPr>
            <a:spLocks noGrp="1"/>
          </p:cNvSpPr>
          <p:nvPr>
            <p:ph sz="half" idx="1"/>
          </p:nvPr>
        </p:nvSpPr>
        <p:spPr>
          <a:xfrm>
            <a:off x="838200" y="1825625"/>
            <a:ext cx="5181600" cy="4351338"/>
          </a:xfrm>
        </p:spPr>
        <p:txBody>
          <a:bodyPr>
            <a:normAutofit/>
          </a:bodyPr>
          <a:lstStyle>
            <a:lvl1pPr>
              <a:defRPr sz="2400">
                <a:solidFill>
                  <a:schemeClr val="tx1">
                    <a:lumMod val="50000"/>
                    <a:lumOff val="50000"/>
                  </a:schemeClr>
                </a:solidFill>
                <a:latin typeface="Trebuchet MS" panose="020B0603020202020204" pitchFamily="34" charset="0"/>
              </a:defRPr>
            </a:lvl1pPr>
            <a:lvl2pPr>
              <a:defRPr sz="2400">
                <a:solidFill>
                  <a:schemeClr val="tx1">
                    <a:lumMod val="50000"/>
                    <a:lumOff val="50000"/>
                  </a:schemeClr>
                </a:solidFill>
                <a:latin typeface="Trebuchet MS" panose="020B0603020202020204" pitchFamily="34" charset="0"/>
              </a:defRPr>
            </a:lvl2pPr>
            <a:lvl3pPr>
              <a:defRPr sz="2400">
                <a:solidFill>
                  <a:schemeClr val="tx1">
                    <a:lumMod val="50000"/>
                    <a:lumOff val="50000"/>
                  </a:schemeClr>
                </a:solidFill>
                <a:latin typeface="Trebuchet MS" panose="020B0603020202020204" pitchFamily="34" charset="0"/>
              </a:defRPr>
            </a:lvl3pPr>
            <a:lvl4pPr>
              <a:defRPr sz="2400">
                <a:solidFill>
                  <a:schemeClr val="tx1">
                    <a:lumMod val="50000"/>
                    <a:lumOff val="50000"/>
                  </a:schemeClr>
                </a:solidFill>
                <a:latin typeface="Trebuchet MS" panose="020B0603020202020204" pitchFamily="34" charset="0"/>
              </a:defRPr>
            </a:lvl4pPr>
            <a:lvl5pPr>
              <a:defRPr sz="2400">
                <a:solidFill>
                  <a:schemeClr val="tx1">
                    <a:lumMod val="50000"/>
                    <a:lumOff val="50000"/>
                  </a:schemeClr>
                </a:solidFill>
                <a:latin typeface="Trebuchet MS" panose="020B0603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022F81A-5D76-4DBF-9DF9-92CD90E7067D}"/>
              </a:ext>
            </a:extLst>
          </p:cNvPr>
          <p:cNvSpPr>
            <a:spLocks noGrp="1"/>
          </p:cNvSpPr>
          <p:nvPr>
            <p:ph sz="half" idx="2"/>
          </p:nvPr>
        </p:nvSpPr>
        <p:spPr>
          <a:xfrm>
            <a:off x="6172200" y="1825625"/>
            <a:ext cx="5181600" cy="4351338"/>
          </a:xfrm>
        </p:spPr>
        <p:txBody>
          <a:bodyPr>
            <a:normAutofit/>
          </a:bodyPr>
          <a:lstStyle>
            <a:lvl1pPr>
              <a:defRPr sz="2400">
                <a:solidFill>
                  <a:schemeClr val="tx1">
                    <a:lumMod val="50000"/>
                    <a:lumOff val="50000"/>
                  </a:schemeClr>
                </a:solidFill>
                <a:latin typeface="Trebuchet MS" panose="020B0603020202020204" pitchFamily="34" charset="0"/>
              </a:defRPr>
            </a:lvl1pPr>
            <a:lvl2pPr>
              <a:defRPr sz="2400">
                <a:solidFill>
                  <a:schemeClr val="tx1">
                    <a:lumMod val="50000"/>
                    <a:lumOff val="50000"/>
                  </a:schemeClr>
                </a:solidFill>
                <a:latin typeface="Trebuchet MS" panose="020B0603020202020204" pitchFamily="34" charset="0"/>
              </a:defRPr>
            </a:lvl2pPr>
            <a:lvl3pPr>
              <a:defRPr sz="2400">
                <a:solidFill>
                  <a:schemeClr val="tx1">
                    <a:lumMod val="50000"/>
                    <a:lumOff val="50000"/>
                  </a:schemeClr>
                </a:solidFill>
                <a:latin typeface="Trebuchet MS" panose="020B0603020202020204" pitchFamily="34" charset="0"/>
              </a:defRPr>
            </a:lvl3pPr>
            <a:lvl4pPr>
              <a:defRPr sz="2400">
                <a:solidFill>
                  <a:schemeClr val="tx1">
                    <a:lumMod val="50000"/>
                    <a:lumOff val="50000"/>
                  </a:schemeClr>
                </a:solidFill>
                <a:latin typeface="Trebuchet MS" panose="020B0603020202020204" pitchFamily="34" charset="0"/>
              </a:defRPr>
            </a:lvl4pPr>
            <a:lvl5pPr>
              <a:defRPr sz="2400">
                <a:solidFill>
                  <a:schemeClr val="tx1">
                    <a:lumMod val="50000"/>
                    <a:lumOff val="50000"/>
                  </a:schemeClr>
                </a:solidFill>
                <a:latin typeface="Trebuchet MS" panose="020B0603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1F8005-F81C-45EB-B6F5-872E765EC87A}"/>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6" name="Footer Placeholder 5">
            <a:extLst>
              <a:ext uri="{FF2B5EF4-FFF2-40B4-BE49-F238E27FC236}">
                <a16:creationId xmlns:a16="http://schemas.microsoft.com/office/drawing/2014/main" id="{2062E53F-F0E3-4A6E-B3B1-F5491F5488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B69BF3-2B4A-42F7-B934-99F11627F82D}"/>
              </a:ext>
            </a:extLst>
          </p:cNvPr>
          <p:cNvSpPr>
            <a:spLocks noGrp="1"/>
          </p:cNvSpPr>
          <p:nvPr>
            <p:ph type="sldNum" sz="quarter" idx="12"/>
          </p:nvPr>
        </p:nvSpPr>
        <p:spPr/>
        <p:txBody>
          <a:bodyPr/>
          <a:lstStyle/>
          <a:p>
            <a:fld id="{A1FD0E78-183D-4F7D-A18B-8A4BED7B6988}" type="slidenum">
              <a:rPr lang="en-US" smtClean="0"/>
              <a:t>‹#›</a:t>
            </a:fld>
            <a:endParaRPr lang="en-US"/>
          </a:p>
        </p:txBody>
      </p:sp>
      <p:pic>
        <p:nvPicPr>
          <p:cNvPr id="15" name="Picture 14">
            <a:extLst>
              <a:ext uri="{FF2B5EF4-FFF2-40B4-BE49-F238E27FC236}">
                <a16:creationId xmlns:a16="http://schemas.microsoft.com/office/drawing/2014/main" id="{34BA25E5-0AF4-4191-B558-CB13E0C1872E}"/>
              </a:ext>
            </a:extLst>
          </p:cNvPr>
          <p:cNvPicPr>
            <a:picLocks noChangeAspect="1"/>
          </p:cNvPicPr>
          <p:nvPr userDrawn="1"/>
        </p:nvPicPr>
        <p:blipFill>
          <a:blip r:embed="rId2"/>
          <a:stretch>
            <a:fillRect/>
          </a:stretch>
        </p:blipFill>
        <p:spPr>
          <a:xfrm>
            <a:off x="10773642" y="199649"/>
            <a:ext cx="1160315" cy="369561"/>
          </a:xfrm>
          <a:prstGeom prst="rect">
            <a:avLst/>
          </a:prstGeom>
        </p:spPr>
      </p:pic>
    </p:spTree>
    <p:extLst>
      <p:ext uri="{BB962C8B-B14F-4D97-AF65-F5344CB8AC3E}">
        <p14:creationId xmlns:p14="http://schemas.microsoft.com/office/powerpoint/2010/main" val="2838539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94546B-A81A-48D4-B4C5-7E2E6285F424}"/>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C06CAA-5E4F-43E2-8A98-36361486A3A4}"/>
              </a:ext>
            </a:extLst>
          </p:cNvPr>
          <p:cNvSpPr/>
          <p:nvPr/>
        </p:nvSpPr>
        <p:spPr>
          <a:xfrm>
            <a:off x="207818" y="201706"/>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8E28CB-622A-4807-91B6-87A76E180121}"/>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3" name="Rectangle 12">
            <a:extLst>
              <a:ext uri="{FF2B5EF4-FFF2-40B4-BE49-F238E27FC236}">
                <a16:creationId xmlns:a16="http://schemas.microsoft.com/office/drawing/2014/main" id="{9C30D63E-AE12-491E-81E4-B3C25BA710AC}"/>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4" name="Rectangle 13">
            <a:extLst>
              <a:ext uri="{FF2B5EF4-FFF2-40B4-BE49-F238E27FC236}">
                <a16:creationId xmlns:a16="http://schemas.microsoft.com/office/drawing/2014/main" id="{BEA4929A-0E7F-4B2B-81BC-6899210E604F}"/>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5" name="Rectangle 14">
            <a:extLst>
              <a:ext uri="{FF2B5EF4-FFF2-40B4-BE49-F238E27FC236}">
                <a16:creationId xmlns:a16="http://schemas.microsoft.com/office/drawing/2014/main" id="{4C27A026-FFDC-4CB9-9AB8-BB4B31660FD8}"/>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FA67B1EE-D3B9-4A72-BB78-BEAFBE1FD62F}"/>
              </a:ext>
            </a:extLst>
          </p:cNvPr>
          <p:cNvSpPr>
            <a:spLocks noGrp="1"/>
          </p:cNvSpPr>
          <p:nvPr>
            <p:ph type="title"/>
          </p:nvPr>
        </p:nvSpPr>
        <p:spPr>
          <a:xfrm>
            <a:off x="839788" y="365125"/>
            <a:ext cx="10515600" cy="1325563"/>
          </a:xfrm>
        </p:spPr>
        <p:txBody>
          <a:bodyPr>
            <a:normAutofit/>
          </a:bodyPr>
          <a:lstStyle>
            <a:lvl1pPr>
              <a:defRPr sz="3600">
                <a:solidFill>
                  <a:schemeClr val="tx1">
                    <a:lumMod val="50000"/>
                    <a:lumOff val="50000"/>
                  </a:schemeClr>
                </a:solidFill>
                <a:latin typeface="Trebuchet MS" panose="020B0603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53C1261F-F460-4F19-99F4-F65B97B6FB44}"/>
              </a:ext>
            </a:extLst>
          </p:cNvPr>
          <p:cNvSpPr>
            <a:spLocks noGrp="1"/>
          </p:cNvSpPr>
          <p:nvPr>
            <p:ph type="body" idx="1"/>
          </p:nvPr>
        </p:nvSpPr>
        <p:spPr>
          <a:xfrm>
            <a:off x="839788" y="1681163"/>
            <a:ext cx="5157787" cy="823912"/>
          </a:xfrm>
        </p:spPr>
        <p:txBody>
          <a:bodyPr anchor="b"/>
          <a:lstStyle>
            <a:lvl1pPr marL="0" indent="0">
              <a:buNone/>
              <a:defRPr sz="2400" b="1">
                <a:solidFill>
                  <a:schemeClr val="tx1">
                    <a:lumMod val="50000"/>
                    <a:lumOff val="50000"/>
                  </a:schemeClr>
                </a:solidFill>
                <a:latin typeface="Trebuchet MS" panose="020B0603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D0C84E1E-AD39-414E-A630-BB5F20BC8A9B}"/>
              </a:ext>
            </a:extLst>
          </p:cNvPr>
          <p:cNvSpPr>
            <a:spLocks noGrp="1"/>
          </p:cNvSpPr>
          <p:nvPr>
            <p:ph sz="half" idx="2"/>
          </p:nvPr>
        </p:nvSpPr>
        <p:spPr>
          <a:xfrm>
            <a:off x="839788" y="2505075"/>
            <a:ext cx="5157787" cy="3684588"/>
          </a:xfrm>
        </p:spPr>
        <p:txBody>
          <a:bodyPr/>
          <a:lstStyle>
            <a:lvl1pPr>
              <a:defRPr>
                <a:solidFill>
                  <a:schemeClr val="tx1">
                    <a:lumMod val="50000"/>
                    <a:lumOff val="50000"/>
                  </a:schemeClr>
                </a:solidFill>
                <a:latin typeface="Trebuchet MS" panose="020B0603020202020204" pitchFamily="34" charset="0"/>
              </a:defRPr>
            </a:lvl1pPr>
            <a:lvl2pPr>
              <a:defRPr>
                <a:solidFill>
                  <a:schemeClr val="tx1">
                    <a:lumMod val="50000"/>
                    <a:lumOff val="50000"/>
                  </a:schemeClr>
                </a:solidFill>
                <a:latin typeface="Trebuchet MS" panose="020B0603020202020204" pitchFamily="34" charset="0"/>
              </a:defRPr>
            </a:lvl2pPr>
            <a:lvl3pPr>
              <a:defRPr>
                <a:solidFill>
                  <a:schemeClr val="tx1">
                    <a:lumMod val="50000"/>
                    <a:lumOff val="50000"/>
                  </a:schemeClr>
                </a:solidFill>
                <a:latin typeface="Trebuchet MS" panose="020B0603020202020204" pitchFamily="34" charset="0"/>
              </a:defRPr>
            </a:lvl3pPr>
            <a:lvl4pPr>
              <a:defRPr>
                <a:solidFill>
                  <a:schemeClr val="tx1">
                    <a:lumMod val="50000"/>
                    <a:lumOff val="50000"/>
                  </a:schemeClr>
                </a:solidFill>
                <a:latin typeface="Trebuchet MS" panose="020B0603020202020204" pitchFamily="34" charset="0"/>
              </a:defRPr>
            </a:lvl4pPr>
            <a:lvl5pPr>
              <a:defRPr>
                <a:solidFill>
                  <a:schemeClr val="tx1">
                    <a:lumMod val="50000"/>
                    <a:lumOff val="50000"/>
                  </a:schemeClr>
                </a:solidFill>
                <a:latin typeface="Trebuchet MS" panose="020B0603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EEA01E5-2430-4A1C-8323-5D191529BD67}"/>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tx1">
                    <a:lumMod val="50000"/>
                    <a:lumOff val="50000"/>
                  </a:schemeClr>
                </a:solidFill>
                <a:latin typeface="Trebuchet MS" panose="020B0603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B4C4A9DA-01AC-4343-9532-A824358CD679}"/>
              </a:ext>
            </a:extLst>
          </p:cNvPr>
          <p:cNvSpPr>
            <a:spLocks noGrp="1"/>
          </p:cNvSpPr>
          <p:nvPr>
            <p:ph sz="quarter" idx="4"/>
          </p:nvPr>
        </p:nvSpPr>
        <p:spPr>
          <a:xfrm>
            <a:off x="6172200" y="2505075"/>
            <a:ext cx="5183188" cy="3684588"/>
          </a:xfrm>
        </p:spPr>
        <p:txBody>
          <a:bodyPr/>
          <a:lstStyle>
            <a:lvl1pPr>
              <a:defRPr>
                <a:solidFill>
                  <a:schemeClr val="tx1">
                    <a:lumMod val="50000"/>
                    <a:lumOff val="50000"/>
                  </a:schemeClr>
                </a:solidFill>
                <a:latin typeface="Trebuchet MS" panose="020B0603020202020204" pitchFamily="34" charset="0"/>
              </a:defRPr>
            </a:lvl1pPr>
            <a:lvl2pPr>
              <a:defRPr>
                <a:solidFill>
                  <a:schemeClr val="tx1">
                    <a:lumMod val="50000"/>
                    <a:lumOff val="50000"/>
                  </a:schemeClr>
                </a:solidFill>
                <a:latin typeface="Trebuchet MS" panose="020B0603020202020204" pitchFamily="34" charset="0"/>
              </a:defRPr>
            </a:lvl2pPr>
            <a:lvl3pPr>
              <a:defRPr>
                <a:solidFill>
                  <a:schemeClr val="tx1">
                    <a:lumMod val="50000"/>
                    <a:lumOff val="50000"/>
                  </a:schemeClr>
                </a:solidFill>
                <a:latin typeface="Trebuchet MS" panose="020B0603020202020204" pitchFamily="34" charset="0"/>
              </a:defRPr>
            </a:lvl3pPr>
            <a:lvl4pPr>
              <a:defRPr>
                <a:solidFill>
                  <a:schemeClr val="tx1">
                    <a:lumMod val="50000"/>
                    <a:lumOff val="50000"/>
                  </a:schemeClr>
                </a:solidFill>
                <a:latin typeface="Trebuchet MS" panose="020B0603020202020204" pitchFamily="34" charset="0"/>
              </a:defRPr>
            </a:lvl4pPr>
            <a:lvl5pPr>
              <a:defRPr>
                <a:solidFill>
                  <a:schemeClr val="tx1">
                    <a:lumMod val="50000"/>
                    <a:lumOff val="50000"/>
                  </a:schemeClr>
                </a:solidFill>
                <a:latin typeface="Trebuchet MS" panose="020B0603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A9BA755-AEE2-4001-8DE6-415A8DBF9673}"/>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8" name="Footer Placeholder 7">
            <a:extLst>
              <a:ext uri="{FF2B5EF4-FFF2-40B4-BE49-F238E27FC236}">
                <a16:creationId xmlns:a16="http://schemas.microsoft.com/office/drawing/2014/main" id="{823B665F-223D-495A-BDBB-E3363CAFC9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9B297C-3F38-49A1-953B-17E3F6F667AE}"/>
              </a:ext>
            </a:extLst>
          </p:cNvPr>
          <p:cNvSpPr>
            <a:spLocks noGrp="1"/>
          </p:cNvSpPr>
          <p:nvPr>
            <p:ph type="sldNum" sz="quarter" idx="12"/>
          </p:nvPr>
        </p:nvSpPr>
        <p:spPr/>
        <p:txBody>
          <a:bodyPr/>
          <a:lstStyle/>
          <a:p>
            <a:fld id="{A1FD0E78-183D-4F7D-A18B-8A4BED7B6988}" type="slidenum">
              <a:rPr lang="en-US" smtClean="0"/>
              <a:t>‹#›</a:t>
            </a:fld>
            <a:endParaRPr lang="en-US"/>
          </a:p>
        </p:txBody>
      </p:sp>
      <p:pic>
        <p:nvPicPr>
          <p:cNvPr id="17" name="Picture 16">
            <a:extLst>
              <a:ext uri="{FF2B5EF4-FFF2-40B4-BE49-F238E27FC236}">
                <a16:creationId xmlns:a16="http://schemas.microsoft.com/office/drawing/2014/main" id="{DCF6460B-1630-433C-ACEE-88F0534A20BB}"/>
              </a:ext>
            </a:extLst>
          </p:cNvPr>
          <p:cNvPicPr>
            <a:picLocks noChangeAspect="1"/>
          </p:cNvPicPr>
          <p:nvPr userDrawn="1"/>
        </p:nvPicPr>
        <p:blipFill>
          <a:blip r:embed="rId2"/>
          <a:stretch>
            <a:fillRect/>
          </a:stretch>
        </p:blipFill>
        <p:spPr>
          <a:xfrm>
            <a:off x="10789595" y="242667"/>
            <a:ext cx="1160315" cy="369561"/>
          </a:xfrm>
          <a:prstGeom prst="rect">
            <a:avLst/>
          </a:prstGeom>
        </p:spPr>
      </p:pic>
    </p:spTree>
    <p:extLst>
      <p:ext uri="{BB962C8B-B14F-4D97-AF65-F5344CB8AC3E}">
        <p14:creationId xmlns:p14="http://schemas.microsoft.com/office/powerpoint/2010/main" val="26505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856098-1DA3-49E8-91B8-CAA5CDB7382E}"/>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AD2C0DA-73C9-4A83-97A2-EB4541745B64}"/>
              </a:ext>
            </a:extLst>
          </p:cNvPr>
          <p:cNvSpPr/>
          <p:nvPr/>
        </p:nvSpPr>
        <p:spPr>
          <a:xfrm>
            <a:off x="207818" y="201706"/>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83A0938-3C8A-4ACA-8AD0-352B444392A9}"/>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9" name="Rectangle 8">
            <a:extLst>
              <a:ext uri="{FF2B5EF4-FFF2-40B4-BE49-F238E27FC236}">
                <a16:creationId xmlns:a16="http://schemas.microsoft.com/office/drawing/2014/main" id="{2FE9A254-00DC-4FF4-ABF3-8D548470A822}"/>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0" name="Rectangle 9">
            <a:extLst>
              <a:ext uri="{FF2B5EF4-FFF2-40B4-BE49-F238E27FC236}">
                <a16:creationId xmlns:a16="http://schemas.microsoft.com/office/drawing/2014/main" id="{27E83A17-368C-4CF3-93EE-956780C13754}"/>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1" name="Rectangle 10">
            <a:extLst>
              <a:ext uri="{FF2B5EF4-FFF2-40B4-BE49-F238E27FC236}">
                <a16:creationId xmlns:a16="http://schemas.microsoft.com/office/drawing/2014/main" id="{F86DDFCB-6B13-4853-B2B2-7FDD576847E1}"/>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634473C1-75AC-4CC3-97E1-56E2CDDB9EEA}"/>
              </a:ext>
            </a:extLst>
          </p:cNvPr>
          <p:cNvSpPr>
            <a:spLocks noGrp="1"/>
          </p:cNvSpPr>
          <p:nvPr>
            <p:ph type="title"/>
          </p:nvPr>
        </p:nvSpPr>
        <p:spPr/>
        <p:txBody>
          <a:bodyPr>
            <a:normAutofit/>
          </a:bodyPr>
          <a:lstStyle>
            <a:lvl1pPr>
              <a:defRPr sz="3600">
                <a:solidFill>
                  <a:schemeClr val="tx1">
                    <a:lumMod val="50000"/>
                    <a:lumOff val="50000"/>
                  </a:schemeClr>
                </a:solidFill>
                <a:latin typeface="Trebuchet MS" panose="020B0603020202020204" pitchFamily="34"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8027F37E-14E1-44B3-BCD8-AEBD153A14BA}"/>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4" name="Footer Placeholder 3">
            <a:extLst>
              <a:ext uri="{FF2B5EF4-FFF2-40B4-BE49-F238E27FC236}">
                <a16:creationId xmlns:a16="http://schemas.microsoft.com/office/drawing/2014/main" id="{3EEB09FB-ACF3-4E2F-B66D-3E13733A5B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D82C6C-9BFE-4C90-A547-8C325C55EAA2}"/>
              </a:ext>
            </a:extLst>
          </p:cNvPr>
          <p:cNvSpPr>
            <a:spLocks noGrp="1"/>
          </p:cNvSpPr>
          <p:nvPr>
            <p:ph type="sldNum" sz="quarter" idx="12"/>
          </p:nvPr>
        </p:nvSpPr>
        <p:spPr/>
        <p:txBody>
          <a:bodyPr/>
          <a:lstStyle/>
          <a:p>
            <a:fld id="{A1FD0E78-183D-4F7D-A18B-8A4BED7B6988}" type="slidenum">
              <a:rPr lang="en-US" smtClean="0"/>
              <a:t>‹#›</a:t>
            </a:fld>
            <a:endParaRPr lang="en-US"/>
          </a:p>
        </p:txBody>
      </p:sp>
      <p:pic>
        <p:nvPicPr>
          <p:cNvPr id="13" name="Picture 12">
            <a:extLst>
              <a:ext uri="{FF2B5EF4-FFF2-40B4-BE49-F238E27FC236}">
                <a16:creationId xmlns:a16="http://schemas.microsoft.com/office/drawing/2014/main" id="{0FE326E1-14EF-40AF-BF3C-03C0FCEB848F}"/>
              </a:ext>
            </a:extLst>
          </p:cNvPr>
          <p:cNvPicPr>
            <a:picLocks noChangeAspect="1"/>
          </p:cNvPicPr>
          <p:nvPr userDrawn="1"/>
        </p:nvPicPr>
        <p:blipFill>
          <a:blip r:embed="rId2"/>
          <a:stretch>
            <a:fillRect/>
          </a:stretch>
        </p:blipFill>
        <p:spPr>
          <a:xfrm>
            <a:off x="10789595" y="175200"/>
            <a:ext cx="1160315" cy="369561"/>
          </a:xfrm>
          <a:prstGeom prst="rect">
            <a:avLst/>
          </a:prstGeom>
        </p:spPr>
      </p:pic>
    </p:spTree>
    <p:extLst>
      <p:ext uri="{BB962C8B-B14F-4D97-AF65-F5344CB8AC3E}">
        <p14:creationId xmlns:p14="http://schemas.microsoft.com/office/powerpoint/2010/main" val="3783065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FA0252-28E1-40E5-ACE6-20D14F5256B9}"/>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E618FD9-31FC-4567-B182-23204706A8B0}"/>
              </a:ext>
            </a:extLst>
          </p:cNvPr>
          <p:cNvSpPr/>
          <p:nvPr/>
        </p:nvSpPr>
        <p:spPr>
          <a:xfrm>
            <a:off x="207818" y="201706"/>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B29B7B4-B37A-4ECF-85D2-5A66AA4D9A3E}"/>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8" name="Rectangle 7">
            <a:extLst>
              <a:ext uri="{FF2B5EF4-FFF2-40B4-BE49-F238E27FC236}">
                <a16:creationId xmlns:a16="http://schemas.microsoft.com/office/drawing/2014/main" id="{CCF4FB33-76DE-4704-8B1A-C3FE16F507E2}"/>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9" name="Rectangle 8">
            <a:extLst>
              <a:ext uri="{FF2B5EF4-FFF2-40B4-BE49-F238E27FC236}">
                <a16:creationId xmlns:a16="http://schemas.microsoft.com/office/drawing/2014/main" id="{58A894C9-4BA3-403A-B5F2-D596A188AF2F}"/>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0" name="Rectangle 9">
            <a:extLst>
              <a:ext uri="{FF2B5EF4-FFF2-40B4-BE49-F238E27FC236}">
                <a16:creationId xmlns:a16="http://schemas.microsoft.com/office/drawing/2014/main" id="{970B9174-D03E-4D6F-A8E5-B9D3C8C2DB80}"/>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Date Placeholder 1">
            <a:extLst>
              <a:ext uri="{FF2B5EF4-FFF2-40B4-BE49-F238E27FC236}">
                <a16:creationId xmlns:a16="http://schemas.microsoft.com/office/drawing/2014/main" id="{7839A89A-4F67-468F-80FE-0E3680B1A7D2}"/>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3" name="Footer Placeholder 2">
            <a:extLst>
              <a:ext uri="{FF2B5EF4-FFF2-40B4-BE49-F238E27FC236}">
                <a16:creationId xmlns:a16="http://schemas.microsoft.com/office/drawing/2014/main" id="{5C101976-8FCF-4B4F-B90A-B5E724625A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6AE299-AC97-4CB0-8712-61CB13DAB778}"/>
              </a:ext>
            </a:extLst>
          </p:cNvPr>
          <p:cNvSpPr>
            <a:spLocks noGrp="1"/>
          </p:cNvSpPr>
          <p:nvPr>
            <p:ph type="sldNum" sz="quarter" idx="12"/>
          </p:nvPr>
        </p:nvSpPr>
        <p:spPr/>
        <p:txBody>
          <a:bodyPr/>
          <a:lstStyle/>
          <a:p>
            <a:fld id="{A1FD0E78-183D-4F7D-A18B-8A4BED7B6988}" type="slidenum">
              <a:rPr lang="en-US" smtClean="0"/>
              <a:t>‹#›</a:t>
            </a:fld>
            <a:endParaRPr lang="en-US"/>
          </a:p>
        </p:txBody>
      </p:sp>
      <p:pic>
        <p:nvPicPr>
          <p:cNvPr id="12" name="Picture 11">
            <a:extLst>
              <a:ext uri="{FF2B5EF4-FFF2-40B4-BE49-F238E27FC236}">
                <a16:creationId xmlns:a16="http://schemas.microsoft.com/office/drawing/2014/main" id="{B5D6A982-794C-4671-A7B6-BEA96B4354C3}"/>
              </a:ext>
            </a:extLst>
          </p:cNvPr>
          <p:cNvPicPr>
            <a:picLocks noChangeAspect="1"/>
          </p:cNvPicPr>
          <p:nvPr userDrawn="1"/>
        </p:nvPicPr>
        <p:blipFill>
          <a:blip r:embed="rId2"/>
          <a:stretch>
            <a:fillRect/>
          </a:stretch>
        </p:blipFill>
        <p:spPr>
          <a:xfrm>
            <a:off x="10776343" y="175200"/>
            <a:ext cx="1160315" cy="369561"/>
          </a:xfrm>
          <a:prstGeom prst="rect">
            <a:avLst/>
          </a:prstGeom>
        </p:spPr>
      </p:pic>
    </p:spTree>
    <p:extLst>
      <p:ext uri="{BB962C8B-B14F-4D97-AF65-F5344CB8AC3E}">
        <p14:creationId xmlns:p14="http://schemas.microsoft.com/office/powerpoint/2010/main" val="3528334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6CCC9-CB97-4066-B6DA-4148BB88F6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6ECEE-E57D-455E-A22A-6DE67E6B8B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E2D1F0-214E-43F0-A7BC-42F93E547B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0B125E7-FC1E-4111-8E29-520E9E6AFC29}"/>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6" name="Footer Placeholder 5">
            <a:extLst>
              <a:ext uri="{FF2B5EF4-FFF2-40B4-BE49-F238E27FC236}">
                <a16:creationId xmlns:a16="http://schemas.microsoft.com/office/drawing/2014/main" id="{856E390C-8CD6-41DF-B8A7-0EA86E704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4D1209-8122-481B-93F3-CD9D18358AD5}"/>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2872829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1060-B002-4A29-A677-95E1A92CC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A23B8C-6470-4EFE-BA18-C7C748C1CA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C14D961-FD3B-461E-A88E-64AC4821E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64AF84C-0554-4D2A-95E2-84C361AAEDFA}"/>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6" name="Footer Placeholder 5">
            <a:extLst>
              <a:ext uri="{FF2B5EF4-FFF2-40B4-BE49-F238E27FC236}">
                <a16:creationId xmlns:a16="http://schemas.microsoft.com/office/drawing/2014/main" id="{682BC5B5-70F3-4D7C-9421-4846A194AF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0C9E27-8F16-42E6-B25A-6357B56B30CB}"/>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3978059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1346-0FB6-45C7-A96E-DBDDF4C7C0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29AF55-8DB4-4235-B18B-7CA1658AEA7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36DFF-55B4-41FE-BF5D-FC115ECB708B}"/>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5" name="Footer Placeholder 4">
            <a:extLst>
              <a:ext uri="{FF2B5EF4-FFF2-40B4-BE49-F238E27FC236}">
                <a16:creationId xmlns:a16="http://schemas.microsoft.com/office/drawing/2014/main" id="{CB1B04A8-2C06-4BAA-A780-6380C576F9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476E6-F3EA-4F13-B40F-1978B532D33E}"/>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1738558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DEE29A-7B74-4351-AF12-4B1C4A1C7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3DBD61-8BBB-4413-B521-69C6BA2EBDB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B486CF-3404-43E2-AAB7-B052FC466837}"/>
              </a:ext>
            </a:extLst>
          </p:cNvPr>
          <p:cNvSpPr>
            <a:spLocks noGrp="1"/>
          </p:cNvSpPr>
          <p:nvPr>
            <p:ph type="dt" sz="half" idx="10"/>
          </p:nvPr>
        </p:nvSpPr>
        <p:spPr/>
        <p:txBody>
          <a:bodyPr/>
          <a:lstStyle/>
          <a:p>
            <a:fld id="{D2474CCF-98B4-411A-8810-C31E8C29E19B}" type="datetimeFigureOut">
              <a:rPr lang="en-US" smtClean="0"/>
              <a:t>12/28/2022</a:t>
            </a:fld>
            <a:endParaRPr lang="en-US"/>
          </a:p>
        </p:txBody>
      </p:sp>
      <p:sp>
        <p:nvSpPr>
          <p:cNvPr id="5" name="Footer Placeholder 4">
            <a:extLst>
              <a:ext uri="{FF2B5EF4-FFF2-40B4-BE49-F238E27FC236}">
                <a16:creationId xmlns:a16="http://schemas.microsoft.com/office/drawing/2014/main" id="{F37AE448-840B-441A-88AC-D0E89CE174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56B10-E457-4193-8E4C-4179814527ED}"/>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1506037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2EF02-B3FB-409B-B71D-7DB59224D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D66FC5-8BC1-45FA-8841-F34FA58FD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7B98F-173F-4961-A753-124D5F25AE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474CCF-98B4-411A-8810-C31E8C29E19B}" type="datetimeFigureOut">
              <a:rPr lang="en-US" smtClean="0"/>
              <a:t>12/28/2022</a:t>
            </a:fld>
            <a:endParaRPr lang="en-US"/>
          </a:p>
        </p:txBody>
      </p:sp>
      <p:sp>
        <p:nvSpPr>
          <p:cNvPr id="5" name="Footer Placeholder 4">
            <a:extLst>
              <a:ext uri="{FF2B5EF4-FFF2-40B4-BE49-F238E27FC236}">
                <a16:creationId xmlns:a16="http://schemas.microsoft.com/office/drawing/2014/main" id="{69DB7A21-CD9E-479E-AAB2-6CC376E9F6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ABC126-58FF-4F4D-A936-FEFCC877EF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D0E78-183D-4F7D-A18B-8A4BED7B6988}" type="slidenum">
              <a:rPr lang="en-US" smtClean="0"/>
              <a:t>‹#›</a:t>
            </a:fld>
            <a:endParaRPr lang="en-US"/>
          </a:p>
        </p:txBody>
      </p:sp>
    </p:spTree>
    <p:extLst>
      <p:ext uri="{BB962C8B-B14F-4D97-AF65-F5344CB8AC3E}">
        <p14:creationId xmlns:p14="http://schemas.microsoft.com/office/powerpoint/2010/main" val="36069273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F88C2-D62C-496E-8359-A6E42ABBE5C2}"/>
              </a:ext>
            </a:extLst>
          </p:cNvPr>
          <p:cNvSpPr>
            <a:spLocks noGrp="1"/>
          </p:cNvSpPr>
          <p:nvPr>
            <p:ph type="ctrTitle"/>
          </p:nvPr>
        </p:nvSpPr>
        <p:spPr/>
        <p:txBody>
          <a:bodyPr/>
          <a:lstStyle/>
          <a:p>
            <a:r>
              <a:rPr lang="en-US" dirty="0"/>
              <a:t>.NET</a:t>
            </a:r>
          </a:p>
        </p:txBody>
      </p:sp>
      <p:sp>
        <p:nvSpPr>
          <p:cNvPr id="3" name="Subtitle 2">
            <a:extLst>
              <a:ext uri="{FF2B5EF4-FFF2-40B4-BE49-F238E27FC236}">
                <a16:creationId xmlns:a16="http://schemas.microsoft.com/office/drawing/2014/main" id="{D66627D2-8B6B-4DCC-9D83-1FA969EFAFA0}"/>
              </a:ext>
            </a:extLst>
          </p:cNvPr>
          <p:cNvSpPr>
            <a:spLocks noGrp="1"/>
          </p:cNvSpPr>
          <p:nvPr>
            <p:ph type="subTitle" idx="1"/>
          </p:nvPr>
        </p:nvSpPr>
        <p:spPr/>
        <p:txBody>
          <a:bodyPr>
            <a:normAutofit/>
          </a:bodyPr>
          <a:lstStyle/>
          <a:p>
            <a:r>
              <a:rPr lang="en-US"/>
              <a:t>Sunita Jain</a:t>
            </a:r>
            <a:endParaRPr lang="en-US" dirty="0"/>
          </a:p>
        </p:txBody>
      </p:sp>
      <p:sp>
        <p:nvSpPr>
          <p:cNvPr id="8" name="Rectangle 7">
            <a:extLst>
              <a:ext uri="{FF2B5EF4-FFF2-40B4-BE49-F238E27FC236}">
                <a16:creationId xmlns:a16="http://schemas.microsoft.com/office/drawing/2014/main" id="{1ED7CC92-A208-4429-A93A-6D845F302C6D}"/>
              </a:ext>
            </a:extLst>
          </p:cNvPr>
          <p:cNvSpPr/>
          <p:nvPr/>
        </p:nvSpPr>
        <p:spPr>
          <a:xfrm>
            <a:off x="5098473" y="4572000"/>
            <a:ext cx="5167745" cy="1413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6091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C9BE4-06D3-434D-96D5-97A27D5B9B3A}"/>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34F304C7-1574-4513-B995-BFFAE21591AA}"/>
              </a:ext>
            </a:extLst>
          </p:cNvPr>
          <p:cNvSpPr>
            <a:spLocks noGrp="1"/>
          </p:cNvSpPr>
          <p:nvPr>
            <p:ph idx="1"/>
          </p:nvPr>
        </p:nvSpPr>
        <p:spPr/>
        <p:txBody>
          <a:bodyPr>
            <a:normAutofit/>
          </a:bodyPr>
          <a:lstStyle/>
          <a:p>
            <a:r>
              <a:rPr lang="en-IN" dirty="0"/>
              <a:t>Features of C#</a:t>
            </a:r>
          </a:p>
          <a:p>
            <a:r>
              <a:rPr lang="en-IN" dirty="0"/>
              <a:t> C# Compilation and Execution</a:t>
            </a:r>
          </a:p>
          <a:p>
            <a:r>
              <a:rPr lang="en-IN" dirty="0"/>
              <a:t> Assemblies – EXE and DLL</a:t>
            </a:r>
          </a:p>
          <a:p>
            <a:r>
              <a:rPr lang="en-IN" dirty="0"/>
              <a:t> Creating and Using a DLL</a:t>
            </a:r>
          </a:p>
          <a:p>
            <a:r>
              <a:rPr lang="en-IN" dirty="0"/>
              <a:t>Classes</a:t>
            </a:r>
            <a:r>
              <a:rPr lang="en-IN"/>
              <a:t>, Objects and Methods</a:t>
            </a:r>
            <a:endParaRPr lang="en-IN" dirty="0"/>
          </a:p>
          <a:p>
            <a:r>
              <a:rPr lang="en-IN" dirty="0"/>
              <a:t> Data Types in C#</a:t>
            </a:r>
          </a:p>
          <a:p>
            <a:r>
              <a:rPr lang="en-IN" dirty="0"/>
              <a:t> Value Types and Reference Types</a:t>
            </a:r>
          </a:p>
          <a:p>
            <a:r>
              <a:rPr lang="en-IN" dirty="0"/>
              <a:t>Single Dimensional, Multi-Dimensional &amp; Jagged arrays</a:t>
            </a:r>
          </a:p>
          <a:p>
            <a:r>
              <a:rPr lang="en-IN" dirty="0"/>
              <a:t> Implicitly Typed Local variables</a:t>
            </a:r>
          </a:p>
          <a:p>
            <a:r>
              <a:rPr lang="en-IN" dirty="0"/>
              <a:t> Var Keyword</a:t>
            </a:r>
          </a:p>
          <a:p>
            <a:endParaRPr lang="en-IN" dirty="0"/>
          </a:p>
        </p:txBody>
      </p:sp>
    </p:spTree>
    <p:extLst>
      <p:ext uri="{BB962C8B-B14F-4D97-AF65-F5344CB8AC3E}">
        <p14:creationId xmlns:p14="http://schemas.microsoft.com/office/powerpoint/2010/main" val="1526077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3AFC-C220-4038-ACF0-E5D4B3B57FD0}"/>
              </a:ext>
            </a:extLst>
          </p:cNvPr>
          <p:cNvSpPr>
            <a:spLocks noGrp="1"/>
          </p:cNvSpPr>
          <p:nvPr>
            <p:ph type="title"/>
          </p:nvPr>
        </p:nvSpPr>
        <p:spPr/>
        <p:txBody>
          <a:bodyPr/>
          <a:lstStyle/>
          <a:p>
            <a:r>
              <a:rPr lang="en-US" dirty="0"/>
              <a:t>What is .NET?</a:t>
            </a:r>
          </a:p>
        </p:txBody>
      </p:sp>
      <p:sp>
        <p:nvSpPr>
          <p:cNvPr id="4" name="Content Placeholder 3">
            <a:extLst>
              <a:ext uri="{FF2B5EF4-FFF2-40B4-BE49-F238E27FC236}">
                <a16:creationId xmlns:a16="http://schemas.microsoft.com/office/drawing/2014/main" id="{0146DD26-E59E-4BAA-A74F-05E44312CC29}"/>
              </a:ext>
            </a:extLst>
          </p:cNvPr>
          <p:cNvSpPr>
            <a:spLocks noGrp="1"/>
          </p:cNvSpPr>
          <p:nvPr>
            <p:ph idx="1"/>
          </p:nvPr>
        </p:nvSpPr>
        <p:spPr/>
        <p:txBody>
          <a:bodyPr anchor="ctr">
            <a:normAutofit/>
          </a:bodyPr>
          <a:lstStyle/>
          <a:p>
            <a:r>
              <a:rPr lang="en-US" dirty="0"/>
              <a:t>.NET is a free, open-source development platform for building many kinds of apps</a:t>
            </a:r>
            <a:r>
              <a:rPr lang="en-IN" dirty="0"/>
              <a:t> such as </a:t>
            </a:r>
          </a:p>
          <a:p>
            <a:pPr lvl="1">
              <a:buFont typeface="Wingdings" panose="05000000000000000000" pitchFamily="2" charset="2"/>
              <a:buChar char="§"/>
            </a:pPr>
            <a:r>
              <a:rPr lang="en-US" dirty="0"/>
              <a:t>Web apps, web APIs, and microservices</a:t>
            </a:r>
          </a:p>
          <a:p>
            <a:pPr lvl="1" algn="just">
              <a:buFont typeface="Wingdings" panose="05000000000000000000" pitchFamily="2" charset="2"/>
              <a:buChar char="§"/>
            </a:pPr>
            <a:r>
              <a:rPr lang="en-US" dirty="0"/>
              <a:t>Cloud native apps</a:t>
            </a:r>
          </a:p>
          <a:p>
            <a:pPr lvl="1" algn="just">
              <a:buFont typeface="Wingdings" panose="05000000000000000000" pitchFamily="2" charset="2"/>
              <a:buChar char="§"/>
            </a:pPr>
            <a:r>
              <a:rPr lang="en-US" dirty="0"/>
              <a:t>Mobile apps</a:t>
            </a:r>
          </a:p>
          <a:p>
            <a:pPr lvl="1" algn="just">
              <a:buFont typeface="Wingdings" panose="05000000000000000000" pitchFamily="2" charset="2"/>
              <a:buChar char="§"/>
            </a:pPr>
            <a:r>
              <a:rPr lang="en-US" dirty="0"/>
              <a:t>Desktop apps</a:t>
            </a:r>
          </a:p>
          <a:p>
            <a:pPr lvl="2" algn="just"/>
            <a:r>
              <a:rPr lang="en-US" dirty="0"/>
              <a:t>Windows WPF</a:t>
            </a:r>
          </a:p>
          <a:p>
            <a:pPr lvl="2" algn="just"/>
            <a:r>
              <a:rPr lang="en-US" dirty="0"/>
              <a:t>Windows Form</a:t>
            </a:r>
          </a:p>
          <a:p>
            <a:pPr lvl="1" algn="just">
              <a:buFont typeface="Wingdings" panose="05000000000000000000" pitchFamily="2" charset="2"/>
              <a:buChar char="§"/>
            </a:pPr>
            <a:r>
              <a:rPr lang="en-US" dirty="0"/>
              <a:t>Games</a:t>
            </a:r>
          </a:p>
          <a:p>
            <a:pPr lvl="1" algn="just">
              <a:buFont typeface="Wingdings" panose="05000000000000000000" pitchFamily="2" charset="2"/>
              <a:buChar char="§"/>
            </a:pPr>
            <a:r>
              <a:rPr lang="en-US" dirty="0"/>
              <a:t>Internet of Things (IoT)</a:t>
            </a:r>
          </a:p>
          <a:p>
            <a:pPr lvl="1" algn="just">
              <a:buFont typeface="Wingdings" panose="05000000000000000000" pitchFamily="2" charset="2"/>
              <a:buChar char="§"/>
            </a:pPr>
            <a:r>
              <a:rPr lang="en-US" dirty="0"/>
              <a:t>Machine learning</a:t>
            </a:r>
          </a:p>
          <a:p>
            <a:pPr lvl="1" algn="just">
              <a:buFont typeface="Wingdings" panose="05000000000000000000" pitchFamily="2" charset="2"/>
              <a:buChar char="§"/>
            </a:pPr>
            <a:r>
              <a:rPr lang="en-US" dirty="0"/>
              <a:t>Windows services</a:t>
            </a:r>
          </a:p>
        </p:txBody>
      </p:sp>
    </p:spTree>
    <p:extLst>
      <p:ext uri="{BB962C8B-B14F-4D97-AF65-F5344CB8AC3E}">
        <p14:creationId xmlns:p14="http://schemas.microsoft.com/office/powerpoint/2010/main" val="2967395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EFDC-790E-4E47-A515-1EBCF1F2F2CD}"/>
              </a:ext>
            </a:extLst>
          </p:cNvPr>
          <p:cNvSpPr>
            <a:spLocks noGrp="1"/>
          </p:cNvSpPr>
          <p:nvPr>
            <p:ph type="title"/>
          </p:nvPr>
        </p:nvSpPr>
        <p:spPr/>
        <p:txBody>
          <a:bodyPr/>
          <a:lstStyle/>
          <a:p>
            <a:r>
              <a:rPr lang="en-US" dirty="0"/>
              <a:t>Why .NET</a:t>
            </a:r>
          </a:p>
        </p:txBody>
      </p:sp>
      <p:sp>
        <p:nvSpPr>
          <p:cNvPr id="16" name="Content Placeholder 15">
            <a:extLst>
              <a:ext uri="{FF2B5EF4-FFF2-40B4-BE49-F238E27FC236}">
                <a16:creationId xmlns:a16="http://schemas.microsoft.com/office/drawing/2014/main" id="{C110FDCF-2EC3-46D4-A98B-824D58833898}"/>
              </a:ext>
            </a:extLst>
          </p:cNvPr>
          <p:cNvSpPr>
            <a:spLocks noGrp="1"/>
          </p:cNvSpPr>
          <p:nvPr>
            <p:ph idx="1"/>
          </p:nvPr>
        </p:nvSpPr>
        <p:spPr/>
        <p:txBody>
          <a:bodyPr/>
          <a:lstStyle/>
          <a:p>
            <a:r>
              <a:rPr lang="en-IN" dirty="0"/>
              <a:t>Common Executive Environment</a:t>
            </a:r>
          </a:p>
          <a:p>
            <a:r>
              <a:rPr lang="en-US" dirty="0"/>
              <a:t>Multilanguage support</a:t>
            </a:r>
          </a:p>
          <a:p>
            <a:r>
              <a:rPr lang="en-IN" dirty="0"/>
              <a:t>Common Type System</a:t>
            </a:r>
          </a:p>
          <a:p>
            <a:r>
              <a:rPr lang="en-IN" dirty="0"/>
              <a:t>tool Support</a:t>
            </a:r>
          </a:p>
          <a:p>
            <a:r>
              <a:rPr lang="en-IN" dirty="0"/>
              <a:t>Security</a:t>
            </a:r>
          </a:p>
          <a:p>
            <a:r>
              <a:rPr lang="en-IN" dirty="0"/>
              <a:t>Automatic Resource Management</a:t>
            </a:r>
          </a:p>
          <a:p>
            <a:r>
              <a:rPr lang="en-IN"/>
              <a:t> Portability</a:t>
            </a:r>
            <a:endParaRPr lang="en-IN" dirty="0"/>
          </a:p>
          <a:p>
            <a:pPr marL="0" indent="0">
              <a:buNone/>
            </a:pPr>
            <a:endParaRPr lang="en-US" dirty="0"/>
          </a:p>
          <a:p>
            <a:endParaRPr lang="en-US" dirty="0"/>
          </a:p>
        </p:txBody>
      </p:sp>
    </p:spTree>
    <p:extLst>
      <p:ext uri="{BB962C8B-B14F-4D97-AF65-F5344CB8AC3E}">
        <p14:creationId xmlns:p14="http://schemas.microsoft.com/office/powerpoint/2010/main" val="2290764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D160-EEF8-4175-A66F-AA9C46021644}"/>
              </a:ext>
            </a:extLst>
          </p:cNvPr>
          <p:cNvSpPr>
            <a:spLocks noGrp="1"/>
          </p:cNvSpPr>
          <p:nvPr>
            <p:ph type="title"/>
          </p:nvPr>
        </p:nvSpPr>
        <p:spPr/>
        <p:txBody>
          <a:bodyPr/>
          <a:lstStyle/>
          <a:p>
            <a:r>
              <a:rPr lang="en-US" dirty="0"/>
              <a:t>Introduction to .NET Framework		</a:t>
            </a:r>
            <a:endParaRPr lang="en-IN" dirty="0"/>
          </a:p>
        </p:txBody>
      </p:sp>
      <p:sp>
        <p:nvSpPr>
          <p:cNvPr id="3" name="Content Placeholder 2">
            <a:extLst>
              <a:ext uri="{FF2B5EF4-FFF2-40B4-BE49-F238E27FC236}">
                <a16:creationId xmlns:a16="http://schemas.microsoft.com/office/drawing/2014/main" id="{CEBE5C9B-AA55-4133-9215-F86D9E6FF00C}"/>
              </a:ext>
            </a:extLst>
          </p:cNvPr>
          <p:cNvSpPr>
            <a:spLocks noGrp="1"/>
          </p:cNvSpPr>
          <p:nvPr>
            <p:ph idx="1"/>
          </p:nvPr>
        </p:nvSpPr>
        <p:spPr/>
        <p:txBody>
          <a:bodyPr/>
          <a:lstStyle/>
          <a:p>
            <a:r>
              <a:rPr lang="en-US" dirty="0"/>
              <a:t>.NET framework is a software platform to built different types of applications such as windows ,web and mobile application. </a:t>
            </a:r>
          </a:p>
          <a:p>
            <a:r>
              <a:rPr lang="en-US" dirty="0"/>
              <a:t>.NET framework is a part of .NET </a:t>
            </a:r>
          </a:p>
          <a:p>
            <a:r>
              <a:rPr lang="en-US" dirty="0"/>
              <a:t>NET framework mainly consist 2 major components </a:t>
            </a:r>
          </a:p>
          <a:p>
            <a:pPr lvl="1"/>
            <a:r>
              <a:rPr lang="en-US" dirty="0"/>
              <a:t>CLR</a:t>
            </a:r>
          </a:p>
          <a:p>
            <a:pPr lvl="1"/>
            <a:r>
              <a:rPr lang="en-US" dirty="0"/>
              <a:t>FCL</a:t>
            </a:r>
            <a:endParaRPr lang="en-IN" dirty="0"/>
          </a:p>
        </p:txBody>
      </p:sp>
    </p:spTree>
    <p:extLst>
      <p:ext uri="{BB962C8B-B14F-4D97-AF65-F5344CB8AC3E}">
        <p14:creationId xmlns:p14="http://schemas.microsoft.com/office/powerpoint/2010/main" val="3891559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960D3-1FA7-4AEA-BCF1-EB891A668024}"/>
              </a:ext>
            </a:extLst>
          </p:cNvPr>
          <p:cNvSpPr>
            <a:spLocks noGrp="1"/>
          </p:cNvSpPr>
          <p:nvPr>
            <p:ph type="title"/>
          </p:nvPr>
        </p:nvSpPr>
        <p:spPr>
          <a:xfrm>
            <a:off x="353565" y="225406"/>
            <a:ext cx="9438716" cy="797605"/>
          </a:xfrm>
        </p:spPr>
        <p:txBody>
          <a:bodyPr/>
          <a:lstStyle/>
          <a:p>
            <a:r>
              <a:rPr lang="en-IN" dirty="0"/>
              <a:t>Component of .NET Framework </a:t>
            </a:r>
          </a:p>
        </p:txBody>
      </p:sp>
      <p:sp>
        <p:nvSpPr>
          <p:cNvPr id="3" name="Content Placeholder 2">
            <a:extLst>
              <a:ext uri="{FF2B5EF4-FFF2-40B4-BE49-F238E27FC236}">
                <a16:creationId xmlns:a16="http://schemas.microsoft.com/office/drawing/2014/main" id="{398C7DBB-0309-4A55-93FE-125E2E7584CE}"/>
              </a:ext>
            </a:extLst>
          </p:cNvPr>
          <p:cNvSpPr>
            <a:spLocks noGrp="1"/>
          </p:cNvSpPr>
          <p:nvPr>
            <p:ph idx="1"/>
          </p:nvPr>
        </p:nvSpPr>
        <p:spPr>
          <a:xfrm>
            <a:off x="726724" y="1279835"/>
            <a:ext cx="9065557" cy="3678569"/>
          </a:xfrm>
        </p:spPr>
        <p:txBody>
          <a:bodyPr/>
          <a:lstStyle/>
          <a:p>
            <a:pPr marL="0" indent="0">
              <a:buNone/>
            </a:pPr>
            <a:endParaRPr lang="en-IN" dirty="0"/>
          </a:p>
        </p:txBody>
      </p:sp>
      <p:grpSp>
        <p:nvGrpSpPr>
          <p:cNvPr id="4" name="Group 3">
            <a:extLst>
              <a:ext uri="{FF2B5EF4-FFF2-40B4-BE49-F238E27FC236}">
                <a16:creationId xmlns:a16="http://schemas.microsoft.com/office/drawing/2014/main" id="{E8A69793-1983-43FD-BD3C-EDE05359BC98}"/>
              </a:ext>
            </a:extLst>
          </p:cNvPr>
          <p:cNvGrpSpPr/>
          <p:nvPr/>
        </p:nvGrpSpPr>
        <p:grpSpPr>
          <a:xfrm>
            <a:off x="775216" y="1481105"/>
            <a:ext cx="8490048" cy="3678569"/>
            <a:chOff x="1102580" y="1429081"/>
            <a:chExt cx="8017975" cy="3678569"/>
          </a:xfrm>
        </p:grpSpPr>
        <p:sp>
          <p:nvSpPr>
            <p:cNvPr id="5" name="Rectangle 4">
              <a:extLst>
                <a:ext uri="{FF2B5EF4-FFF2-40B4-BE49-F238E27FC236}">
                  <a16:creationId xmlns:a16="http://schemas.microsoft.com/office/drawing/2014/main" id="{6C3E7764-54DF-47BA-B2B4-3A883E851842}"/>
                </a:ext>
              </a:extLst>
            </p:cNvPr>
            <p:cNvSpPr>
              <a:spLocks noChangeArrowheads="1"/>
            </p:cNvSpPr>
            <p:nvPr/>
          </p:nvSpPr>
          <p:spPr bwMode="auto">
            <a:xfrm>
              <a:off x="1102580" y="4786845"/>
              <a:ext cx="6900863" cy="32080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Operating System</a:t>
              </a:r>
            </a:p>
          </p:txBody>
        </p:sp>
        <p:sp>
          <p:nvSpPr>
            <p:cNvPr id="6" name="Rectangle 5">
              <a:extLst>
                <a:ext uri="{FF2B5EF4-FFF2-40B4-BE49-F238E27FC236}">
                  <a16:creationId xmlns:a16="http://schemas.microsoft.com/office/drawing/2014/main" id="{297F1CD0-2CF7-4B0C-8FA4-51465C8959F7}"/>
                </a:ext>
              </a:extLst>
            </p:cNvPr>
            <p:cNvSpPr>
              <a:spLocks noChangeArrowheads="1"/>
            </p:cNvSpPr>
            <p:nvPr/>
          </p:nvSpPr>
          <p:spPr bwMode="auto">
            <a:xfrm>
              <a:off x="1102580" y="4187736"/>
              <a:ext cx="6900863" cy="523190"/>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Common Language Runtime</a:t>
              </a:r>
            </a:p>
          </p:txBody>
        </p:sp>
        <p:grpSp>
          <p:nvGrpSpPr>
            <p:cNvPr id="7" name="Group 6">
              <a:extLst>
                <a:ext uri="{FF2B5EF4-FFF2-40B4-BE49-F238E27FC236}">
                  <a16:creationId xmlns:a16="http://schemas.microsoft.com/office/drawing/2014/main" id="{8AE15F98-7FAD-48D5-B871-A937439D8FA9}"/>
                </a:ext>
              </a:extLst>
            </p:cNvPr>
            <p:cNvGrpSpPr>
              <a:grpSpLocks/>
            </p:cNvGrpSpPr>
            <p:nvPr/>
          </p:nvGrpSpPr>
          <p:grpSpPr bwMode="auto">
            <a:xfrm>
              <a:off x="1102580" y="2370398"/>
              <a:ext cx="6900863" cy="1744989"/>
              <a:chOff x="576" y="1677"/>
              <a:chExt cx="3814" cy="1851"/>
            </a:xfrm>
          </p:grpSpPr>
          <p:sp>
            <p:nvSpPr>
              <p:cNvPr id="19" name="Rectangle 18">
                <a:extLst>
                  <a:ext uri="{FF2B5EF4-FFF2-40B4-BE49-F238E27FC236}">
                    <a16:creationId xmlns:a16="http://schemas.microsoft.com/office/drawing/2014/main" id="{9F3359E2-6544-4386-BC66-D699A3246267}"/>
                  </a:ext>
                </a:extLst>
              </p:cNvPr>
              <p:cNvSpPr>
                <a:spLocks noChangeArrowheads="1"/>
              </p:cNvSpPr>
              <p:nvPr/>
            </p:nvSpPr>
            <p:spPr bwMode="auto">
              <a:xfrm>
                <a:off x="576" y="3062"/>
                <a:ext cx="3797" cy="466"/>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.NET Framework (Base Class Library)</a:t>
                </a:r>
              </a:p>
            </p:txBody>
          </p:sp>
          <p:sp>
            <p:nvSpPr>
              <p:cNvPr id="20" name="Rectangle 19">
                <a:extLst>
                  <a:ext uri="{FF2B5EF4-FFF2-40B4-BE49-F238E27FC236}">
                    <a16:creationId xmlns:a16="http://schemas.microsoft.com/office/drawing/2014/main" id="{2044F113-225D-49A0-84F2-06BDA07E2E78}"/>
                  </a:ext>
                </a:extLst>
              </p:cNvPr>
              <p:cNvSpPr>
                <a:spLocks noChangeArrowheads="1"/>
              </p:cNvSpPr>
              <p:nvPr/>
            </p:nvSpPr>
            <p:spPr bwMode="auto">
              <a:xfrm>
                <a:off x="576" y="2467"/>
                <a:ext cx="3814" cy="520"/>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ADO .NET and XML</a:t>
                </a:r>
              </a:p>
            </p:txBody>
          </p:sp>
          <p:grpSp>
            <p:nvGrpSpPr>
              <p:cNvPr id="21" name="Group 20">
                <a:extLst>
                  <a:ext uri="{FF2B5EF4-FFF2-40B4-BE49-F238E27FC236}">
                    <a16:creationId xmlns:a16="http://schemas.microsoft.com/office/drawing/2014/main" id="{5683525D-9C4A-47FE-AF73-DEA123E68990}"/>
                  </a:ext>
                </a:extLst>
              </p:cNvPr>
              <p:cNvGrpSpPr>
                <a:grpSpLocks/>
              </p:cNvGrpSpPr>
              <p:nvPr/>
            </p:nvGrpSpPr>
            <p:grpSpPr bwMode="auto">
              <a:xfrm>
                <a:off x="576" y="1677"/>
                <a:ext cx="3813" cy="745"/>
                <a:chOff x="288" y="1645"/>
                <a:chExt cx="3504" cy="860"/>
              </a:xfrm>
            </p:grpSpPr>
            <p:sp>
              <p:nvSpPr>
                <p:cNvPr id="22" name="Rectangle 21">
                  <a:extLst>
                    <a:ext uri="{FF2B5EF4-FFF2-40B4-BE49-F238E27FC236}">
                      <a16:creationId xmlns:a16="http://schemas.microsoft.com/office/drawing/2014/main" id="{9231966A-D420-4077-AAF3-8DC7C8CFD8ED}"/>
                    </a:ext>
                  </a:extLst>
                </p:cNvPr>
                <p:cNvSpPr>
                  <a:spLocks noChangeArrowheads="1"/>
                </p:cNvSpPr>
                <p:nvPr/>
              </p:nvSpPr>
              <p:spPr bwMode="auto">
                <a:xfrm>
                  <a:off x="288" y="1645"/>
                  <a:ext cx="2208" cy="860"/>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a:solidFill>
                        <a:srgbClr val="ECEC62"/>
                      </a:solidFill>
                      <a:effectLst>
                        <a:outerShdw blurRad="38100" dist="38100" dir="2700000" algn="tl">
                          <a:srgbClr val="000000"/>
                        </a:outerShdw>
                      </a:effectLst>
                      <a:latin typeface="Arial" charset="0"/>
                    </a:rPr>
                    <a:t>ASP .NET</a:t>
                  </a:r>
                </a:p>
                <a:p>
                  <a:pPr algn="ctr" fontAlgn="auto">
                    <a:spcBef>
                      <a:spcPts val="0"/>
                    </a:spcBef>
                    <a:spcAft>
                      <a:spcPts val="0"/>
                    </a:spcAft>
                    <a:defRPr/>
                  </a:pPr>
                  <a:r>
                    <a:rPr lang="en-US" sz="1600" b="1" i="1">
                      <a:solidFill>
                        <a:srgbClr val="ECEC62"/>
                      </a:solidFill>
                      <a:effectLst>
                        <a:outerShdw blurRad="38100" dist="38100" dir="2700000" algn="tl">
                          <a:srgbClr val="000000"/>
                        </a:outerShdw>
                      </a:effectLst>
                      <a:latin typeface="Arial" charset="0"/>
                    </a:rPr>
                    <a:t>Web Services Web Forms</a:t>
                  </a:r>
                </a:p>
                <a:p>
                  <a:pPr algn="ctr" fontAlgn="auto">
                    <a:spcBef>
                      <a:spcPts val="0"/>
                    </a:spcBef>
                    <a:spcAft>
                      <a:spcPts val="0"/>
                    </a:spcAft>
                    <a:defRPr/>
                  </a:pPr>
                  <a:r>
                    <a:rPr lang="en-US" sz="1600" b="1" i="1">
                      <a:solidFill>
                        <a:srgbClr val="ECEC62"/>
                      </a:solidFill>
                      <a:effectLst>
                        <a:outerShdw blurRad="38100" dist="38100" dir="2700000" algn="tl">
                          <a:srgbClr val="000000"/>
                        </a:outerShdw>
                      </a:effectLst>
                      <a:latin typeface="Arial" charset="0"/>
                    </a:rPr>
                    <a:t>Mobile Internet Toolkit</a:t>
                  </a:r>
                </a:p>
              </p:txBody>
            </p:sp>
            <p:sp>
              <p:nvSpPr>
                <p:cNvPr id="23" name="Rectangle 22">
                  <a:extLst>
                    <a:ext uri="{FF2B5EF4-FFF2-40B4-BE49-F238E27FC236}">
                      <a16:creationId xmlns:a16="http://schemas.microsoft.com/office/drawing/2014/main" id="{A31C0D44-FCB2-4B32-8948-9EBE099F201B}"/>
                    </a:ext>
                  </a:extLst>
                </p:cNvPr>
                <p:cNvSpPr>
                  <a:spLocks noChangeArrowheads="1"/>
                </p:cNvSpPr>
                <p:nvPr/>
              </p:nvSpPr>
              <p:spPr bwMode="auto">
                <a:xfrm>
                  <a:off x="2544" y="1645"/>
                  <a:ext cx="1248" cy="860"/>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Windows</a:t>
                  </a:r>
                </a:p>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Forms</a:t>
                  </a:r>
                </a:p>
              </p:txBody>
            </p:sp>
          </p:grpSp>
        </p:grpSp>
        <p:sp>
          <p:nvSpPr>
            <p:cNvPr id="8" name="Rectangle 7">
              <a:extLst>
                <a:ext uri="{FF2B5EF4-FFF2-40B4-BE49-F238E27FC236}">
                  <a16:creationId xmlns:a16="http://schemas.microsoft.com/office/drawing/2014/main" id="{0E257CB1-D500-4B41-B8DE-0120426CB307}"/>
                </a:ext>
              </a:extLst>
            </p:cNvPr>
            <p:cNvSpPr>
              <a:spLocks noChangeArrowheads="1"/>
            </p:cNvSpPr>
            <p:nvPr/>
          </p:nvSpPr>
          <p:spPr bwMode="auto">
            <a:xfrm>
              <a:off x="1102580" y="1829840"/>
              <a:ext cx="6900863" cy="474030"/>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Common Language Specification</a:t>
              </a:r>
            </a:p>
          </p:txBody>
        </p:sp>
        <p:sp>
          <p:nvSpPr>
            <p:cNvPr id="9" name="Rectangle 8">
              <a:extLst>
                <a:ext uri="{FF2B5EF4-FFF2-40B4-BE49-F238E27FC236}">
                  <a16:creationId xmlns:a16="http://schemas.microsoft.com/office/drawing/2014/main" id="{8872AB6A-B92F-44EE-B3E3-E59C3B7207E6}"/>
                </a:ext>
              </a:extLst>
            </p:cNvPr>
            <p:cNvSpPr>
              <a:spLocks noChangeArrowheads="1"/>
            </p:cNvSpPr>
            <p:nvPr/>
          </p:nvSpPr>
          <p:spPr bwMode="auto">
            <a:xfrm>
              <a:off x="1102580" y="1492682"/>
              <a:ext cx="868363" cy="313457"/>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C++</a:t>
              </a:r>
            </a:p>
          </p:txBody>
        </p:sp>
        <p:sp>
          <p:nvSpPr>
            <p:cNvPr id="10" name="Rectangle 9">
              <a:extLst>
                <a:ext uri="{FF2B5EF4-FFF2-40B4-BE49-F238E27FC236}">
                  <a16:creationId xmlns:a16="http://schemas.microsoft.com/office/drawing/2014/main" id="{05BE12AB-D8E4-4CD8-8387-5934B9228532}"/>
                </a:ext>
              </a:extLst>
            </p:cNvPr>
            <p:cNvSpPr>
              <a:spLocks noChangeArrowheads="1"/>
            </p:cNvSpPr>
            <p:nvPr/>
          </p:nvSpPr>
          <p:spPr bwMode="auto">
            <a:xfrm>
              <a:off x="2064605" y="1492682"/>
              <a:ext cx="925513" cy="313457"/>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C#</a:t>
              </a:r>
            </a:p>
          </p:txBody>
        </p:sp>
        <p:sp>
          <p:nvSpPr>
            <p:cNvPr id="11" name="Rectangle 10">
              <a:extLst>
                <a:ext uri="{FF2B5EF4-FFF2-40B4-BE49-F238E27FC236}">
                  <a16:creationId xmlns:a16="http://schemas.microsoft.com/office/drawing/2014/main" id="{7F7C8AA6-A7B6-45E4-BD39-874B4D9730ED}"/>
                </a:ext>
              </a:extLst>
            </p:cNvPr>
            <p:cNvSpPr>
              <a:spLocks noChangeArrowheads="1"/>
            </p:cNvSpPr>
            <p:nvPr/>
          </p:nvSpPr>
          <p:spPr bwMode="auto">
            <a:xfrm>
              <a:off x="3083780" y="1480959"/>
              <a:ext cx="900113" cy="313457"/>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a:solidFill>
                    <a:srgbClr val="ECEC62"/>
                  </a:solidFill>
                  <a:effectLst>
                    <a:outerShdw blurRad="38100" dist="38100" dir="2700000" algn="tl">
                      <a:srgbClr val="000000"/>
                    </a:outerShdw>
                  </a:effectLst>
                  <a:latin typeface="Arial" charset="0"/>
                </a:rPr>
                <a:t>VB</a:t>
              </a:r>
            </a:p>
          </p:txBody>
        </p:sp>
        <p:sp>
          <p:nvSpPr>
            <p:cNvPr id="12" name="Rectangle 11">
              <a:extLst>
                <a:ext uri="{FF2B5EF4-FFF2-40B4-BE49-F238E27FC236}">
                  <a16:creationId xmlns:a16="http://schemas.microsoft.com/office/drawing/2014/main" id="{55D29345-B948-48A9-A83A-9822490717BB}"/>
                </a:ext>
              </a:extLst>
            </p:cNvPr>
            <p:cNvSpPr>
              <a:spLocks noChangeArrowheads="1"/>
            </p:cNvSpPr>
            <p:nvPr/>
          </p:nvSpPr>
          <p:spPr bwMode="auto">
            <a:xfrm>
              <a:off x="4080730" y="1429082"/>
              <a:ext cx="882650" cy="417211"/>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Perl</a:t>
              </a:r>
            </a:p>
          </p:txBody>
        </p:sp>
        <p:sp>
          <p:nvSpPr>
            <p:cNvPr id="13" name="Rectangle 12">
              <a:extLst>
                <a:ext uri="{FF2B5EF4-FFF2-40B4-BE49-F238E27FC236}">
                  <a16:creationId xmlns:a16="http://schemas.microsoft.com/office/drawing/2014/main" id="{4C8250AB-F24E-4871-A80F-2F4639345552}"/>
                </a:ext>
              </a:extLst>
            </p:cNvPr>
            <p:cNvSpPr>
              <a:spLocks noChangeArrowheads="1"/>
            </p:cNvSpPr>
            <p:nvPr/>
          </p:nvSpPr>
          <p:spPr bwMode="auto">
            <a:xfrm>
              <a:off x="5063393" y="1429082"/>
              <a:ext cx="904875" cy="417211"/>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a:solidFill>
                    <a:srgbClr val="ECEC62"/>
                  </a:solidFill>
                  <a:effectLst>
                    <a:outerShdw blurRad="38100" dist="38100" dir="2700000" algn="tl">
                      <a:srgbClr val="000000"/>
                    </a:outerShdw>
                  </a:effectLst>
                  <a:latin typeface="Arial" charset="0"/>
                </a:rPr>
                <a:t>J#</a:t>
              </a:r>
            </a:p>
          </p:txBody>
        </p:sp>
        <p:sp>
          <p:nvSpPr>
            <p:cNvPr id="14" name="Rectangle 13">
              <a:extLst>
                <a:ext uri="{FF2B5EF4-FFF2-40B4-BE49-F238E27FC236}">
                  <a16:creationId xmlns:a16="http://schemas.microsoft.com/office/drawing/2014/main" id="{268CAF31-750D-4AD4-BE8D-5151485492F8}"/>
                </a:ext>
              </a:extLst>
            </p:cNvPr>
            <p:cNvSpPr>
              <a:spLocks noChangeArrowheads="1"/>
            </p:cNvSpPr>
            <p:nvPr/>
          </p:nvSpPr>
          <p:spPr bwMode="auto">
            <a:xfrm>
              <a:off x="6052405" y="1429082"/>
              <a:ext cx="1951038" cy="417211"/>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a:solidFill>
                    <a:srgbClr val="ECEC62"/>
                  </a:solidFill>
                  <a:effectLst>
                    <a:outerShdw blurRad="38100" dist="38100" dir="2700000" algn="tl">
                      <a:srgbClr val="000000"/>
                    </a:outerShdw>
                  </a:effectLst>
                  <a:latin typeface="Arial" charset="0"/>
                </a:rPr>
                <a:t>…</a:t>
              </a:r>
            </a:p>
          </p:txBody>
        </p:sp>
        <p:sp>
          <p:nvSpPr>
            <p:cNvPr id="15" name="Rectangle 14">
              <a:extLst>
                <a:ext uri="{FF2B5EF4-FFF2-40B4-BE49-F238E27FC236}">
                  <a16:creationId xmlns:a16="http://schemas.microsoft.com/office/drawing/2014/main" id="{6B05C45E-C59F-48B9-89F0-8704132AF21C}"/>
                </a:ext>
              </a:extLst>
            </p:cNvPr>
            <p:cNvSpPr>
              <a:spLocks noChangeArrowheads="1"/>
            </p:cNvSpPr>
            <p:nvPr/>
          </p:nvSpPr>
          <p:spPr bwMode="auto">
            <a:xfrm>
              <a:off x="7972685" y="1429081"/>
              <a:ext cx="1147870" cy="3678569"/>
            </a:xfrm>
            <a:prstGeom prst="rect">
              <a:avLst/>
            </a:prstGeom>
            <a:solidFill>
              <a:schemeClr val="accent1"/>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1"/>
              </a:extrusionClr>
            </a:sp3d>
          </p:spPr>
          <p:txBody>
            <a:bodyPr vert="eaVert"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2400" b="1" dirty="0">
                  <a:solidFill>
                    <a:srgbClr val="ECEC62"/>
                  </a:solidFill>
                  <a:effectLst>
                    <a:outerShdw blurRad="38100" dist="38100" dir="2700000" algn="tl">
                      <a:srgbClr val="000000"/>
                    </a:outerShdw>
                  </a:effectLst>
                  <a:latin typeface="Arial" charset="0"/>
                </a:rPr>
                <a:t>Visual Studio .NET</a:t>
              </a:r>
            </a:p>
          </p:txBody>
        </p:sp>
        <p:sp>
          <p:nvSpPr>
            <p:cNvPr id="16" name="Rectangle 15">
              <a:extLst>
                <a:ext uri="{FF2B5EF4-FFF2-40B4-BE49-F238E27FC236}">
                  <a16:creationId xmlns:a16="http://schemas.microsoft.com/office/drawing/2014/main" id="{D006C5C7-628C-4C77-BED5-3D817D0D77B1}"/>
                </a:ext>
              </a:extLst>
            </p:cNvPr>
            <p:cNvSpPr>
              <a:spLocks noChangeArrowheads="1"/>
            </p:cNvSpPr>
            <p:nvPr/>
          </p:nvSpPr>
          <p:spPr bwMode="auto">
            <a:xfrm>
              <a:off x="1102580" y="1440804"/>
              <a:ext cx="868363" cy="417211"/>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C++</a:t>
              </a:r>
            </a:p>
          </p:txBody>
        </p:sp>
        <p:sp>
          <p:nvSpPr>
            <p:cNvPr id="17" name="Rectangle 16">
              <a:extLst>
                <a:ext uri="{FF2B5EF4-FFF2-40B4-BE49-F238E27FC236}">
                  <a16:creationId xmlns:a16="http://schemas.microsoft.com/office/drawing/2014/main" id="{6BBC26CC-21DB-44EF-A41E-0D47DDE3F5E5}"/>
                </a:ext>
              </a:extLst>
            </p:cNvPr>
            <p:cNvSpPr>
              <a:spLocks noChangeArrowheads="1"/>
            </p:cNvSpPr>
            <p:nvPr/>
          </p:nvSpPr>
          <p:spPr bwMode="auto">
            <a:xfrm>
              <a:off x="2064605" y="1440804"/>
              <a:ext cx="925513" cy="417211"/>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dirty="0">
                  <a:solidFill>
                    <a:srgbClr val="ECEC62"/>
                  </a:solidFill>
                  <a:effectLst>
                    <a:outerShdw blurRad="38100" dist="38100" dir="2700000" algn="tl">
                      <a:srgbClr val="000000"/>
                    </a:outerShdw>
                  </a:effectLst>
                  <a:latin typeface="Arial" charset="0"/>
                </a:rPr>
                <a:t>C#</a:t>
              </a:r>
            </a:p>
          </p:txBody>
        </p:sp>
        <p:sp>
          <p:nvSpPr>
            <p:cNvPr id="18" name="Rectangle 17">
              <a:extLst>
                <a:ext uri="{FF2B5EF4-FFF2-40B4-BE49-F238E27FC236}">
                  <a16:creationId xmlns:a16="http://schemas.microsoft.com/office/drawing/2014/main" id="{CAE77BA3-03AC-4527-B980-B18228822CCE}"/>
                </a:ext>
              </a:extLst>
            </p:cNvPr>
            <p:cNvSpPr>
              <a:spLocks noChangeArrowheads="1"/>
            </p:cNvSpPr>
            <p:nvPr/>
          </p:nvSpPr>
          <p:spPr bwMode="auto">
            <a:xfrm>
              <a:off x="3083780" y="1429081"/>
              <a:ext cx="900113" cy="417211"/>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lIns="91371" tIns="45688" rIns="91371" bIns="45688" anchor="ctr">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r>
                <a:rPr lang="en-US" sz="1600" b="1">
                  <a:solidFill>
                    <a:srgbClr val="ECEC62"/>
                  </a:solidFill>
                  <a:effectLst>
                    <a:outerShdw blurRad="38100" dist="38100" dir="2700000" algn="tl">
                      <a:srgbClr val="000000"/>
                    </a:outerShdw>
                  </a:effectLst>
                  <a:latin typeface="Arial" charset="0"/>
                </a:rPr>
                <a:t>VB</a:t>
              </a:r>
            </a:p>
          </p:txBody>
        </p:sp>
      </p:grpSp>
    </p:spTree>
    <p:extLst>
      <p:ext uri="{BB962C8B-B14F-4D97-AF65-F5344CB8AC3E}">
        <p14:creationId xmlns:p14="http://schemas.microsoft.com/office/powerpoint/2010/main" val="100656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5C9D-2DC6-4625-A9A9-8D41DC89395C}"/>
              </a:ext>
            </a:extLst>
          </p:cNvPr>
          <p:cNvSpPr>
            <a:spLocks noGrp="1"/>
          </p:cNvSpPr>
          <p:nvPr>
            <p:ph type="title"/>
          </p:nvPr>
        </p:nvSpPr>
        <p:spPr/>
        <p:txBody>
          <a:bodyPr/>
          <a:lstStyle/>
          <a:p>
            <a:r>
              <a:rPr lang="en-US" dirty="0"/>
              <a:t>CLR-Common language Runtime	</a:t>
            </a:r>
            <a:endParaRPr lang="en-IN" dirty="0"/>
          </a:p>
        </p:txBody>
      </p:sp>
      <p:sp>
        <p:nvSpPr>
          <p:cNvPr id="3" name="Content Placeholder 2">
            <a:extLst>
              <a:ext uri="{FF2B5EF4-FFF2-40B4-BE49-F238E27FC236}">
                <a16:creationId xmlns:a16="http://schemas.microsoft.com/office/drawing/2014/main" id="{796038E8-E76C-422E-9792-3DE264F88F02}"/>
              </a:ext>
            </a:extLst>
          </p:cNvPr>
          <p:cNvSpPr>
            <a:spLocks noGrp="1"/>
          </p:cNvSpPr>
          <p:nvPr>
            <p:ph idx="1"/>
          </p:nvPr>
        </p:nvSpPr>
        <p:spPr>
          <a:xfrm>
            <a:off x="726724" y="1279835"/>
            <a:ext cx="11079794" cy="4973047"/>
          </a:xfrm>
        </p:spPr>
        <p:txBody>
          <a:bodyPr>
            <a:normAutofit lnSpcReduction="10000"/>
          </a:bodyPr>
          <a:lstStyle/>
          <a:p>
            <a:r>
              <a:rPr lang="en-US" dirty="0"/>
              <a:t>CLR is runtime environment to execute .NET Apps. Commercial implementation of CLI by Microsoft.</a:t>
            </a:r>
          </a:p>
          <a:p>
            <a:r>
              <a:rPr lang="en-US" dirty="0"/>
              <a:t>CLR provides several runtime services such as</a:t>
            </a:r>
          </a:p>
          <a:p>
            <a:pPr lvl="1"/>
            <a:r>
              <a:rPr lang="en-US" dirty="0"/>
              <a:t>Class Loader</a:t>
            </a:r>
          </a:p>
          <a:p>
            <a:pPr lvl="1"/>
            <a:r>
              <a:rPr lang="en-US" dirty="0"/>
              <a:t>Memory Manager</a:t>
            </a:r>
          </a:p>
          <a:p>
            <a:pPr lvl="1"/>
            <a:r>
              <a:rPr lang="en-US" dirty="0"/>
              <a:t>Garbage Collection</a:t>
            </a:r>
          </a:p>
          <a:p>
            <a:pPr lvl="1"/>
            <a:r>
              <a:rPr lang="en-US" dirty="0"/>
              <a:t>JIT Complier</a:t>
            </a:r>
          </a:p>
          <a:p>
            <a:pPr lvl="1"/>
            <a:r>
              <a:rPr lang="en-US" dirty="0"/>
              <a:t>Exception Manager</a:t>
            </a:r>
          </a:p>
          <a:p>
            <a:pPr lvl="1"/>
            <a:r>
              <a:rPr lang="en-US" dirty="0"/>
              <a:t>Thread Manager </a:t>
            </a:r>
          </a:p>
          <a:p>
            <a:pPr lvl="1"/>
            <a:r>
              <a:rPr lang="en-US" dirty="0"/>
              <a:t>Security Manager</a:t>
            </a:r>
          </a:p>
          <a:p>
            <a:r>
              <a:rPr lang="en-IN" altLang="en-US" dirty="0"/>
              <a:t>CLI – Common Language Infrastructure is an international standard that is the basis for creating execution and development environments in which languages and libraries work together seamlessly.</a:t>
            </a:r>
          </a:p>
          <a:p>
            <a:endParaRPr lang="en-US" dirty="0"/>
          </a:p>
        </p:txBody>
      </p:sp>
    </p:spTree>
    <p:extLst>
      <p:ext uri="{BB962C8B-B14F-4D97-AF65-F5344CB8AC3E}">
        <p14:creationId xmlns:p14="http://schemas.microsoft.com/office/powerpoint/2010/main" val="2172158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808CF-4CED-4E0B-AA9D-BD2469206FE5}"/>
              </a:ext>
            </a:extLst>
          </p:cNvPr>
          <p:cNvSpPr>
            <a:spLocks noGrp="1"/>
          </p:cNvSpPr>
          <p:nvPr>
            <p:ph type="title"/>
          </p:nvPr>
        </p:nvSpPr>
        <p:spPr/>
        <p:txBody>
          <a:bodyPr/>
          <a:lstStyle/>
          <a:p>
            <a:r>
              <a:rPr lang="en-US" dirty="0"/>
              <a:t>CLS-Common Language Specification	</a:t>
            </a:r>
            <a:endParaRPr lang="en-IN" dirty="0"/>
          </a:p>
        </p:txBody>
      </p:sp>
      <p:sp>
        <p:nvSpPr>
          <p:cNvPr id="3" name="Content Placeholder 2">
            <a:extLst>
              <a:ext uri="{FF2B5EF4-FFF2-40B4-BE49-F238E27FC236}">
                <a16:creationId xmlns:a16="http://schemas.microsoft.com/office/drawing/2014/main" id="{8BA436A6-10E5-4155-BC73-EE3ADF030A10}"/>
              </a:ext>
            </a:extLst>
          </p:cNvPr>
          <p:cNvSpPr>
            <a:spLocks noGrp="1"/>
          </p:cNvSpPr>
          <p:nvPr>
            <p:ph idx="1"/>
          </p:nvPr>
        </p:nvSpPr>
        <p:spPr/>
        <p:txBody>
          <a:bodyPr>
            <a:normAutofit/>
          </a:bodyPr>
          <a:lstStyle/>
          <a:p>
            <a:r>
              <a:rPr lang="en-US" dirty="0"/>
              <a:t>CLS is a set of specifications that must be met by every language to be considered as .NET compliant. </a:t>
            </a:r>
          </a:p>
          <a:p>
            <a:pPr lvl="1"/>
            <a:r>
              <a:rPr lang="en-US" dirty="0"/>
              <a:t>Example: Elimination of pointers and multiple inheritance.</a:t>
            </a:r>
          </a:p>
          <a:p>
            <a:endParaRPr lang="en-US" dirty="0"/>
          </a:p>
          <a:p>
            <a:r>
              <a:rPr lang="en-US" dirty="0"/>
              <a:t>CTS defines some basic data types and every language that is designed for use with .NET framework should be able to match its data types to these defined basic data types. So when various languages are designed following CTS, they will be able to communicate with each other and this is nothing but cross-language interoperability.</a:t>
            </a:r>
          </a:p>
          <a:p>
            <a:pPr marL="0" indent="0">
              <a:buNone/>
            </a:pPr>
            <a:endParaRPr lang="en-US" dirty="0"/>
          </a:p>
        </p:txBody>
      </p:sp>
    </p:spTree>
    <p:extLst>
      <p:ext uri="{BB962C8B-B14F-4D97-AF65-F5344CB8AC3E}">
        <p14:creationId xmlns:p14="http://schemas.microsoft.com/office/powerpoint/2010/main" val="177857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9A09D-ECB4-4673-BC92-70DAAD9AF969}"/>
              </a:ext>
            </a:extLst>
          </p:cNvPr>
          <p:cNvSpPr>
            <a:spLocks noGrp="1"/>
          </p:cNvSpPr>
          <p:nvPr>
            <p:ph type="title"/>
          </p:nvPr>
        </p:nvSpPr>
        <p:spPr/>
        <p:txBody>
          <a:bodyPr/>
          <a:lstStyle/>
          <a:p>
            <a:r>
              <a:rPr lang="en-US" dirty="0"/>
              <a:t>FCL-Framework Class Library	</a:t>
            </a:r>
            <a:endParaRPr lang="en-IN" dirty="0"/>
          </a:p>
        </p:txBody>
      </p:sp>
      <p:sp>
        <p:nvSpPr>
          <p:cNvPr id="3" name="Content Placeholder 2">
            <a:extLst>
              <a:ext uri="{FF2B5EF4-FFF2-40B4-BE49-F238E27FC236}">
                <a16:creationId xmlns:a16="http://schemas.microsoft.com/office/drawing/2014/main" id="{62D05938-3982-4C6A-8031-C5ED826C46A6}"/>
              </a:ext>
            </a:extLst>
          </p:cNvPr>
          <p:cNvSpPr>
            <a:spLocks noGrp="1"/>
          </p:cNvSpPr>
          <p:nvPr>
            <p:ph idx="1"/>
          </p:nvPr>
        </p:nvSpPr>
        <p:spPr/>
        <p:txBody>
          <a:bodyPr>
            <a:normAutofit/>
          </a:bodyPr>
          <a:lstStyle/>
          <a:p>
            <a:r>
              <a:rPr lang="en-US" dirty="0"/>
              <a:t>The .NET Framework class library is a collection of reusable types that tightly integrate with the common language runtime. </a:t>
            </a:r>
          </a:p>
          <a:p>
            <a:endParaRPr lang="en-US" dirty="0"/>
          </a:p>
          <a:p>
            <a:r>
              <a:rPr lang="en-US" dirty="0"/>
              <a:t>The class library is object oriented, providing types from which your own managed code derives functionality</a:t>
            </a:r>
          </a:p>
          <a:p>
            <a:endParaRPr lang="en-US" dirty="0"/>
          </a:p>
          <a:p>
            <a:r>
              <a:rPr lang="en-US" dirty="0"/>
              <a:t>Consists of classes, interfaces, and structures, delegates etc.</a:t>
            </a:r>
          </a:p>
          <a:p>
            <a:endParaRPr lang="en-US" dirty="0"/>
          </a:p>
          <a:p>
            <a:r>
              <a:rPr lang="en-US" dirty="0"/>
              <a:t>Reusable code that developers can use in own applications</a:t>
            </a:r>
          </a:p>
          <a:p>
            <a:endParaRPr lang="en-US" dirty="0"/>
          </a:p>
          <a:p>
            <a:r>
              <a:rPr lang="en-US" dirty="0"/>
              <a:t>are categorized using namespaces.</a:t>
            </a:r>
          </a:p>
          <a:p>
            <a:endParaRPr lang="en-IN" dirty="0"/>
          </a:p>
        </p:txBody>
      </p:sp>
    </p:spTree>
    <p:extLst>
      <p:ext uri="{BB962C8B-B14F-4D97-AF65-F5344CB8AC3E}">
        <p14:creationId xmlns:p14="http://schemas.microsoft.com/office/powerpoint/2010/main" val="1478002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D06-CB17-4004-9115-043A847B83CE}"/>
              </a:ext>
            </a:extLst>
          </p:cNvPr>
          <p:cNvSpPr>
            <a:spLocks noGrp="1"/>
          </p:cNvSpPr>
          <p:nvPr>
            <p:ph type="title"/>
          </p:nvPr>
        </p:nvSpPr>
        <p:spPr/>
        <p:txBody>
          <a:bodyPr/>
          <a:lstStyle/>
          <a:p>
            <a:r>
              <a:rPr lang="en-IN" dirty="0"/>
              <a:t>Introduction to C# Programming</a:t>
            </a:r>
          </a:p>
        </p:txBody>
      </p:sp>
      <p:sp>
        <p:nvSpPr>
          <p:cNvPr id="3" name="Content Placeholder 2">
            <a:extLst>
              <a:ext uri="{FF2B5EF4-FFF2-40B4-BE49-F238E27FC236}">
                <a16:creationId xmlns:a16="http://schemas.microsoft.com/office/drawing/2014/main" id="{91A6279A-D125-4101-B431-5B724E1540E6}"/>
              </a:ext>
            </a:extLst>
          </p:cNvPr>
          <p:cNvSpPr>
            <a:spLocks noGrp="1"/>
          </p:cNvSpPr>
          <p:nvPr>
            <p:ph idx="1"/>
          </p:nvPr>
        </p:nvSpPr>
        <p:spPr>
          <a:xfrm>
            <a:off x="726724" y="1279835"/>
            <a:ext cx="11106688" cy="4959600"/>
          </a:xfrm>
        </p:spPr>
        <p:txBody>
          <a:bodyPr>
            <a:normAutofit/>
          </a:bodyPr>
          <a:lstStyle/>
          <a:p>
            <a:r>
              <a:rPr lang="en-US" dirty="0"/>
              <a:t>C# (pronounced "See Sharp") is general-purpose programming language by Microsoft introduced in 2002, mainly used for console apps,Windows GUI apps and Windows Services.</a:t>
            </a:r>
          </a:p>
          <a:p>
            <a:r>
              <a:rPr lang="en-US" dirty="0"/>
              <a:t> approved by European Computer Manufacturers Association (ECMA) and International Standards Organization (ISO).</a:t>
            </a:r>
          </a:p>
          <a:p>
            <a:r>
              <a:rPr lang="en-US" dirty="0"/>
              <a:t> Developed by Microsoft within its .NET initiative led by Anders Hejlsberg</a:t>
            </a:r>
          </a:p>
          <a:p>
            <a:r>
              <a:rPr lang="en-US" dirty="0"/>
              <a:t>C# has its roots in the C family of languages and will be immediately familiar to C, C++, Java, and JavaScript programmers.</a:t>
            </a:r>
          </a:p>
          <a:p>
            <a:r>
              <a:rPr lang="en-IN" dirty="0"/>
              <a:t>C# supports the concepts of encapsulation, inheritance, and polymorphism.</a:t>
            </a:r>
          </a:p>
          <a:p>
            <a:r>
              <a:rPr lang="en-US" dirty="0"/>
              <a:t>C# programming language can be used to develop different types of secured and robust applications.</a:t>
            </a:r>
          </a:p>
          <a:p>
            <a:pPr marL="0" indent="0">
              <a:buNone/>
            </a:pPr>
            <a:endParaRPr lang="en-IN" dirty="0"/>
          </a:p>
        </p:txBody>
      </p:sp>
    </p:spTree>
    <p:extLst>
      <p:ext uri="{BB962C8B-B14F-4D97-AF65-F5344CB8AC3E}">
        <p14:creationId xmlns:p14="http://schemas.microsoft.com/office/powerpoint/2010/main" val="147670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34108-C416-4988-A75D-ECEFB32D80E0}"/>
              </a:ext>
            </a:extLst>
          </p:cNvPr>
          <p:cNvSpPr>
            <a:spLocks noGrp="1"/>
          </p:cNvSpPr>
          <p:nvPr>
            <p:ph type="title"/>
          </p:nvPr>
        </p:nvSpPr>
        <p:spPr/>
        <p:txBody>
          <a:bodyPr/>
          <a:lstStyle/>
          <a:p>
            <a:r>
              <a:rPr lang="en-IN" dirty="0"/>
              <a:t>C# Features</a:t>
            </a:r>
          </a:p>
        </p:txBody>
      </p:sp>
      <p:sp>
        <p:nvSpPr>
          <p:cNvPr id="3" name="Content Placeholder 2">
            <a:extLst>
              <a:ext uri="{FF2B5EF4-FFF2-40B4-BE49-F238E27FC236}">
                <a16:creationId xmlns:a16="http://schemas.microsoft.com/office/drawing/2014/main" id="{6770DC51-175A-4085-AC68-6C2800ADB942}"/>
              </a:ext>
            </a:extLst>
          </p:cNvPr>
          <p:cNvSpPr>
            <a:spLocks noGrp="1"/>
          </p:cNvSpPr>
          <p:nvPr>
            <p:ph idx="1"/>
          </p:nvPr>
        </p:nvSpPr>
        <p:spPr/>
        <p:txBody>
          <a:bodyPr>
            <a:normAutofit/>
          </a:bodyPr>
          <a:lstStyle/>
          <a:p>
            <a:r>
              <a:rPr lang="en-IN" dirty="0"/>
              <a:t>Simple and Modern</a:t>
            </a:r>
          </a:p>
          <a:p>
            <a:r>
              <a:rPr lang="en-IN" dirty="0"/>
              <a:t>Object Oriented programming Language</a:t>
            </a:r>
          </a:p>
          <a:p>
            <a:r>
              <a:rPr lang="en-IN" dirty="0"/>
              <a:t>Case sensitive Language</a:t>
            </a:r>
          </a:p>
          <a:p>
            <a:r>
              <a:rPr lang="en-IN" dirty="0"/>
              <a:t>Strongly-Typed Language</a:t>
            </a:r>
          </a:p>
          <a:p>
            <a:r>
              <a:rPr lang="en-IN" dirty="0"/>
              <a:t>Compiler-based Language</a:t>
            </a:r>
          </a:p>
          <a:p>
            <a:r>
              <a:rPr lang="en-IN" dirty="0"/>
              <a:t>Interoperability</a:t>
            </a:r>
          </a:p>
          <a:p>
            <a:r>
              <a:rPr lang="en-US" dirty="0"/>
              <a:t>Automatic Memory Management and Garbage Collection. </a:t>
            </a:r>
          </a:p>
          <a:p>
            <a:r>
              <a:rPr lang="en-US" dirty="0"/>
              <a:t>Rich library</a:t>
            </a:r>
          </a:p>
          <a:p>
            <a:r>
              <a:rPr lang="en-IN" dirty="0"/>
              <a:t>Exception Handling</a:t>
            </a:r>
          </a:p>
          <a:p>
            <a:endParaRPr lang="en-IN" dirty="0"/>
          </a:p>
          <a:p>
            <a:endParaRPr lang="en-IN" dirty="0"/>
          </a:p>
          <a:p>
            <a:endParaRPr lang="en-US" dirty="0"/>
          </a:p>
          <a:p>
            <a:endParaRPr lang="en-US" dirty="0"/>
          </a:p>
          <a:p>
            <a:endParaRPr lang="en-IN" dirty="0"/>
          </a:p>
        </p:txBody>
      </p:sp>
    </p:spTree>
    <p:extLst>
      <p:ext uri="{BB962C8B-B14F-4D97-AF65-F5344CB8AC3E}">
        <p14:creationId xmlns:p14="http://schemas.microsoft.com/office/powerpoint/2010/main" val="377970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F78B-00A6-42DF-9E38-4BC6475C66A4}"/>
              </a:ext>
            </a:extLst>
          </p:cNvPr>
          <p:cNvSpPr>
            <a:spLocks noGrp="1"/>
          </p:cNvSpPr>
          <p:nvPr>
            <p:ph type="title"/>
          </p:nvPr>
        </p:nvSpPr>
        <p:spPr/>
        <p:txBody>
          <a:bodyPr/>
          <a:lstStyle/>
          <a:p>
            <a:r>
              <a:rPr lang="en-IN" dirty="0"/>
              <a:t>C# Program Compilation and Execution</a:t>
            </a:r>
          </a:p>
        </p:txBody>
      </p:sp>
      <p:sp>
        <p:nvSpPr>
          <p:cNvPr id="3" name="Content Placeholder 2">
            <a:extLst>
              <a:ext uri="{FF2B5EF4-FFF2-40B4-BE49-F238E27FC236}">
                <a16:creationId xmlns:a16="http://schemas.microsoft.com/office/drawing/2014/main" id="{570E9B1D-EA4E-4170-94A7-16D765C7D4C3}"/>
              </a:ext>
            </a:extLst>
          </p:cNvPr>
          <p:cNvSpPr>
            <a:spLocks noGrp="1"/>
          </p:cNvSpPr>
          <p:nvPr>
            <p:ph idx="1"/>
          </p:nvPr>
        </p:nvSpPr>
        <p:spPr>
          <a:xfrm>
            <a:off x="6708302" y="1379721"/>
            <a:ext cx="4522748" cy="4518013"/>
          </a:xfrm>
        </p:spPr>
        <p:txBody>
          <a:bodyPr>
            <a:normAutofit fontScale="92500"/>
          </a:bodyPr>
          <a:lstStyle/>
          <a:p>
            <a:pPr defTabSz="685783">
              <a:lnSpc>
                <a:spcPct val="150000"/>
              </a:lnSpc>
              <a:buClr>
                <a:schemeClr val="bg2">
                  <a:lumMod val="75000"/>
                </a:schemeClr>
              </a:buClr>
              <a:defRPr/>
            </a:pPr>
            <a:r>
              <a:rPr lang="en-IN" altLang="en-US" sz="1600" dirty="0"/>
              <a:t>C# Programs can be compiled and executed using</a:t>
            </a:r>
          </a:p>
          <a:p>
            <a:pPr marL="740778" lvl="1" indent="-285750" defTabSz="685783">
              <a:lnSpc>
                <a:spcPct val="150000"/>
              </a:lnSpc>
              <a:buClr>
                <a:schemeClr val="bg2">
                  <a:lumMod val="75000"/>
                </a:schemeClr>
              </a:buClr>
              <a:defRPr/>
            </a:pPr>
            <a:r>
              <a:rPr lang="en-IN" altLang="en-US" sz="1600" b="1" dirty="0"/>
              <a:t>Command Prompt</a:t>
            </a:r>
          </a:p>
          <a:p>
            <a:pPr lvl="2" defTabSz="685783">
              <a:lnSpc>
                <a:spcPct val="150000"/>
              </a:lnSpc>
              <a:buClr>
                <a:schemeClr val="bg2">
                  <a:lumMod val="75000"/>
                </a:schemeClr>
              </a:buClr>
              <a:defRPr/>
            </a:pPr>
            <a:r>
              <a:rPr lang="en-IN" altLang="en-US" sz="1600" dirty="0"/>
              <a:t>Save the file as .cs extension: </a:t>
            </a:r>
          </a:p>
          <a:p>
            <a:pPr lvl="3" defTabSz="685783">
              <a:lnSpc>
                <a:spcPct val="150000"/>
              </a:lnSpc>
              <a:buClr>
                <a:schemeClr val="bg2">
                  <a:lumMod val="75000"/>
                </a:schemeClr>
              </a:buClr>
              <a:defRPr/>
            </a:pPr>
            <a:r>
              <a:rPr lang="en-IN" altLang="en-US" b="1" dirty="0"/>
              <a:t>Hello.cs</a:t>
            </a:r>
          </a:p>
          <a:p>
            <a:pPr lvl="2" defTabSz="685783">
              <a:lnSpc>
                <a:spcPct val="150000"/>
              </a:lnSpc>
              <a:buClr>
                <a:schemeClr val="bg2">
                  <a:lumMod val="75000"/>
                </a:schemeClr>
              </a:buClr>
              <a:defRPr/>
            </a:pPr>
            <a:r>
              <a:rPr lang="en-IN" altLang="en-US" sz="1600" dirty="0"/>
              <a:t>Compile the file using csc compiler:</a:t>
            </a:r>
          </a:p>
          <a:p>
            <a:pPr marL="1611313" lvl="5" indent="-285750" defTabSz="685783">
              <a:lnSpc>
                <a:spcPct val="150000"/>
              </a:lnSpc>
              <a:buClr>
                <a:schemeClr val="bg2">
                  <a:lumMod val="75000"/>
                </a:schemeClr>
              </a:buClr>
              <a:defRPr/>
            </a:pPr>
            <a:r>
              <a:rPr lang="en-IN" altLang="en-US" dirty="0"/>
              <a:t>csc Hello.cs</a:t>
            </a:r>
          </a:p>
          <a:p>
            <a:pPr lvl="2" defTabSz="685783">
              <a:lnSpc>
                <a:spcPct val="150000"/>
              </a:lnSpc>
              <a:buClr>
                <a:schemeClr val="bg2">
                  <a:lumMod val="75000"/>
                </a:schemeClr>
              </a:buClr>
              <a:defRPr/>
            </a:pPr>
            <a:r>
              <a:rPr lang="en-IN" altLang="en-US" sz="1600" dirty="0"/>
              <a:t>Execute the file:</a:t>
            </a:r>
          </a:p>
          <a:p>
            <a:pPr marL="1338263" lvl="4" indent="-285750" defTabSz="685783">
              <a:lnSpc>
                <a:spcPct val="150000"/>
              </a:lnSpc>
              <a:buClr>
                <a:schemeClr val="bg2">
                  <a:lumMod val="75000"/>
                </a:schemeClr>
              </a:buClr>
              <a:defRPr/>
            </a:pPr>
            <a:r>
              <a:rPr lang="en-IN" altLang="en-US" b="1" dirty="0"/>
              <a:t>Hello.exe or Hello</a:t>
            </a:r>
          </a:p>
          <a:p>
            <a:pPr marL="740778" lvl="1" indent="-285750" defTabSz="685783">
              <a:lnSpc>
                <a:spcPct val="150000"/>
              </a:lnSpc>
              <a:buClr>
                <a:schemeClr val="bg2">
                  <a:lumMod val="75000"/>
                </a:schemeClr>
              </a:buClr>
              <a:defRPr/>
            </a:pPr>
            <a:r>
              <a:rPr lang="en-IN" altLang="en-US" sz="1600" b="1" dirty="0"/>
              <a:t>Visual Studio IDE</a:t>
            </a:r>
            <a:endParaRPr lang="en-IN" dirty="0"/>
          </a:p>
        </p:txBody>
      </p:sp>
      <p:grpSp>
        <p:nvGrpSpPr>
          <p:cNvPr id="4" name="Group 3">
            <a:extLst>
              <a:ext uri="{FF2B5EF4-FFF2-40B4-BE49-F238E27FC236}">
                <a16:creationId xmlns:a16="http://schemas.microsoft.com/office/drawing/2014/main" id="{EDD5D931-34F9-4CA8-B05A-651AD1768FC4}"/>
              </a:ext>
            </a:extLst>
          </p:cNvPr>
          <p:cNvGrpSpPr/>
          <p:nvPr/>
        </p:nvGrpSpPr>
        <p:grpSpPr>
          <a:xfrm>
            <a:off x="960943" y="1379721"/>
            <a:ext cx="5747359" cy="4800600"/>
            <a:chOff x="3299509" y="1177569"/>
            <a:chExt cx="5427788" cy="4110473"/>
          </a:xfrm>
        </p:grpSpPr>
        <p:sp>
          <p:nvSpPr>
            <p:cNvPr id="5" name="Rectangle 4">
              <a:extLst>
                <a:ext uri="{FF2B5EF4-FFF2-40B4-BE49-F238E27FC236}">
                  <a16:creationId xmlns:a16="http://schemas.microsoft.com/office/drawing/2014/main" id="{0947ACD9-98E3-46E9-8C61-031192AE09E1}"/>
                </a:ext>
              </a:extLst>
            </p:cNvPr>
            <p:cNvSpPr/>
            <p:nvPr/>
          </p:nvSpPr>
          <p:spPr>
            <a:xfrm>
              <a:off x="3299511" y="1177569"/>
              <a:ext cx="1441939" cy="670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C# Source File(s)</a:t>
              </a:r>
            </a:p>
          </p:txBody>
        </p:sp>
        <p:sp>
          <p:nvSpPr>
            <p:cNvPr id="6" name="Rectangle 5">
              <a:extLst>
                <a:ext uri="{FF2B5EF4-FFF2-40B4-BE49-F238E27FC236}">
                  <a16:creationId xmlns:a16="http://schemas.microsoft.com/office/drawing/2014/main" id="{E6FCCA53-2C3F-47C6-9C57-9F8CC1484E67}"/>
                </a:ext>
              </a:extLst>
            </p:cNvPr>
            <p:cNvSpPr/>
            <p:nvPr/>
          </p:nvSpPr>
          <p:spPr>
            <a:xfrm>
              <a:off x="4905572" y="1181835"/>
              <a:ext cx="1441939" cy="3020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Resources</a:t>
              </a:r>
            </a:p>
          </p:txBody>
        </p:sp>
        <p:sp>
          <p:nvSpPr>
            <p:cNvPr id="7" name="Rectangle 6">
              <a:extLst>
                <a:ext uri="{FF2B5EF4-FFF2-40B4-BE49-F238E27FC236}">
                  <a16:creationId xmlns:a16="http://schemas.microsoft.com/office/drawing/2014/main" id="{809D9CB8-472B-4596-9888-8BF785221DF7}"/>
                </a:ext>
              </a:extLst>
            </p:cNvPr>
            <p:cNvSpPr/>
            <p:nvPr/>
          </p:nvSpPr>
          <p:spPr>
            <a:xfrm>
              <a:off x="4905571" y="1557747"/>
              <a:ext cx="1441939" cy="277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References</a:t>
              </a:r>
            </a:p>
          </p:txBody>
        </p:sp>
        <p:sp>
          <p:nvSpPr>
            <p:cNvPr id="8" name="Rectangle 7">
              <a:extLst>
                <a:ext uri="{FF2B5EF4-FFF2-40B4-BE49-F238E27FC236}">
                  <a16:creationId xmlns:a16="http://schemas.microsoft.com/office/drawing/2014/main" id="{6FA80B55-E6C1-4B9B-B33F-1F9769EE189A}"/>
                </a:ext>
              </a:extLst>
            </p:cNvPr>
            <p:cNvSpPr/>
            <p:nvPr/>
          </p:nvSpPr>
          <p:spPr>
            <a:xfrm>
              <a:off x="3863897" y="2167343"/>
              <a:ext cx="1919221" cy="277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C# Compiler</a:t>
              </a:r>
            </a:p>
          </p:txBody>
        </p:sp>
        <p:sp>
          <p:nvSpPr>
            <p:cNvPr id="9" name="Rectangle 8">
              <a:extLst>
                <a:ext uri="{FF2B5EF4-FFF2-40B4-BE49-F238E27FC236}">
                  <a16:creationId xmlns:a16="http://schemas.microsoft.com/office/drawing/2014/main" id="{49E1830B-BEB1-4F07-B40C-758A176CC44B}"/>
                </a:ext>
              </a:extLst>
            </p:cNvPr>
            <p:cNvSpPr/>
            <p:nvPr/>
          </p:nvSpPr>
          <p:spPr>
            <a:xfrm>
              <a:off x="3299509" y="2788464"/>
              <a:ext cx="3047999" cy="670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Managed Assembly (.exe or .dll)</a:t>
              </a:r>
            </a:p>
            <a:p>
              <a:pPr algn="ctr"/>
              <a:r>
                <a:rPr lang="en-IN" sz="1200" b="1" dirty="0"/>
                <a:t>MSIL Metadata</a:t>
              </a:r>
            </a:p>
          </p:txBody>
        </p:sp>
        <p:sp>
          <p:nvSpPr>
            <p:cNvPr id="10" name="Rectangle 9">
              <a:extLst>
                <a:ext uri="{FF2B5EF4-FFF2-40B4-BE49-F238E27FC236}">
                  <a16:creationId xmlns:a16="http://schemas.microsoft.com/office/drawing/2014/main" id="{02A3AED4-1F9C-4F0D-A98B-1111C4346F38}"/>
                </a:ext>
              </a:extLst>
            </p:cNvPr>
            <p:cNvSpPr/>
            <p:nvPr/>
          </p:nvSpPr>
          <p:spPr>
            <a:xfrm>
              <a:off x="3299510" y="3955939"/>
              <a:ext cx="3047999" cy="670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Common Language Runtime</a:t>
              </a:r>
            </a:p>
            <a:p>
              <a:pPr algn="ctr"/>
              <a:r>
                <a:rPr lang="en-IN" sz="1200" b="1" dirty="0"/>
                <a:t>Security/GC/JIT Compiler</a:t>
              </a:r>
            </a:p>
          </p:txBody>
        </p:sp>
        <p:sp>
          <p:nvSpPr>
            <p:cNvPr id="11" name="Rectangle 10">
              <a:extLst>
                <a:ext uri="{FF2B5EF4-FFF2-40B4-BE49-F238E27FC236}">
                  <a16:creationId xmlns:a16="http://schemas.microsoft.com/office/drawing/2014/main" id="{80A24F83-188C-4DA0-95FC-5C86607BEB4B}"/>
                </a:ext>
              </a:extLst>
            </p:cNvPr>
            <p:cNvSpPr/>
            <p:nvPr/>
          </p:nvSpPr>
          <p:spPr>
            <a:xfrm>
              <a:off x="7285358" y="4014554"/>
              <a:ext cx="1441939" cy="670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.NET FCL</a:t>
              </a:r>
            </a:p>
          </p:txBody>
        </p:sp>
        <p:sp>
          <p:nvSpPr>
            <p:cNvPr id="12" name="Rectangle 11">
              <a:extLst>
                <a:ext uri="{FF2B5EF4-FFF2-40B4-BE49-F238E27FC236}">
                  <a16:creationId xmlns:a16="http://schemas.microsoft.com/office/drawing/2014/main" id="{F34CF915-2084-4D7D-BE62-05223DF05C32}"/>
                </a:ext>
              </a:extLst>
            </p:cNvPr>
            <p:cNvSpPr/>
            <p:nvPr/>
          </p:nvSpPr>
          <p:spPr>
            <a:xfrm>
              <a:off x="3817008" y="5010951"/>
              <a:ext cx="1919221" cy="277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Operating System</a:t>
              </a:r>
            </a:p>
          </p:txBody>
        </p:sp>
        <p:sp>
          <p:nvSpPr>
            <p:cNvPr id="13" name="TextBox 12">
              <a:extLst>
                <a:ext uri="{FF2B5EF4-FFF2-40B4-BE49-F238E27FC236}">
                  <a16:creationId xmlns:a16="http://schemas.microsoft.com/office/drawing/2014/main" id="{B9A54D3B-C151-4074-A6A1-A043068CC3D9}"/>
                </a:ext>
              </a:extLst>
            </p:cNvPr>
            <p:cNvSpPr txBox="1"/>
            <p:nvPr/>
          </p:nvSpPr>
          <p:spPr>
            <a:xfrm>
              <a:off x="5309487" y="2514772"/>
              <a:ext cx="791839" cy="253916"/>
            </a:xfrm>
            <a:prstGeom prst="rect">
              <a:avLst/>
            </a:prstGeom>
            <a:noFill/>
          </p:spPr>
          <p:txBody>
            <a:bodyPr wrap="square" rtlCol="0">
              <a:spAutoFit/>
            </a:bodyPr>
            <a:lstStyle/>
            <a:p>
              <a:r>
                <a:rPr lang="en-IN" sz="1050" dirty="0"/>
                <a:t>Creates</a:t>
              </a:r>
            </a:p>
          </p:txBody>
        </p:sp>
        <p:sp>
          <p:nvSpPr>
            <p:cNvPr id="14" name="TextBox 13">
              <a:extLst>
                <a:ext uri="{FF2B5EF4-FFF2-40B4-BE49-F238E27FC236}">
                  <a16:creationId xmlns:a16="http://schemas.microsoft.com/office/drawing/2014/main" id="{F9148D31-67BD-4A00-AAAB-2D2F191D0AB0}"/>
                </a:ext>
              </a:extLst>
            </p:cNvPr>
            <p:cNvSpPr txBox="1"/>
            <p:nvPr/>
          </p:nvSpPr>
          <p:spPr>
            <a:xfrm>
              <a:off x="5327599" y="3548538"/>
              <a:ext cx="2039817" cy="415498"/>
            </a:xfrm>
            <a:prstGeom prst="rect">
              <a:avLst/>
            </a:prstGeom>
            <a:noFill/>
          </p:spPr>
          <p:txBody>
            <a:bodyPr wrap="square" rtlCol="0">
              <a:spAutoFit/>
            </a:bodyPr>
            <a:lstStyle/>
            <a:p>
              <a:r>
                <a:rPr lang="en-IN" sz="1050" dirty="0"/>
                <a:t>IL metadata &amp; references loaded by CLR </a:t>
              </a:r>
            </a:p>
          </p:txBody>
        </p:sp>
        <p:sp>
          <p:nvSpPr>
            <p:cNvPr id="15" name="TextBox 14">
              <a:extLst>
                <a:ext uri="{FF2B5EF4-FFF2-40B4-BE49-F238E27FC236}">
                  <a16:creationId xmlns:a16="http://schemas.microsoft.com/office/drawing/2014/main" id="{E9B5288C-FF1F-4ECD-81F8-66C0484BDB94}"/>
                </a:ext>
              </a:extLst>
            </p:cNvPr>
            <p:cNvSpPr txBox="1"/>
            <p:nvPr/>
          </p:nvSpPr>
          <p:spPr>
            <a:xfrm>
              <a:off x="6529216" y="4108507"/>
              <a:ext cx="761999" cy="253916"/>
            </a:xfrm>
            <a:prstGeom prst="rect">
              <a:avLst/>
            </a:prstGeom>
            <a:noFill/>
          </p:spPr>
          <p:txBody>
            <a:bodyPr wrap="square" rtlCol="0">
              <a:spAutoFit/>
            </a:bodyPr>
            <a:lstStyle/>
            <a:p>
              <a:r>
                <a:rPr lang="en-IN" sz="1050" dirty="0"/>
                <a:t>Uses</a:t>
              </a:r>
            </a:p>
          </p:txBody>
        </p:sp>
        <p:sp>
          <p:nvSpPr>
            <p:cNvPr id="16" name="TextBox 15">
              <a:extLst>
                <a:ext uri="{FF2B5EF4-FFF2-40B4-BE49-F238E27FC236}">
                  <a16:creationId xmlns:a16="http://schemas.microsoft.com/office/drawing/2014/main" id="{1F9A1930-85A3-4014-92D0-94C3CF369B6A}"/>
                </a:ext>
              </a:extLst>
            </p:cNvPr>
            <p:cNvSpPr txBox="1"/>
            <p:nvPr/>
          </p:nvSpPr>
          <p:spPr>
            <a:xfrm>
              <a:off x="5368631" y="4603053"/>
              <a:ext cx="1652955" cy="415498"/>
            </a:xfrm>
            <a:prstGeom prst="rect">
              <a:avLst/>
            </a:prstGeom>
            <a:noFill/>
          </p:spPr>
          <p:txBody>
            <a:bodyPr wrap="square" rtlCol="0">
              <a:spAutoFit/>
            </a:bodyPr>
            <a:lstStyle/>
            <a:p>
              <a:r>
                <a:rPr lang="en-IN" sz="1050" dirty="0"/>
                <a:t>Converted to native machine code</a:t>
              </a:r>
            </a:p>
          </p:txBody>
        </p:sp>
        <p:cxnSp>
          <p:nvCxnSpPr>
            <p:cNvPr id="17" name="Straight Arrow Connector 16">
              <a:extLst>
                <a:ext uri="{FF2B5EF4-FFF2-40B4-BE49-F238E27FC236}">
                  <a16:creationId xmlns:a16="http://schemas.microsoft.com/office/drawing/2014/main" id="{DC22E19A-1079-4841-9A3F-0D2289FCED84}"/>
                </a:ext>
              </a:extLst>
            </p:cNvPr>
            <p:cNvCxnSpPr>
              <a:stCxn id="5" idx="2"/>
            </p:cNvCxnSpPr>
            <p:nvPr/>
          </p:nvCxnSpPr>
          <p:spPr>
            <a:xfrm flipH="1">
              <a:off x="4020480" y="1848129"/>
              <a:ext cx="1" cy="36610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372AF1C-B86D-46D0-BCDB-4C19C6A71A9A}"/>
                </a:ext>
              </a:extLst>
            </p:cNvPr>
            <p:cNvCxnSpPr/>
            <p:nvPr/>
          </p:nvCxnSpPr>
          <p:spPr>
            <a:xfrm flipH="1">
              <a:off x="5620678" y="1834838"/>
              <a:ext cx="1" cy="36610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CF95470-C67C-44E1-83F1-B5773330E9D9}"/>
                </a:ext>
              </a:extLst>
            </p:cNvPr>
            <p:cNvCxnSpPr/>
            <p:nvPr/>
          </p:nvCxnSpPr>
          <p:spPr>
            <a:xfrm flipH="1">
              <a:off x="4823506" y="2437852"/>
              <a:ext cx="1" cy="40271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DA2EB9A-3187-4F38-98A5-A1BB4128FCE6}"/>
                </a:ext>
              </a:extLst>
            </p:cNvPr>
            <p:cNvCxnSpPr/>
            <p:nvPr/>
          </p:nvCxnSpPr>
          <p:spPr>
            <a:xfrm flipH="1">
              <a:off x="4829370" y="3461004"/>
              <a:ext cx="1" cy="53601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EAE0BDC-5CFE-453D-9249-90B1FE0A7083}"/>
                </a:ext>
              </a:extLst>
            </p:cNvPr>
            <p:cNvCxnSpPr/>
            <p:nvPr/>
          </p:nvCxnSpPr>
          <p:spPr>
            <a:xfrm flipH="1">
              <a:off x="4829370" y="4643363"/>
              <a:ext cx="1" cy="40271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26B5B93-8F68-4770-93AA-5AE155CBFB7E}"/>
                </a:ext>
              </a:extLst>
            </p:cNvPr>
            <p:cNvCxnSpPr>
              <a:endCxn id="11" idx="1"/>
            </p:cNvCxnSpPr>
            <p:nvPr/>
          </p:nvCxnSpPr>
          <p:spPr>
            <a:xfrm>
              <a:off x="6347511" y="4349834"/>
              <a:ext cx="937847"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84487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C565-6973-4618-86A2-38A7440C7585}"/>
              </a:ext>
            </a:extLst>
          </p:cNvPr>
          <p:cNvSpPr>
            <a:spLocks noGrp="1"/>
          </p:cNvSpPr>
          <p:nvPr>
            <p:ph type="title"/>
          </p:nvPr>
        </p:nvSpPr>
        <p:spPr/>
        <p:txBody>
          <a:bodyPr/>
          <a:lstStyle/>
          <a:p>
            <a:r>
              <a:rPr lang="en-IN" dirty="0"/>
              <a:t>Dynamic Link Library (DLL)</a:t>
            </a:r>
          </a:p>
        </p:txBody>
      </p:sp>
      <p:sp>
        <p:nvSpPr>
          <p:cNvPr id="3" name="Content Placeholder 2">
            <a:extLst>
              <a:ext uri="{FF2B5EF4-FFF2-40B4-BE49-F238E27FC236}">
                <a16:creationId xmlns:a16="http://schemas.microsoft.com/office/drawing/2014/main" id="{3849C774-266F-4703-86E3-ADC170E22860}"/>
              </a:ext>
            </a:extLst>
          </p:cNvPr>
          <p:cNvSpPr>
            <a:spLocks noGrp="1"/>
          </p:cNvSpPr>
          <p:nvPr>
            <p:ph idx="1"/>
          </p:nvPr>
        </p:nvSpPr>
        <p:spPr/>
        <p:txBody>
          <a:bodyPr>
            <a:normAutofit/>
          </a:bodyPr>
          <a:lstStyle/>
          <a:p>
            <a:r>
              <a:rPr lang="en-IN" dirty="0"/>
              <a:t>A Dynamic Link library (DLL) is a library that contains functions and codes that can be used by more than one program at a time.</a:t>
            </a:r>
          </a:p>
          <a:p>
            <a:r>
              <a:rPr lang="en-IN" dirty="0"/>
              <a:t>Both EXE and DLL files are executable program modules, but DLL cannot runs on its own. DLL needs to be taken in EXE to run it. </a:t>
            </a:r>
          </a:p>
          <a:p>
            <a:r>
              <a:rPr lang="en-IN" dirty="0"/>
              <a:t>DLL files cannot be executed directly.</a:t>
            </a:r>
          </a:p>
          <a:p>
            <a:r>
              <a:rPr lang="en-IN" dirty="0"/>
              <a:t>Once a DLL is created, it can be used in many applications.</a:t>
            </a:r>
          </a:p>
          <a:p>
            <a:r>
              <a:rPr lang="en-IN" dirty="0"/>
              <a:t>To use DLL </a:t>
            </a:r>
          </a:p>
          <a:p>
            <a:pPr lvl="1"/>
            <a:r>
              <a:rPr lang="en-IN" dirty="0"/>
              <a:t>Add the reference/import the DLL file</a:t>
            </a:r>
          </a:p>
        </p:txBody>
      </p:sp>
    </p:spTree>
    <p:extLst>
      <p:ext uri="{BB962C8B-B14F-4D97-AF65-F5344CB8AC3E}">
        <p14:creationId xmlns:p14="http://schemas.microsoft.com/office/powerpoint/2010/main" val="3817899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3680D-7B8E-49E2-8751-35B404F62120}"/>
              </a:ext>
            </a:extLst>
          </p:cNvPr>
          <p:cNvSpPr>
            <a:spLocks noGrp="1"/>
          </p:cNvSpPr>
          <p:nvPr>
            <p:ph type="title"/>
          </p:nvPr>
        </p:nvSpPr>
        <p:spPr>
          <a:xfrm>
            <a:off x="425824" y="278160"/>
            <a:ext cx="9438716" cy="797605"/>
          </a:xfrm>
        </p:spPr>
        <p:txBody>
          <a:bodyPr/>
          <a:lstStyle/>
          <a:p>
            <a:r>
              <a:rPr lang="en-US" dirty="0"/>
              <a:t>Assembly</a:t>
            </a:r>
            <a:endParaRPr lang="en-IN" dirty="0"/>
          </a:p>
        </p:txBody>
      </p:sp>
      <p:sp>
        <p:nvSpPr>
          <p:cNvPr id="3" name="Content Placeholder 2">
            <a:extLst>
              <a:ext uri="{FF2B5EF4-FFF2-40B4-BE49-F238E27FC236}">
                <a16:creationId xmlns:a16="http://schemas.microsoft.com/office/drawing/2014/main" id="{681E8A0B-02EA-4D3F-B39F-86C03BD268EE}"/>
              </a:ext>
            </a:extLst>
          </p:cNvPr>
          <p:cNvSpPr>
            <a:spLocks noGrp="1"/>
          </p:cNvSpPr>
          <p:nvPr>
            <p:ph idx="1"/>
          </p:nvPr>
        </p:nvSpPr>
        <p:spPr>
          <a:xfrm>
            <a:off x="3991708" y="1274884"/>
            <a:ext cx="8003068" cy="4897315"/>
          </a:xfrm>
        </p:spPr>
        <p:txBody>
          <a:bodyPr>
            <a:normAutofit fontScale="92500"/>
          </a:bodyPr>
          <a:lstStyle/>
          <a:p>
            <a:r>
              <a:rPr lang="en-IN" dirty="0"/>
              <a:t>An assembly is the smallest deployable unit of execution.</a:t>
            </a:r>
          </a:p>
          <a:p>
            <a:r>
              <a:rPr lang="en-IN" dirty="0"/>
              <a:t>It is the basic building block of .NET Framework.</a:t>
            </a:r>
          </a:p>
          <a:p>
            <a:r>
              <a:rPr lang="en-IN" dirty="0"/>
              <a:t>It Consists of Meta-Information and CIL/MSIL.</a:t>
            </a:r>
          </a:p>
          <a:p>
            <a:r>
              <a:rPr lang="en-IN" dirty="0"/>
              <a:t>It is Self Descriptive</a:t>
            </a:r>
          </a:p>
          <a:p>
            <a:r>
              <a:rPr lang="en-IN" dirty="0"/>
              <a:t>Have unique version number. Contains IL code to be executed.</a:t>
            </a:r>
          </a:p>
          <a:p>
            <a:r>
              <a:rPr lang="en-IN" dirty="0"/>
              <a:t>There are two types of assemblies</a:t>
            </a:r>
          </a:p>
          <a:p>
            <a:pPr lvl="1"/>
            <a:r>
              <a:rPr lang="en-IN" dirty="0"/>
              <a:t>Private: Can be used only in one application. Stored in the specific application’s directory or sub directory.</a:t>
            </a:r>
          </a:p>
          <a:p>
            <a:pPr lvl="1"/>
            <a:r>
              <a:rPr lang="en-IN" dirty="0"/>
              <a:t>Public / Shared: Can be used by multiple client application. Stored in centralized shared folder called GAC (Global Assembly Cache). </a:t>
            </a:r>
          </a:p>
          <a:p>
            <a:pPr lvl="1"/>
            <a:endParaRPr lang="en-IN" dirty="0"/>
          </a:p>
          <a:p>
            <a:endParaRPr lang="en-IN" dirty="0"/>
          </a:p>
        </p:txBody>
      </p:sp>
      <p:pic>
        <p:nvPicPr>
          <p:cNvPr id="4" name="Picture 2">
            <a:extLst>
              <a:ext uri="{FF2B5EF4-FFF2-40B4-BE49-F238E27FC236}">
                <a16:creationId xmlns:a16="http://schemas.microsoft.com/office/drawing/2014/main" id="{9DF11C5E-1D72-400F-B9E6-7F83207EF8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824" y="1274885"/>
            <a:ext cx="3371761" cy="357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21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EFDC-790E-4E47-A515-1EBCF1F2F2CD}"/>
              </a:ext>
            </a:extLst>
          </p:cNvPr>
          <p:cNvSpPr>
            <a:spLocks noGrp="1"/>
          </p:cNvSpPr>
          <p:nvPr>
            <p:ph type="title"/>
          </p:nvPr>
        </p:nvSpPr>
        <p:spPr/>
        <p:txBody>
          <a:bodyPr/>
          <a:lstStyle/>
          <a:p>
            <a:r>
              <a:rPr lang="en-US" dirty="0"/>
              <a:t>Introducing OOP</a:t>
            </a:r>
          </a:p>
        </p:txBody>
      </p:sp>
      <p:sp>
        <p:nvSpPr>
          <p:cNvPr id="16" name="Content Placeholder 15">
            <a:extLst>
              <a:ext uri="{FF2B5EF4-FFF2-40B4-BE49-F238E27FC236}">
                <a16:creationId xmlns:a16="http://schemas.microsoft.com/office/drawing/2014/main" id="{C110FDCF-2EC3-46D4-A98B-824D58833898}"/>
              </a:ext>
            </a:extLst>
          </p:cNvPr>
          <p:cNvSpPr>
            <a:spLocks noGrp="1"/>
          </p:cNvSpPr>
          <p:nvPr>
            <p:ph idx="1"/>
          </p:nvPr>
        </p:nvSpPr>
        <p:spPr/>
        <p:txBody>
          <a:bodyPr/>
          <a:lstStyle/>
          <a:p>
            <a:r>
              <a:rPr lang="en-US" dirty="0"/>
              <a:t>Object Oriented programming</a:t>
            </a:r>
          </a:p>
          <a:p>
            <a:r>
              <a:rPr lang="en-US" dirty="0"/>
              <a:t>Programming model for scalable applications.</a:t>
            </a:r>
          </a:p>
          <a:p>
            <a:r>
              <a:rPr lang="en-US" dirty="0"/>
              <a:t>Used in the most popular languages such as java, python, java </a:t>
            </a:r>
            <a:r>
              <a:rPr lang="en-US" dirty="0" err="1"/>
              <a:t>script,C</a:t>
            </a:r>
            <a:r>
              <a:rPr lang="en-US" dirty="0"/>
              <a:t>++ etc.</a:t>
            </a:r>
          </a:p>
          <a:p>
            <a:r>
              <a:rPr lang="en-US" dirty="0"/>
              <a:t>Goal of OOP to group-up some data and its operations as a single unit called object.</a:t>
            </a:r>
          </a:p>
          <a:p>
            <a:endParaRPr lang="en-US" dirty="0"/>
          </a:p>
          <a:p>
            <a:endParaRPr lang="en-US" dirty="0"/>
          </a:p>
          <a:p>
            <a:endParaRPr lang="en-US" dirty="0"/>
          </a:p>
        </p:txBody>
      </p:sp>
    </p:spTree>
    <p:extLst>
      <p:ext uri="{BB962C8B-B14F-4D97-AF65-F5344CB8AC3E}">
        <p14:creationId xmlns:p14="http://schemas.microsoft.com/office/powerpoint/2010/main" val="895791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3AFC-C220-4038-ACF0-E5D4B3B57FD0}"/>
              </a:ext>
            </a:extLst>
          </p:cNvPr>
          <p:cNvSpPr>
            <a:spLocks noGrp="1"/>
          </p:cNvSpPr>
          <p:nvPr>
            <p:ph type="title"/>
          </p:nvPr>
        </p:nvSpPr>
        <p:spPr/>
        <p:txBody>
          <a:bodyPr/>
          <a:lstStyle/>
          <a:p>
            <a:r>
              <a:rPr lang="en-US" dirty="0"/>
              <a:t>Object</a:t>
            </a:r>
          </a:p>
        </p:txBody>
      </p:sp>
      <p:sp>
        <p:nvSpPr>
          <p:cNvPr id="4" name="Content Placeholder 3">
            <a:extLst>
              <a:ext uri="{FF2B5EF4-FFF2-40B4-BE49-F238E27FC236}">
                <a16:creationId xmlns:a16="http://schemas.microsoft.com/office/drawing/2014/main" id="{0146DD26-E59E-4BAA-A74F-05E44312CC29}"/>
              </a:ext>
            </a:extLst>
          </p:cNvPr>
          <p:cNvSpPr>
            <a:spLocks noGrp="1"/>
          </p:cNvSpPr>
          <p:nvPr>
            <p:ph idx="1"/>
          </p:nvPr>
        </p:nvSpPr>
        <p:spPr>
          <a:xfrm>
            <a:off x="576274" y="1139031"/>
            <a:ext cx="10695464" cy="2289969"/>
          </a:xfrm>
        </p:spPr>
        <p:txBody>
          <a:bodyPr/>
          <a:lstStyle/>
          <a:p>
            <a:r>
              <a:rPr lang="en-US" dirty="0"/>
              <a:t>Object is a small unit (entity)in a program that represents a real-world person or thing.</a:t>
            </a:r>
          </a:p>
          <a:p>
            <a:endParaRPr lang="en-IN" dirty="0"/>
          </a:p>
        </p:txBody>
      </p:sp>
      <p:pic>
        <p:nvPicPr>
          <p:cNvPr id="8" name="Picture 7">
            <a:extLst>
              <a:ext uri="{FF2B5EF4-FFF2-40B4-BE49-F238E27FC236}">
                <a16:creationId xmlns:a16="http://schemas.microsoft.com/office/drawing/2014/main" id="{D5670B24-ED63-4952-9664-A0EC0F64F58E}"/>
              </a:ext>
            </a:extLst>
          </p:cNvPr>
          <p:cNvPicPr>
            <a:picLocks noChangeAspect="1"/>
          </p:cNvPicPr>
          <p:nvPr/>
        </p:nvPicPr>
        <p:blipFill>
          <a:blip r:embed="rId2"/>
          <a:stretch>
            <a:fillRect/>
          </a:stretch>
        </p:blipFill>
        <p:spPr>
          <a:xfrm>
            <a:off x="1298331" y="3492266"/>
            <a:ext cx="1752600" cy="2343150"/>
          </a:xfrm>
          <a:prstGeom prst="rect">
            <a:avLst/>
          </a:prstGeom>
        </p:spPr>
      </p:pic>
      <p:pic>
        <p:nvPicPr>
          <p:cNvPr id="9" name="Picture 8">
            <a:extLst>
              <a:ext uri="{FF2B5EF4-FFF2-40B4-BE49-F238E27FC236}">
                <a16:creationId xmlns:a16="http://schemas.microsoft.com/office/drawing/2014/main" id="{1A38719D-4E77-40B0-843E-45581D4360F1}"/>
              </a:ext>
            </a:extLst>
          </p:cNvPr>
          <p:cNvPicPr>
            <a:picLocks noChangeAspect="1"/>
          </p:cNvPicPr>
          <p:nvPr/>
        </p:nvPicPr>
        <p:blipFill>
          <a:blip r:embed="rId3"/>
          <a:stretch>
            <a:fillRect/>
          </a:stretch>
        </p:blipFill>
        <p:spPr>
          <a:xfrm>
            <a:off x="5072923" y="3594894"/>
            <a:ext cx="1438275" cy="2124075"/>
          </a:xfrm>
          <a:prstGeom prst="rect">
            <a:avLst/>
          </a:prstGeom>
        </p:spPr>
      </p:pic>
      <p:pic>
        <p:nvPicPr>
          <p:cNvPr id="10" name="Picture 9">
            <a:extLst>
              <a:ext uri="{FF2B5EF4-FFF2-40B4-BE49-F238E27FC236}">
                <a16:creationId xmlns:a16="http://schemas.microsoft.com/office/drawing/2014/main" id="{CF7A8D89-A015-4F13-B88C-0258ED7DE141}"/>
              </a:ext>
            </a:extLst>
          </p:cNvPr>
          <p:cNvPicPr>
            <a:picLocks noChangeAspect="1"/>
          </p:cNvPicPr>
          <p:nvPr/>
        </p:nvPicPr>
        <p:blipFill>
          <a:blip r:embed="rId4"/>
          <a:stretch>
            <a:fillRect/>
          </a:stretch>
        </p:blipFill>
        <p:spPr>
          <a:xfrm>
            <a:off x="7887066" y="3594894"/>
            <a:ext cx="1552575" cy="2152650"/>
          </a:xfrm>
          <a:prstGeom prst="rect">
            <a:avLst/>
          </a:prstGeom>
        </p:spPr>
      </p:pic>
    </p:spTree>
    <p:extLst>
      <p:ext uri="{BB962C8B-B14F-4D97-AF65-F5344CB8AC3E}">
        <p14:creationId xmlns:p14="http://schemas.microsoft.com/office/powerpoint/2010/main" val="294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4367B-F50D-4944-B77B-18D98E50B00A}"/>
              </a:ext>
            </a:extLst>
          </p:cNvPr>
          <p:cNvSpPr>
            <a:spLocks noGrp="1"/>
          </p:cNvSpPr>
          <p:nvPr>
            <p:ph type="title"/>
          </p:nvPr>
        </p:nvSpPr>
        <p:spPr/>
        <p:txBody>
          <a:bodyPr/>
          <a:lstStyle/>
          <a:p>
            <a:r>
              <a:rPr lang="en-US" dirty="0"/>
              <a:t>Class	</a:t>
            </a:r>
            <a:endParaRPr lang="en-IN" dirty="0"/>
          </a:p>
        </p:txBody>
      </p:sp>
      <p:sp>
        <p:nvSpPr>
          <p:cNvPr id="3" name="Content Placeholder 2">
            <a:extLst>
              <a:ext uri="{FF2B5EF4-FFF2-40B4-BE49-F238E27FC236}">
                <a16:creationId xmlns:a16="http://schemas.microsoft.com/office/drawing/2014/main" id="{6C8A97E0-FFE2-4E64-9389-712F58106230}"/>
              </a:ext>
            </a:extLst>
          </p:cNvPr>
          <p:cNvSpPr>
            <a:spLocks noGrp="1"/>
          </p:cNvSpPr>
          <p:nvPr>
            <p:ph idx="1"/>
          </p:nvPr>
        </p:nvSpPr>
        <p:spPr>
          <a:xfrm>
            <a:off x="726724" y="1253331"/>
            <a:ext cx="8733799" cy="4514423"/>
          </a:xfrm>
        </p:spPr>
        <p:txBody>
          <a:bodyPr/>
          <a:lstStyle/>
          <a:p>
            <a:r>
              <a:rPr lang="en-US" dirty="0"/>
              <a:t>Class is a model of object.</a:t>
            </a:r>
          </a:p>
          <a:p>
            <a:r>
              <a:rPr lang="en-US" dirty="0"/>
              <a:t>Class represents structure (list of fields and methods) of data that you want to store in similar object.</a:t>
            </a:r>
          </a:p>
          <a:p>
            <a:endParaRPr lang="en-US" dirty="0"/>
          </a:p>
          <a:p>
            <a:endParaRPr lang="en-IN" dirty="0"/>
          </a:p>
        </p:txBody>
      </p:sp>
      <p:pic>
        <p:nvPicPr>
          <p:cNvPr id="4" name="Picture 3">
            <a:extLst>
              <a:ext uri="{FF2B5EF4-FFF2-40B4-BE49-F238E27FC236}">
                <a16:creationId xmlns:a16="http://schemas.microsoft.com/office/drawing/2014/main" id="{0986A4C0-2C9D-4CE4-8778-32C040DC015D}"/>
              </a:ext>
            </a:extLst>
          </p:cNvPr>
          <p:cNvPicPr>
            <a:picLocks noChangeAspect="1"/>
          </p:cNvPicPr>
          <p:nvPr/>
        </p:nvPicPr>
        <p:blipFill>
          <a:blip r:embed="rId2"/>
          <a:stretch>
            <a:fillRect/>
          </a:stretch>
        </p:blipFill>
        <p:spPr>
          <a:xfrm>
            <a:off x="3587023" y="3510542"/>
            <a:ext cx="2676525" cy="1952625"/>
          </a:xfrm>
          <a:prstGeom prst="rect">
            <a:avLst/>
          </a:prstGeom>
        </p:spPr>
      </p:pic>
    </p:spTree>
    <p:extLst>
      <p:ext uri="{BB962C8B-B14F-4D97-AF65-F5344CB8AC3E}">
        <p14:creationId xmlns:p14="http://schemas.microsoft.com/office/powerpoint/2010/main" val="1481145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A8EC-D30E-4A1E-9F87-CD3BD4185899}"/>
              </a:ext>
            </a:extLst>
          </p:cNvPr>
          <p:cNvSpPr>
            <a:spLocks noGrp="1"/>
          </p:cNvSpPr>
          <p:nvPr>
            <p:ph type="title"/>
          </p:nvPr>
        </p:nvSpPr>
        <p:spPr/>
        <p:txBody>
          <a:bodyPr/>
          <a:lstStyle/>
          <a:p>
            <a:r>
              <a:rPr lang="en-US" dirty="0"/>
              <a:t>Methods</a:t>
            </a:r>
            <a:endParaRPr lang="en-IN" dirty="0"/>
          </a:p>
        </p:txBody>
      </p:sp>
      <p:sp>
        <p:nvSpPr>
          <p:cNvPr id="3" name="Content Placeholder 2">
            <a:extLst>
              <a:ext uri="{FF2B5EF4-FFF2-40B4-BE49-F238E27FC236}">
                <a16:creationId xmlns:a16="http://schemas.microsoft.com/office/drawing/2014/main" id="{759DE5FD-87C0-4BAE-BEC4-67ABE829F568}"/>
              </a:ext>
            </a:extLst>
          </p:cNvPr>
          <p:cNvSpPr>
            <a:spLocks noGrp="1"/>
          </p:cNvSpPr>
          <p:nvPr>
            <p:ph idx="1"/>
          </p:nvPr>
        </p:nvSpPr>
        <p:spPr>
          <a:xfrm>
            <a:off x="726724" y="1253331"/>
            <a:ext cx="11054968" cy="2333931"/>
          </a:xfrm>
        </p:spPr>
        <p:txBody>
          <a:bodyPr/>
          <a:lstStyle/>
          <a:p>
            <a:r>
              <a:rPr lang="en-US" dirty="0"/>
              <a:t>Method is a collection of statements to perform certain operation(Process or work) such as performing some calculations , displaying some output, checking some conditions etc.</a:t>
            </a:r>
          </a:p>
          <a:p>
            <a:r>
              <a:rPr lang="en-US" dirty="0"/>
              <a:t>Method should be a member (part)of class.</a:t>
            </a:r>
          </a:p>
          <a:p>
            <a:endParaRPr lang="en-US" dirty="0"/>
          </a:p>
        </p:txBody>
      </p:sp>
      <p:pic>
        <p:nvPicPr>
          <p:cNvPr id="4" name="Picture 3">
            <a:extLst>
              <a:ext uri="{FF2B5EF4-FFF2-40B4-BE49-F238E27FC236}">
                <a16:creationId xmlns:a16="http://schemas.microsoft.com/office/drawing/2014/main" id="{CAF43F0E-DC8A-4B68-B825-27FB0ACE8D11}"/>
              </a:ext>
            </a:extLst>
          </p:cNvPr>
          <p:cNvPicPr>
            <a:picLocks noChangeAspect="1"/>
          </p:cNvPicPr>
          <p:nvPr/>
        </p:nvPicPr>
        <p:blipFill>
          <a:blip r:embed="rId2"/>
          <a:stretch>
            <a:fillRect/>
          </a:stretch>
        </p:blipFill>
        <p:spPr>
          <a:xfrm>
            <a:off x="938579" y="3429000"/>
            <a:ext cx="6762750" cy="2466975"/>
          </a:xfrm>
          <a:prstGeom prst="rect">
            <a:avLst/>
          </a:prstGeom>
        </p:spPr>
      </p:pic>
    </p:spTree>
    <p:extLst>
      <p:ext uri="{BB962C8B-B14F-4D97-AF65-F5344CB8AC3E}">
        <p14:creationId xmlns:p14="http://schemas.microsoft.com/office/powerpoint/2010/main" val="1153001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BB29-5EA9-4825-B504-E3733C03691D}"/>
              </a:ext>
            </a:extLst>
          </p:cNvPr>
          <p:cNvSpPr>
            <a:spLocks noGrp="1"/>
          </p:cNvSpPr>
          <p:nvPr>
            <p:ph type="title"/>
          </p:nvPr>
        </p:nvSpPr>
        <p:spPr/>
        <p:txBody>
          <a:bodyPr/>
          <a:lstStyle/>
          <a:p>
            <a:r>
              <a:rPr lang="en-US" dirty="0"/>
              <a:t>Object and Class Association	</a:t>
            </a:r>
            <a:endParaRPr lang="en-IN" dirty="0"/>
          </a:p>
        </p:txBody>
      </p:sp>
      <p:sp>
        <p:nvSpPr>
          <p:cNvPr id="3" name="Content Placeholder 2">
            <a:extLst>
              <a:ext uri="{FF2B5EF4-FFF2-40B4-BE49-F238E27FC236}">
                <a16:creationId xmlns:a16="http://schemas.microsoft.com/office/drawing/2014/main" id="{5644715F-94C2-4843-B280-CD9A3ADB94DE}"/>
              </a:ext>
            </a:extLst>
          </p:cNvPr>
          <p:cNvSpPr>
            <a:spLocks noGrp="1"/>
          </p:cNvSpPr>
          <p:nvPr>
            <p:ph idx="1"/>
          </p:nvPr>
        </p:nvSpPr>
        <p:spPr>
          <a:xfrm>
            <a:off x="726724" y="1253331"/>
            <a:ext cx="9929553" cy="2509777"/>
          </a:xfrm>
        </p:spPr>
        <p:txBody>
          <a:bodyPr/>
          <a:lstStyle/>
          <a:p>
            <a:r>
              <a:rPr lang="en-US" dirty="0"/>
              <a:t>Object stores fields</a:t>
            </a:r>
          </a:p>
          <a:p>
            <a:r>
              <a:rPr lang="en-US" dirty="0"/>
              <a:t>Object associates </a:t>
            </a:r>
            <a:r>
              <a:rPr lang="en-US"/>
              <a:t>with all </a:t>
            </a:r>
            <a:r>
              <a:rPr lang="en-US" dirty="0"/>
              <a:t>methods</a:t>
            </a:r>
            <a:r>
              <a:rPr lang="en-IN" dirty="0"/>
              <a:t> of its class.</a:t>
            </a:r>
          </a:p>
          <a:p>
            <a:r>
              <a:rPr lang="en-IN" dirty="0"/>
              <a:t>Means, object can call methods of its class.</a:t>
            </a:r>
          </a:p>
          <a:p>
            <a:r>
              <a:rPr lang="en-IN" dirty="0"/>
              <a:t>Class declares the list of fields; defines list of methods</a:t>
            </a:r>
            <a:r>
              <a:rPr lang="en-US" dirty="0"/>
              <a:t>.</a:t>
            </a:r>
            <a:endParaRPr lang="en-IN" dirty="0"/>
          </a:p>
        </p:txBody>
      </p:sp>
      <p:pic>
        <p:nvPicPr>
          <p:cNvPr id="4" name="Picture 3">
            <a:extLst>
              <a:ext uri="{FF2B5EF4-FFF2-40B4-BE49-F238E27FC236}">
                <a16:creationId xmlns:a16="http://schemas.microsoft.com/office/drawing/2014/main" id="{1B2A491F-43AE-430F-9117-FE74B091F5E5}"/>
              </a:ext>
            </a:extLst>
          </p:cNvPr>
          <p:cNvPicPr>
            <a:picLocks noChangeAspect="1"/>
          </p:cNvPicPr>
          <p:nvPr/>
        </p:nvPicPr>
        <p:blipFill>
          <a:blip r:embed="rId2"/>
          <a:stretch>
            <a:fillRect/>
          </a:stretch>
        </p:blipFill>
        <p:spPr>
          <a:xfrm>
            <a:off x="4703886" y="3098189"/>
            <a:ext cx="5152292" cy="3304075"/>
          </a:xfrm>
          <a:prstGeom prst="rect">
            <a:avLst/>
          </a:prstGeom>
        </p:spPr>
      </p:pic>
      <p:pic>
        <p:nvPicPr>
          <p:cNvPr id="5" name="Picture 4">
            <a:extLst>
              <a:ext uri="{FF2B5EF4-FFF2-40B4-BE49-F238E27FC236}">
                <a16:creationId xmlns:a16="http://schemas.microsoft.com/office/drawing/2014/main" id="{8FE3E211-3678-44B6-8DF4-2E171185B6D0}"/>
              </a:ext>
            </a:extLst>
          </p:cNvPr>
          <p:cNvPicPr>
            <a:picLocks noChangeAspect="1"/>
          </p:cNvPicPr>
          <p:nvPr/>
        </p:nvPicPr>
        <p:blipFill>
          <a:blip r:embed="rId3"/>
          <a:stretch>
            <a:fillRect/>
          </a:stretch>
        </p:blipFill>
        <p:spPr>
          <a:xfrm>
            <a:off x="1667724" y="3413132"/>
            <a:ext cx="789168" cy="1055083"/>
          </a:xfrm>
          <a:prstGeom prst="rect">
            <a:avLst/>
          </a:prstGeom>
        </p:spPr>
      </p:pic>
      <p:pic>
        <p:nvPicPr>
          <p:cNvPr id="6" name="Picture 5">
            <a:extLst>
              <a:ext uri="{FF2B5EF4-FFF2-40B4-BE49-F238E27FC236}">
                <a16:creationId xmlns:a16="http://schemas.microsoft.com/office/drawing/2014/main" id="{5ECF5E77-E06B-4B2E-A2FC-05C607F0B64A}"/>
              </a:ext>
            </a:extLst>
          </p:cNvPr>
          <p:cNvPicPr>
            <a:picLocks noChangeAspect="1"/>
          </p:cNvPicPr>
          <p:nvPr/>
        </p:nvPicPr>
        <p:blipFill>
          <a:blip r:embed="rId4"/>
          <a:stretch>
            <a:fillRect/>
          </a:stretch>
        </p:blipFill>
        <p:spPr>
          <a:xfrm>
            <a:off x="1749785" y="4692570"/>
            <a:ext cx="804943" cy="1188757"/>
          </a:xfrm>
          <a:prstGeom prst="rect">
            <a:avLst/>
          </a:prstGeom>
        </p:spPr>
      </p:pic>
      <p:cxnSp>
        <p:nvCxnSpPr>
          <p:cNvPr id="8" name="Connector: Elbow 7">
            <a:extLst>
              <a:ext uri="{FF2B5EF4-FFF2-40B4-BE49-F238E27FC236}">
                <a16:creationId xmlns:a16="http://schemas.microsoft.com/office/drawing/2014/main" id="{BFC080A3-CAF8-40E3-9841-9AACE25F6EF3}"/>
              </a:ext>
            </a:extLst>
          </p:cNvPr>
          <p:cNvCxnSpPr/>
          <p:nvPr/>
        </p:nvCxnSpPr>
        <p:spPr>
          <a:xfrm>
            <a:off x="2652345" y="3701562"/>
            <a:ext cx="2051540" cy="1239715"/>
          </a:xfrm>
          <a:prstGeom prst="bent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B624FB29-ED9A-45F3-A724-D2349227BCB7}"/>
              </a:ext>
            </a:extLst>
          </p:cNvPr>
          <p:cNvCxnSpPr/>
          <p:nvPr/>
        </p:nvCxnSpPr>
        <p:spPr>
          <a:xfrm>
            <a:off x="2652345" y="4941277"/>
            <a:ext cx="1752601" cy="221272"/>
          </a:xfrm>
          <a:prstGeom prst="bent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479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F49E-27F9-4D3E-88DF-0DE9B00EB738}"/>
              </a:ext>
            </a:extLst>
          </p:cNvPr>
          <p:cNvSpPr>
            <a:spLocks noGrp="1"/>
          </p:cNvSpPr>
          <p:nvPr>
            <p:ph type="title"/>
          </p:nvPr>
        </p:nvSpPr>
        <p:spPr/>
        <p:txBody>
          <a:bodyPr/>
          <a:lstStyle/>
          <a:p>
            <a:r>
              <a:rPr lang="en-US" dirty="0"/>
              <a:t>Class</a:t>
            </a:r>
            <a:endParaRPr lang="en-IN" dirty="0"/>
          </a:p>
        </p:txBody>
      </p:sp>
      <p:sp>
        <p:nvSpPr>
          <p:cNvPr id="3" name="Content Placeholder 2">
            <a:extLst>
              <a:ext uri="{FF2B5EF4-FFF2-40B4-BE49-F238E27FC236}">
                <a16:creationId xmlns:a16="http://schemas.microsoft.com/office/drawing/2014/main" id="{A377003D-CCE4-4B6A-A165-110BC6665B89}"/>
              </a:ext>
            </a:extLst>
          </p:cNvPr>
          <p:cNvSpPr>
            <a:spLocks noGrp="1"/>
          </p:cNvSpPr>
          <p:nvPr>
            <p:ph idx="1"/>
          </p:nvPr>
        </p:nvSpPr>
        <p:spPr/>
        <p:txBody>
          <a:bodyPr>
            <a:normAutofit fontScale="85000" lnSpcReduction="20000"/>
          </a:bodyPr>
          <a:lstStyle/>
          <a:p>
            <a:r>
              <a:rPr lang="en-US" dirty="0"/>
              <a:t>Syntax</a:t>
            </a:r>
          </a:p>
          <a:p>
            <a:pPr marL="914400" lvl="2" indent="0">
              <a:buNone/>
            </a:pPr>
            <a:r>
              <a:rPr lang="en-US" dirty="0"/>
              <a:t>			 class ClassName</a:t>
            </a:r>
          </a:p>
          <a:p>
            <a:pPr marL="914400" lvl="2" indent="0">
              <a:buNone/>
            </a:pPr>
            <a:r>
              <a:rPr lang="en-US" dirty="0"/>
              <a:t>			{</a:t>
            </a:r>
          </a:p>
          <a:p>
            <a:pPr marL="457200" lvl="1" indent="0">
              <a:buNone/>
            </a:pPr>
            <a:r>
              <a:rPr lang="en-US" dirty="0"/>
              <a:t>				</a:t>
            </a:r>
          </a:p>
          <a:p>
            <a:pPr marL="914400" lvl="2" indent="0">
              <a:buNone/>
            </a:pPr>
            <a:r>
              <a:rPr lang="en-US" dirty="0"/>
              <a:t>				Fields</a:t>
            </a:r>
          </a:p>
          <a:p>
            <a:pPr marL="914400" lvl="2" indent="0">
              <a:buNone/>
            </a:pPr>
            <a:r>
              <a:rPr lang="en-US" dirty="0"/>
              <a:t>				methods</a:t>
            </a:r>
          </a:p>
          <a:p>
            <a:pPr marL="914400" lvl="2" indent="0">
              <a:buNone/>
            </a:pPr>
            <a:r>
              <a:rPr lang="en-US" dirty="0"/>
              <a:t>				properties</a:t>
            </a:r>
          </a:p>
          <a:p>
            <a:pPr marL="914400" lvl="2" indent="0">
              <a:buNone/>
            </a:pPr>
            <a:r>
              <a:rPr lang="en-US" dirty="0"/>
              <a:t>				constructor</a:t>
            </a:r>
          </a:p>
          <a:p>
            <a:pPr marL="914400" lvl="2" indent="0">
              <a:buNone/>
            </a:pPr>
            <a:r>
              <a:rPr lang="en-US" dirty="0"/>
              <a:t>				Event</a:t>
            </a:r>
          </a:p>
          <a:p>
            <a:pPr marL="914400" lvl="2" indent="0">
              <a:buNone/>
            </a:pPr>
            <a:r>
              <a:rPr lang="en-US" dirty="0"/>
              <a:t>				Destructor</a:t>
            </a:r>
          </a:p>
          <a:p>
            <a:pPr marL="457200" lvl="1" indent="0">
              <a:buNone/>
            </a:pPr>
            <a:endParaRPr lang="en-US" dirty="0"/>
          </a:p>
          <a:p>
            <a:pPr marL="457200" lvl="1" indent="0">
              <a:buNone/>
            </a:pPr>
            <a:r>
              <a:rPr lang="en-US" dirty="0"/>
              <a:t>				} </a:t>
            </a:r>
            <a:endParaRPr lang="en-IN" dirty="0"/>
          </a:p>
          <a:p>
            <a:pPr marL="914400" lvl="2" indent="0">
              <a:buNone/>
            </a:pPr>
            <a:endParaRPr lang="en-US" dirty="0"/>
          </a:p>
          <a:p>
            <a:pPr marL="914400" lvl="2" indent="0">
              <a:buNone/>
            </a:pPr>
            <a:endParaRPr lang="en-US" dirty="0"/>
          </a:p>
          <a:p>
            <a:pPr marL="914400" lvl="2" indent="0">
              <a:buNone/>
            </a:pPr>
            <a:endParaRPr lang="en-US" dirty="0"/>
          </a:p>
          <a:p>
            <a:pPr marL="914400" lvl="2" indent="0">
              <a:buNone/>
            </a:pPr>
            <a:endParaRPr lang="en-US" dirty="0"/>
          </a:p>
          <a:p>
            <a:pPr marL="914400" lvl="2" indent="0">
              <a:buNone/>
            </a:pPr>
            <a:r>
              <a:rPr lang="en-US" dirty="0"/>
              <a:t>			</a:t>
            </a:r>
          </a:p>
          <a:p>
            <a:endParaRPr lang="en-IN" dirty="0"/>
          </a:p>
        </p:txBody>
      </p:sp>
    </p:spTree>
    <p:extLst>
      <p:ext uri="{BB962C8B-B14F-4D97-AF65-F5344CB8AC3E}">
        <p14:creationId xmlns:p14="http://schemas.microsoft.com/office/powerpoint/2010/main" val="136527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BE96D-64A3-49E7-8AA2-D776BC22C65E}"/>
              </a:ext>
            </a:extLst>
          </p:cNvPr>
          <p:cNvSpPr>
            <a:spLocks noGrp="1"/>
          </p:cNvSpPr>
          <p:nvPr>
            <p:ph type="title"/>
          </p:nvPr>
        </p:nvSpPr>
        <p:spPr/>
        <p:txBody>
          <a:bodyPr/>
          <a:lstStyle/>
          <a:p>
            <a:r>
              <a:rPr lang="en-US" dirty="0"/>
              <a:t>Data Types in C#	</a:t>
            </a:r>
            <a:endParaRPr lang="en-IN" dirty="0"/>
          </a:p>
        </p:txBody>
      </p:sp>
      <p:pic>
        <p:nvPicPr>
          <p:cNvPr id="7" name="table">
            <a:extLst>
              <a:ext uri="{FF2B5EF4-FFF2-40B4-BE49-F238E27FC236}">
                <a16:creationId xmlns:a16="http://schemas.microsoft.com/office/drawing/2014/main" id="{B5FFF3DD-7D06-45EA-9D2B-2A114672E066}"/>
              </a:ext>
            </a:extLst>
          </p:cNvPr>
          <p:cNvPicPr>
            <a:picLocks noGrp="1" noChangeAspect="1"/>
          </p:cNvPicPr>
          <p:nvPr>
            <p:ph idx="1"/>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34000"/>
                    </a14:imgEffect>
                  </a14:imgLayer>
                </a14:imgProps>
              </a:ext>
            </a:extLst>
          </a:blip>
          <a:stretch>
            <a:fillRect/>
          </a:stretch>
        </p:blipFill>
        <p:spPr>
          <a:xfrm>
            <a:off x="533547" y="1455797"/>
            <a:ext cx="9529467" cy="27659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83454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F3AF-4F0B-4806-8164-E679EB951176}"/>
              </a:ext>
            </a:extLst>
          </p:cNvPr>
          <p:cNvSpPr>
            <a:spLocks noGrp="1"/>
          </p:cNvSpPr>
          <p:nvPr>
            <p:ph type="title"/>
          </p:nvPr>
        </p:nvSpPr>
        <p:spPr/>
        <p:txBody>
          <a:bodyPr/>
          <a:lstStyle/>
          <a:p>
            <a:r>
              <a:rPr lang="en-US" dirty="0"/>
              <a:t>Storage of Basic Types</a:t>
            </a:r>
            <a:endParaRPr lang="en-IN" dirty="0"/>
          </a:p>
        </p:txBody>
      </p:sp>
      <p:pic>
        <p:nvPicPr>
          <p:cNvPr id="6" name="table">
            <a:extLst>
              <a:ext uri="{FF2B5EF4-FFF2-40B4-BE49-F238E27FC236}">
                <a16:creationId xmlns:a16="http://schemas.microsoft.com/office/drawing/2014/main" id="{3C847636-E2DA-422B-AE4B-4A88DC350B48}"/>
              </a:ext>
            </a:extLst>
          </p:cNvPr>
          <p:cNvPicPr>
            <a:picLocks noGrp="1" noChangeAspect="1"/>
          </p:cNvPicPr>
          <p:nvPr>
            <p:ph idx="1"/>
          </p:nvPr>
        </p:nvPicPr>
        <p:blipFill>
          <a:blip r:embed="rId2">
            <a:duotone>
              <a:schemeClr val="accent1">
                <a:shade val="45000"/>
                <a:satMod val="135000"/>
              </a:schemeClr>
              <a:prstClr val="white"/>
            </a:duotone>
          </a:blip>
          <a:stretch>
            <a:fillRect/>
          </a:stretch>
        </p:blipFill>
        <p:spPr>
          <a:xfrm>
            <a:off x="756581" y="1261833"/>
            <a:ext cx="8632684" cy="27129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67089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F9D1-D182-4DA4-8098-8D4AC3CF3E65}"/>
              </a:ext>
            </a:extLst>
          </p:cNvPr>
          <p:cNvSpPr>
            <a:spLocks noGrp="1"/>
          </p:cNvSpPr>
          <p:nvPr>
            <p:ph type="title"/>
          </p:nvPr>
        </p:nvSpPr>
        <p:spPr/>
        <p:txBody>
          <a:bodyPr/>
          <a:lstStyle/>
          <a:p>
            <a:r>
              <a:rPr lang="en-US" dirty="0"/>
              <a:t>Data Types</a:t>
            </a:r>
            <a:endParaRPr lang="en-IN" dirty="0"/>
          </a:p>
        </p:txBody>
      </p:sp>
      <p:sp>
        <p:nvSpPr>
          <p:cNvPr id="6" name="Content Placeholder 5">
            <a:extLst>
              <a:ext uri="{FF2B5EF4-FFF2-40B4-BE49-F238E27FC236}">
                <a16:creationId xmlns:a16="http://schemas.microsoft.com/office/drawing/2014/main" id="{6ED62B69-6780-428D-93FC-9D2E247C3183}"/>
              </a:ext>
            </a:extLst>
          </p:cNvPr>
          <p:cNvSpPr>
            <a:spLocks noGrp="1"/>
          </p:cNvSpPr>
          <p:nvPr>
            <p:ph idx="1"/>
          </p:nvPr>
        </p:nvSpPr>
        <p:spPr>
          <a:xfrm>
            <a:off x="726724" y="973169"/>
            <a:ext cx="11039452" cy="5333542"/>
          </a:xfrm>
        </p:spPr>
        <p:txBody>
          <a:bodyPr/>
          <a:lstStyle/>
          <a:p>
            <a:endParaRPr lang="en-IN" dirty="0"/>
          </a:p>
        </p:txBody>
      </p:sp>
      <p:graphicFrame>
        <p:nvGraphicFramePr>
          <p:cNvPr id="10" name="Table 9">
            <a:extLst>
              <a:ext uri="{FF2B5EF4-FFF2-40B4-BE49-F238E27FC236}">
                <a16:creationId xmlns:a16="http://schemas.microsoft.com/office/drawing/2014/main" id="{93317C35-B4D1-450B-B089-2A7EDE4A84A6}"/>
              </a:ext>
            </a:extLst>
          </p:cNvPr>
          <p:cNvGraphicFramePr>
            <a:graphicFrameLocks noGrp="1"/>
          </p:cNvGraphicFramePr>
          <p:nvPr>
            <p:extLst>
              <p:ext uri="{D42A27DB-BD31-4B8C-83A1-F6EECF244321}">
                <p14:modId xmlns:p14="http://schemas.microsoft.com/office/powerpoint/2010/main" val="3447400283"/>
              </p:ext>
            </p:extLst>
          </p:nvPr>
        </p:nvGraphicFramePr>
        <p:xfrm>
          <a:off x="3094893" y="973169"/>
          <a:ext cx="5609492" cy="5333542"/>
        </p:xfrm>
        <a:graphic>
          <a:graphicData uri="http://schemas.openxmlformats.org/drawingml/2006/table">
            <a:tbl>
              <a:tblPr firstRow="1" bandRow="1">
                <a:tableStyleId>{FABFCF23-3B69-468F-B69F-88F6DE6A72F2}</a:tableStyleId>
              </a:tblPr>
              <a:tblGrid>
                <a:gridCol w="2316817">
                  <a:extLst>
                    <a:ext uri="{9D8B030D-6E8A-4147-A177-3AD203B41FA5}">
                      <a16:colId xmlns:a16="http://schemas.microsoft.com/office/drawing/2014/main" val="20000"/>
                    </a:ext>
                  </a:extLst>
                </a:gridCol>
                <a:gridCol w="3292675">
                  <a:extLst>
                    <a:ext uri="{9D8B030D-6E8A-4147-A177-3AD203B41FA5}">
                      <a16:colId xmlns:a16="http://schemas.microsoft.com/office/drawing/2014/main" val="20001"/>
                    </a:ext>
                  </a:extLst>
                </a:gridCol>
              </a:tblGrid>
              <a:tr h="721936">
                <a:tc>
                  <a:txBody>
                    <a:body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sz="1000" u="none" strike="noStrike" cap="none" normalizeH="0" baseline="0" dirty="0">
                          <a:ln>
                            <a:noFill/>
                          </a:ln>
                          <a:effectLst/>
                        </a:rPr>
                        <a:t> </a:t>
                      </a:r>
                    </a:p>
                    <a:p>
                      <a:pPr marL="0" marR="0" lvl="0" indent="0" algn="l" defTabSz="6858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a:ln>
                            <a:noFill/>
                          </a:ln>
                          <a:effectLst/>
                          <a:latin typeface="Trebuchet MS" panose="020B0603020202020204" pitchFamily="34" charset="0"/>
                        </a:rPr>
                        <a:t>C# Type</a:t>
                      </a:r>
                    </a:p>
                    <a:p>
                      <a:pPr marL="0" marR="0" lvl="0" indent="0" algn="l" defTabSz="6858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FFFFFF"/>
                        </a:solidFill>
                        <a:effectLst/>
                        <a:latin typeface="Verdana" pitchFamily="34" charset="0"/>
                      </a:endParaRPr>
                    </a:p>
                  </a:txBody>
                  <a:tcPr marL="96812" marR="96812" marT="45700" marB="45700" anchor="ctr" horzOverflow="overflow"/>
                </a:tc>
                <a:tc>
                  <a:txBody>
                    <a:bodyPr/>
                    <a:lstStyle/>
                    <a:p>
                      <a:pPr marL="0" marR="0" lvl="0" indent="0" algn="l" defTabSz="685800" rtl="0" eaLnBrk="1" fontAlgn="base" latinLnBrk="0" hangingPunct="1">
                        <a:lnSpc>
                          <a:spcPct val="100000"/>
                        </a:lnSpc>
                        <a:spcBef>
                          <a:spcPct val="0"/>
                        </a:spcBef>
                        <a:spcAft>
                          <a:spcPct val="0"/>
                        </a:spcAft>
                        <a:buClrTx/>
                        <a:buSzTx/>
                        <a:buFontTx/>
                        <a:buNone/>
                        <a:tabLst/>
                      </a:pPr>
                      <a:r>
                        <a:rPr kumimoji="0" lang="en-US" sz="1000" u="none" strike="noStrike" cap="none" normalizeH="0" baseline="0" dirty="0">
                          <a:ln>
                            <a:noFill/>
                          </a:ln>
                          <a:effectLst/>
                        </a:rPr>
                        <a:t> </a:t>
                      </a:r>
                      <a:r>
                        <a:rPr kumimoji="0" lang="en-US" sz="2400" b="1" u="none" strike="noStrike" kern="1200" cap="none" normalizeH="0" baseline="0" dirty="0">
                          <a:ln>
                            <a:noFill/>
                          </a:ln>
                          <a:solidFill>
                            <a:schemeClr val="lt1"/>
                          </a:solidFill>
                          <a:effectLst/>
                          <a:latin typeface="Trebuchet MS" panose="020B0603020202020204" pitchFamily="34" charset="0"/>
                          <a:ea typeface="+mn-ea"/>
                          <a:cs typeface="+mn-cs"/>
                        </a:rPr>
                        <a:t>CLR Type</a:t>
                      </a:r>
                    </a:p>
                  </a:txBody>
                  <a:tcPr marL="96812" marR="96812" marT="45700" marB="45700" anchor="ctr" horzOverflow="overflow"/>
                </a:tc>
                <a:extLst>
                  <a:ext uri="{0D108BD9-81ED-4DB2-BD59-A6C34878D82A}">
                    <a16:rowId xmlns:a16="http://schemas.microsoft.com/office/drawing/2014/main" val="10000"/>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latin typeface="Trebuchet MS" panose="020B0603020202020204" pitchFamily="34" charset="0"/>
                        </a:rPr>
                        <a:t>Bool </a:t>
                      </a:r>
                      <a:endParaRPr kumimoji="0" lang="en-US" sz="1400" b="0" i="0" u="none" strike="noStrike" cap="none" normalizeH="0" baseline="0" dirty="0">
                        <a:ln>
                          <a:noFill/>
                        </a:ln>
                        <a:solidFill>
                          <a:srgbClr val="000000"/>
                        </a:solidFill>
                        <a:effectLst/>
                        <a:latin typeface="Trebuchet MS" panose="020B0603020202020204" pitchFamily="34" charset="0"/>
                      </a:endParaRP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System.Boolean</a:t>
                      </a:r>
                    </a:p>
                  </a:txBody>
                  <a:tcPr marL="96812" marR="96812" marT="45700" marB="45700" horzOverflow="overflow"/>
                </a:tc>
                <a:extLst>
                  <a:ext uri="{0D108BD9-81ED-4DB2-BD59-A6C34878D82A}">
                    <a16:rowId xmlns:a16="http://schemas.microsoft.com/office/drawing/2014/main" val="10001"/>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Byte </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System.Byte</a:t>
                      </a:r>
                    </a:p>
                  </a:txBody>
                  <a:tcPr marL="96812" marR="96812" marT="45700" marB="45700" horzOverflow="overflow"/>
                </a:tc>
                <a:extLst>
                  <a:ext uri="{0D108BD9-81ED-4DB2-BD59-A6C34878D82A}">
                    <a16:rowId xmlns:a16="http://schemas.microsoft.com/office/drawing/2014/main" val="10002"/>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SByte</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System.SByte</a:t>
                      </a:r>
                    </a:p>
                  </a:txBody>
                  <a:tcPr marL="96812" marR="96812" marT="45700" marB="45700" horzOverflow="overflow"/>
                </a:tc>
                <a:extLst>
                  <a:ext uri="{0D108BD9-81ED-4DB2-BD59-A6C34878D82A}">
                    <a16:rowId xmlns:a16="http://schemas.microsoft.com/office/drawing/2014/main" val="10003"/>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Char</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System.Char</a:t>
                      </a:r>
                    </a:p>
                  </a:txBody>
                  <a:tcPr marL="96812" marR="96812" marT="45700" marB="45700" horzOverflow="overflow"/>
                </a:tc>
                <a:extLst>
                  <a:ext uri="{0D108BD9-81ED-4DB2-BD59-A6C34878D82A}">
                    <a16:rowId xmlns:a16="http://schemas.microsoft.com/office/drawing/2014/main" val="10004"/>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Decimal</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System.Decimal</a:t>
                      </a:r>
                    </a:p>
                  </a:txBody>
                  <a:tcPr marL="96812" marR="96812" marT="45700" marB="45700" horzOverflow="overflow"/>
                </a:tc>
                <a:extLst>
                  <a:ext uri="{0D108BD9-81ED-4DB2-BD59-A6C34878D82A}">
                    <a16:rowId xmlns:a16="http://schemas.microsoft.com/office/drawing/2014/main" val="10005"/>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Double</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System.Double</a:t>
                      </a:r>
                    </a:p>
                  </a:txBody>
                  <a:tcPr marL="96812" marR="96812" marT="45700" marB="45700" horzOverflow="overflow"/>
                </a:tc>
                <a:extLst>
                  <a:ext uri="{0D108BD9-81ED-4DB2-BD59-A6C34878D82A}">
                    <a16:rowId xmlns:a16="http://schemas.microsoft.com/office/drawing/2014/main" val="10006"/>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Float</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System.Single</a:t>
                      </a:r>
                    </a:p>
                  </a:txBody>
                  <a:tcPr marL="96812" marR="96812" marT="45700" marB="45700" horzOverflow="overflow"/>
                </a:tc>
                <a:extLst>
                  <a:ext uri="{0D108BD9-81ED-4DB2-BD59-A6C34878D82A}">
                    <a16:rowId xmlns:a16="http://schemas.microsoft.com/office/drawing/2014/main" val="10007"/>
                  </a:ext>
                </a:extLst>
              </a:tr>
              <a:tr h="288752">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Int</a:t>
                      </a:r>
                    </a:p>
                  </a:txBody>
                  <a:tcPr marL="96812" marR="96812" marT="45700" marB="45700"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System.Int32</a:t>
                      </a:r>
                    </a:p>
                  </a:txBody>
                  <a:tcPr marL="96812" marR="96812" marT="45700" marB="45700" horzOverflow="overflow"/>
                </a:tc>
                <a:extLst>
                  <a:ext uri="{0D108BD9-81ED-4DB2-BD59-A6C34878D82A}">
                    <a16:rowId xmlns:a16="http://schemas.microsoft.com/office/drawing/2014/main" val="10008"/>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Uint</a:t>
                      </a: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System.UInt32</a:t>
                      </a:r>
                    </a:p>
                  </a:txBody>
                  <a:tcPr marL="96823" marR="96823" marT="45713" marB="45713" horzOverflow="overflow"/>
                </a:tc>
                <a:extLst>
                  <a:ext uri="{0D108BD9-81ED-4DB2-BD59-A6C34878D82A}">
                    <a16:rowId xmlns:a16="http://schemas.microsoft.com/office/drawing/2014/main" val="10009"/>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Long</a:t>
                      </a: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System.Int64</a:t>
                      </a:r>
                    </a:p>
                  </a:txBody>
                  <a:tcPr marL="96823" marR="96823" marT="45713" marB="45713" horzOverflow="overflow"/>
                </a:tc>
                <a:extLst>
                  <a:ext uri="{0D108BD9-81ED-4DB2-BD59-A6C34878D82A}">
                    <a16:rowId xmlns:a16="http://schemas.microsoft.com/office/drawing/2014/main" val="10010"/>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Ulong</a:t>
                      </a: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System.UInt64</a:t>
                      </a:r>
                    </a:p>
                  </a:txBody>
                  <a:tcPr marL="96823" marR="96823" marT="45713" marB="45713" horzOverflow="overflow"/>
                </a:tc>
                <a:extLst>
                  <a:ext uri="{0D108BD9-81ED-4DB2-BD59-A6C34878D82A}">
                    <a16:rowId xmlns:a16="http://schemas.microsoft.com/office/drawing/2014/main" val="10011"/>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Object</a:t>
                      </a: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System.Object</a:t>
                      </a:r>
                    </a:p>
                  </a:txBody>
                  <a:tcPr marL="96823" marR="96823" marT="45713" marB="45713" horzOverflow="overflow"/>
                </a:tc>
                <a:extLst>
                  <a:ext uri="{0D108BD9-81ED-4DB2-BD59-A6C34878D82A}">
                    <a16:rowId xmlns:a16="http://schemas.microsoft.com/office/drawing/2014/main" val="10012"/>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Short</a:t>
                      </a: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System.Int16</a:t>
                      </a:r>
                    </a:p>
                  </a:txBody>
                  <a:tcPr marL="96823" marR="96823" marT="45713" marB="45713" horzOverflow="overflow"/>
                </a:tc>
                <a:extLst>
                  <a:ext uri="{0D108BD9-81ED-4DB2-BD59-A6C34878D82A}">
                    <a16:rowId xmlns:a16="http://schemas.microsoft.com/office/drawing/2014/main" val="10013"/>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err="1">
                          <a:ln>
                            <a:noFill/>
                          </a:ln>
                          <a:solidFill>
                            <a:schemeClr val="dk1"/>
                          </a:solidFill>
                          <a:effectLst/>
                          <a:latin typeface="Trebuchet MS" panose="020B0603020202020204" pitchFamily="34" charset="0"/>
                          <a:ea typeface="+mn-ea"/>
                          <a:cs typeface="+mn-cs"/>
                        </a:rPr>
                        <a:t>Ushort</a:t>
                      </a:r>
                      <a:endParaRPr kumimoji="0" lang="en-US" sz="1400" u="none" strike="noStrike" kern="1200" cap="none" normalizeH="0" baseline="0" dirty="0">
                        <a:ln>
                          <a:noFill/>
                        </a:ln>
                        <a:solidFill>
                          <a:schemeClr val="dk1"/>
                        </a:solidFill>
                        <a:effectLst/>
                        <a:latin typeface="Trebuchet MS" panose="020B0603020202020204" pitchFamily="34" charset="0"/>
                        <a:ea typeface="+mn-ea"/>
                        <a:cs typeface="+mn-cs"/>
                      </a:endParaRP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System.UInt16</a:t>
                      </a:r>
                    </a:p>
                  </a:txBody>
                  <a:tcPr marL="96823" marR="96823" marT="45713" marB="45713" horzOverflow="overflow"/>
                </a:tc>
                <a:extLst>
                  <a:ext uri="{0D108BD9-81ED-4DB2-BD59-A6C34878D82A}">
                    <a16:rowId xmlns:a16="http://schemas.microsoft.com/office/drawing/2014/main" val="10014"/>
                  </a:ext>
                </a:extLst>
              </a:tr>
              <a:tr h="288776">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String</a:t>
                      </a:r>
                    </a:p>
                  </a:txBody>
                  <a:tcPr marL="96823" marR="96823" marT="45713" marB="45713" horzOverflow="overflow"/>
                </a:tc>
                <a:tc>
                  <a:txBody>
                    <a:bodyPr/>
                    <a:lstStyle/>
                    <a:p>
                      <a:pPr marL="0" marR="0" lvl="0" indent="0" algn="l" defTabSz="684213" rtl="0" eaLnBrk="1" fontAlgn="base" latinLnBrk="0" hangingPunct="1">
                        <a:lnSpc>
                          <a:spcPct val="100000"/>
                        </a:lnSpc>
                        <a:spcBef>
                          <a:spcPct val="0"/>
                        </a:spcBef>
                        <a:spcAft>
                          <a:spcPct val="0"/>
                        </a:spcAft>
                        <a:buClrTx/>
                        <a:buSzTx/>
                        <a:buFontTx/>
                        <a:buNone/>
                        <a:tabLst/>
                      </a:pPr>
                      <a:r>
                        <a:rPr kumimoji="0" lang="en-US" sz="1400" u="none" strike="noStrike" kern="1200" cap="none" normalizeH="0" baseline="0" dirty="0">
                          <a:ln>
                            <a:noFill/>
                          </a:ln>
                          <a:solidFill>
                            <a:schemeClr val="dk1"/>
                          </a:solidFill>
                          <a:effectLst/>
                          <a:latin typeface="Trebuchet MS" panose="020B0603020202020204" pitchFamily="34" charset="0"/>
                          <a:ea typeface="+mn-ea"/>
                          <a:cs typeface="+mn-cs"/>
                        </a:rPr>
                        <a:t>System.String</a:t>
                      </a:r>
                    </a:p>
                  </a:txBody>
                  <a:tcPr marL="96823" marR="96823" marT="45713" marB="45713" horzOverflow="overflow"/>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353858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57928-D2DC-4457-A61D-0AA12BE6F2A7}"/>
              </a:ext>
            </a:extLst>
          </p:cNvPr>
          <p:cNvSpPr>
            <a:spLocks noGrp="1"/>
          </p:cNvSpPr>
          <p:nvPr>
            <p:ph type="title"/>
          </p:nvPr>
        </p:nvSpPr>
        <p:spPr/>
        <p:txBody>
          <a:bodyPr/>
          <a:lstStyle/>
          <a:p>
            <a:r>
              <a:rPr lang="en-US" dirty="0"/>
              <a:t>Value Type</a:t>
            </a:r>
            <a:endParaRPr lang="en-IN" dirty="0"/>
          </a:p>
        </p:txBody>
      </p:sp>
      <p:sp>
        <p:nvSpPr>
          <p:cNvPr id="3" name="Content Placeholder 2">
            <a:extLst>
              <a:ext uri="{FF2B5EF4-FFF2-40B4-BE49-F238E27FC236}">
                <a16:creationId xmlns:a16="http://schemas.microsoft.com/office/drawing/2014/main" id="{012AF52E-25B4-4FA3-88CC-490214B2968C}"/>
              </a:ext>
            </a:extLst>
          </p:cNvPr>
          <p:cNvSpPr>
            <a:spLocks noGrp="1"/>
          </p:cNvSpPr>
          <p:nvPr>
            <p:ph idx="1"/>
          </p:nvPr>
        </p:nvSpPr>
        <p:spPr>
          <a:xfrm>
            <a:off x="726724" y="1279835"/>
            <a:ext cx="11066347" cy="4892365"/>
          </a:xfrm>
        </p:spPr>
        <p:txBody>
          <a:bodyPr>
            <a:normAutofit/>
          </a:bodyPr>
          <a:lstStyle/>
          <a:p>
            <a:r>
              <a:rPr lang="en-GB" dirty="0"/>
              <a:t>A variable of a value type always contains a value of that type.</a:t>
            </a:r>
          </a:p>
          <a:p>
            <a:endParaRPr lang="en-GB" dirty="0"/>
          </a:p>
          <a:p>
            <a:r>
              <a:rPr lang="en-GB" dirty="0"/>
              <a:t>The assignment to a variable of a value type creates a copy of the assigned </a:t>
            </a:r>
            <a:r>
              <a:rPr lang="en-US" dirty="0"/>
              <a:t>value.</a:t>
            </a:r>
          </a:p>
          <a:p>
            <a:endParaRPr lang="en-GB" dirty="0"/>
          </a:p>
          <a:p>
            <a:r>
              <a:rPr lang="en-GB" dirty="0"/>
              <a:t>Categories of value types are as follows:</a:t>
            </a:r>
          </a:p>
          <a:p>
            <a:pPr lvl="1"/>
            <a:endParaRPr lang="en-IN" dirty="0"/>
          </a:p>
          <a:p>
            <a:pPr lvl="1"/>
            <a:r>
              <a:rPr lang="en-IN" dirty="0"/>
              <a:t>Struct type: user-defined struct types, Numeric types, Integral types, Floating-point types, decimal, bool </a:t>
            </a:r>
          </a:p>
          <a:p>
            <a:pPr lvl="1"/>
            <a:endParaRPr lang="en-IN" dirty="0"/>
          </a:p>
          <a:p>
            <a:pPr lvl="1"/>
            <a:r>
              <a:rPr lang="en-IN" dirty="0"/>
              <a:t>Enumeration type </a:t>
            </a:r>
          </a:p>
          <a:p>
            <a:endParaRPr lang="en-IN" dirty="0"/>
          </a:p>
        </p:txBody>
      </p:sp>
    </p:spTree>
    <p:extLst>
      <p:ext uri="{BB962C8B-B14F-4D97-AF65-F5344CB8AC3E}">
        <p14:creationId xmlns:p14="http://schemas.microsoft.com/office/powerpoint/2010/main" val="558655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E98AE-EE8A-4AC2-8B42-8FF13A93AFAE}"/>
              </a:ext>
            </a:extLst>
          </p:cNvPr>
          <p:cNvSpPr>
            <a:spLocks noGrp="1"/>
          </p:cNvSpPr>
          <p:nvPr>
            <p:ph type="title"/>
          </p:nvPr>
        </p:nvSpPr>
        <p:spPr/>
        <p:txBody>
          <a:bodyPr/>
          <a:lstStyle/>
          <a:p>
            <a:r>
              <a:rPr lang="en-US" dirty="0"/>
              <a:t>Reference Type</a:t>
            </a:r>
            <a:endParaRPr lang="en-IN" dirty="0"/>
          </a:p>
        </p:txBody>
      </p:sp>
      <p:sp>
        <p:nvSpPr>
          <p:cNvPr id="3" name="Content Placeholder 2">
            <a:extLst>
              <a:ext uri="{FF2B5EF4-FFF2-40B4-BE49-F238E27FC236}">
                <a16:creationId xmlns:a16="http://schemas.microsoft.com/office/drawing/2014/main" id="{1E53A107-2323-4473-A61B-212914CA9E2E}"/>
              </a:ext>
            </a:extLst>
          </p:cNvPr>
          <p:cNvSpPr>
            <a:spLocks noGrp="1"/>
          </p:cNvSpPr>
          <p:nvPr>
            <p:ph idx="1"/>
          </p:nvPr>
        </p:nvSpPr>
        <p:spPr/>
        <p:txBody>
          <a:bodyPr>
            <a:normAutofit/>
          </a:bodyPr>
          <a:lstStyle/>
          <a:p>
            <a:r>
              <a:rPr lang="en-GB" dirty="0"/>
              <a:t>Variables of reference types, also referred to as </a:t>
            </a:r>
            <a:r>
              <a:rPr lang="en-GB" b="1" dirty="0"/>
              <a:t>objects</a:t>
            </a:r>
            <a:r>
              <a:rPr lang="en-GB" dirty="0"/>
              <a:t>, store references to </a:t>
            </a:r>
            <a:r>
              <a:rPr lang="en-US" dirty="0"/>
              <a:t>the actual data.</a:t>
            </a:r>
          </a:p>
          <a:p>
            <a:r>
              <a:rPr lang="en-GB" dirty="0"/>
              <a:t>Assignment to a variable of a reference type creates a copy of the reference but not of the referenced object.</a:t>
            </a:r>
          </a:p>
          <a:p>
            <a:r>
              <a:rPr lang="en-GB" dirty="0"/>
              <a:t>Following are some of the reference types:</a:t>
            </a:r>
          </a:p>
          <a:p>
            <a:pPr lvl="1"/>
            <a:r>
              <a:rPr lang="en-GB" dirty="0"/>
              <a:t>Class</a:t>
            </a:r>
          </a:p>
          <a:p>
            <a:pPr lvl="1"/>
            <a:r>
              <a:rPr lang="en-GB" dirty="0"/>
              <a:t>Interfaces</a:t>
            </a:r>
          </a:p>
          <a:p>
            <a:pPr lvl="1"/>
            <a:r>
              <a:rPr lang="en-GB" dirty="0"/>
              <a:t>Delegates</a:t>
            </a:r>
          </a:p>
          <a:p>
            <a:r>
              <a:rPr lang="en-GB" dirty="0"/>
              <a:t>The following are built-in reference types:</a:t>
            </a:r>
          </a:p>
          <a:p>
            <a:pPr lvl="1"/>
            <a:r>
              <a:rPr lang="en-IN" dirty="0"/>
              <a:t>Object</a:t>
            </a:r>
          </a:p>
          <a:p>
            <a:pPr lvl="1"/>
            <a:r>
              <a:rPr lang="en-IN" dirty="0"/>
              <a:t>string</a:t>
            </a:r>
          </a:p>
        </p:txBody>
      </p:sp>
    </p:spTree>
    <p:extLst>
      <p:ext uri="{BB962C8B-B14F-4D97-AF65-F5344CB8AC3E}">
        <p14:creationId xmlns:p14="http://schemas.microsoft.com/office/powerpoint/2010/main" val="156130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08D9-3C96-4C01-BBC0-7AC6C82E7BF7}"/>
              </a:ext>
            </a:extLst>
          </p:cNvPr>
          <p:cNvSpPr>
            <a:spLocks noGrp="1"/>
          </p:cNvSpPr>
          <p:nvPr>
            <p:ph type="title"/>
          </p:nvPr>
        </p:nvSpPr>
        <p:spPr/>
        <p:txBody>
          <a:bodyPr/>
          <a:lstStyle/>
          <a:p>
            <a:r>
              <a:rPr lang="en-GB" dirty="0"/>
              <a:t>Comparison between Data Types in C#</a:t>
            </a:r>
            <a:endParaRPr lang="en-IN" dirty="0"/>
          </a:p>
        </p:txBody>
      </p:sp>
      <p:graphicFrame>
        <p:nvGraphicFramePr>
          <p:cNvPr id="4" name="Content Placeholder 3">
            <a:extLst>
              <a:ext uri="{FF2B5EF4-FFF2-40B4-BE49-F238E27FC236}">
                <a16:creationId xmlns:a16="http://schemas.microsoft.com/office/drawing/2014/main" id="{B279A5D3-F783-4873-89B0-FE77801392DB}"/>
              </a:ext>
            </a:extLst>
          </p:cNvPr>
          <p:cNvGraphicFramePr>
            <a:graphicFrameLocks noGrp="1"/>
          </p:cNvGraphicFramePr>
          <p:nvPr>
            <p:ph idx="1"/>
            <p:extLst>
              <p:ext uri="{D42A27DB-BD31-4B8C-83A1-F6EECF244321}">
                <p14:modId xmlns:p14="http://schemas.microsoft.com/office/powerpoint/2010/main" val="1572821597"/>
              </p:ext>
            </p:extLst>
          </p:nvPr>
        </p:nvGraphicFramePr>
        <p:xfrm>
          <a:off x="631596" y="1213338"/>
          <a:ext cx="9637819" cy="4655421"/>
        </p:xfrm>
        <a:graphic>
          <a:graphicData uri="http://schemas.openxmlformats.org/drawingml/2006/table">
            <a:tbl>
              <a:tblPr firstRow="1" bandRow="1">
                <a:tableStyleId>{7DF18680-E054-41AD-8BC1-D1AEF772440D}</a:tableStyleId>
              </a:tblPr>
              <a:tblGrid>
                <a:gridCol w="4842043">
                  <a:extLst>
                    <a:ext uri="{9D8B030D-6E8A-4147-A177-3AD203B41FA5}">
                      <a16:colId xmlns:a16="http://schemas.microsoft.com/office/drawing/2014/main" val="2439940934"/>
                    </a:ext>
                  </a:extLst>
                </a:gridCol>
                <a:gridCol w="4795776">
                  <a:extLst>
                    <a:ext uri="{9D8B030D-6E8A-4147-A177-3AD203B41FA5}">
                      <a16:colId xmlns:a16="http://schemas.microsoft.com/office/drawing/2014/main" val="3003367322"/>
                    </a:ext>
                  </a:extLst>
                </a:gridCol>
              </a:tblGrid>
              <a:tr h="405053">
                <a:tc>
                  <a:txBody>
                    <a:bodyPr/>
                    <a:lstStyle/>
                    <a:p>
                      <a:r>
                        <a:rPr lang="en-US" sz="2400" b="1" u="none" strike="noStrike" kern="1200" baseline="0" dirty="0">
                          <a:solidFill>
                            <a:schemeClr val="lt1"/>
                          </a:solidFill>
                        </a:rPr>
                        <a:t>Value Types</a:t>
                      </a:r>
                      <a:endParaRPr lang="en-US" sz="2400" dirty="0">
                        <a:latin typeface="Trebuchet MS" panose="020B0603020202020204" pitchFamily="34" charset="0"/>
                      </a:endParaRPr>
                    </a:p>
                  </a:txBody>
                  <a:tcPr/>
                </a:tc>
                <a:tc>
                  <a:txBody>
                    <a:bodyPr/>
                    <a:lstStyle/>
                    <a:p>
                      <a:pPr marL="0" algn="l" defTabSz="914400" rtl="0" eaLnBrk="1" latinLnBrk="0" hangingPunct="1"/>
                      <a:r>
                        <a:rPr lang="en-US" sz="2400" b="1" u="none" strike="noStrike" kern="1200" baseline="0" dirty="0">
                          <a:solidFill>
                            <a:schemeClr val="lt1"/>
                          </a:solidFill>
                        </a:rPr>
                        <a:t>Reference Types</a:t>
                      </a:r>
                      <a:endParaRPr lang="en-US" sz="2400" b="1" u="none" strike="noStrike" kern="1200" baseline="0" dirty="0">
                        <a:solidFill>
                          <a:schemeClr val="lt1"/>
                        </a:solidFill>
                        <a:latin typeface="Trebuchet MS" panose="020B0603020202020204" pitchFamily="34" charset="0"/>
                        <a:ea typeface="+mn-ea"/>
                        <a:cs typeface="+mn-cs"/>
                      </a:endParaRPr>
                    </a:p>
                  </a:txBody>
                  <a:tcPr/>
                </a:tc>
                <a:extLst>
                  <a:ext uri="{0D108BD9-81ED-4DB2-BD59-A6C34878D82A}">
                    <a16:rowId xmlns:a16="http://schemas.microsoft.com/office/drawing/2014/main" val="2110813108"/>
                  </a:ext>
                </a:extLst>
              </a:tr>
              <a:tr h="1073409">
                <a:tc>
                  <a:txBody>
                    <a:bodyPr/>
                    <a:lstStyle/>
                    <a:p>
                      <a:r>
                        <a:rPr lang="en-GB" sz="1800" b="0" u="none" strike="noStrike" kern="1200" baseline="0" dirty="0">
                          <a:solidFill>
                            <a:schemeClr val="tx1"/>
                          </a:solidFill>
                          <a:latin typeface="Trebuchet MS" panose="020B0603020202020204" pitchFamily="34" charset="0"/>
                        </a:rPr>
                        <a:t>The variable contains the value</a:t>
                      </a:r>
                    </a:p>
                    <a:p>
                      <a:r>
                        <a:rPr lang="en-US" sz="1800" b="0" u="none" strike="noStrike" kern="1200" baseline="0" dirty="0">
                          <a:solidFill>
                            <a:schemeClr val="tx1"/>
                          </a:solidFill>
                          <a:latin typeface="Trebuchet MS" panose="020B0603020202020204" pitchFamily="34" charset="0"/>
                        </a:rPr>
                        <a:t>directly</a:t>
                      </a:r>
                      <a:endParaRPr lang="en-US" dirty="0">
                        <a:solidFill>
                          <a:schemeClr val="tx1"/>
                        </a:solidFill>
                        <a:latin typeface="Trebuchet MS" panose="020B0603020202020204" pitchFamily="34" charset="0"/>
                      </a:endParaRPr>
                    </a:p>
                  </a:txBody>
                  <a:tcPr/>
                </a:tc>
                <a:tc>
                  <a:txBody>
                    <a:bodyPr/>
                    <a:lstStyle/>
                    <a:p>
                      <a:pPr marL="0" algn="l" defTabSz="914400" rtl="0" eaLnBrk="1" latinLnBrk="0" hangingPunct="1"/>
                      <a:r>
                        <a:rPr lang="en-GB" sz="1800" b="0" u="none" strike="noStrike" kern="1200" baseline="0" dirty="0">
                          <a:solidFill>
                            <a:schemeClr val="dk1"/>
                          </a:solidFill>
                          <a:latin typeface="Trebuchet MS" panose="020B0603020202020204" pitchFamily="34" charset="0"/>
                          <a:ea typeface="+mn-ea"/>
                          <a:cs typeface="+mn-cs"/>
                        </a:rPr>
                        <a:t>The variable contains a reference to</a:t>
                      </a:r>
                    </a:p>
                    <a:p>
                      <a:pPr marL="0" algn="l" defTabSz="914400" rtl="0" eaLnBrk="1" latinLnBrk="0" hangingPunct="1"/>
                      <a:r>
                        <a:rPr lang="en-GB" sz="1800" b="0" u="none" strike="noStrike" kern="1200" baseline="0" dirty="0">
                          <a:solidFill>
                            <a:schemeClr val="dk1"/>
                          </a:solidFill>
                          <a:latin typeface="Trebuchet MS" panose="020B0603020202020204" pitchFamily="34" charset="0"/>
                          <a:ea typeface="+mn-ea"/>
                          <a:cs typeface="+mn-cs"/>
                        </a:rPr>
                        <a:t>the data (data is stored in separate</a:t>
                      </a:r>
                    </a:p>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memory area)</a:t>
                      </a:r>
                    </a:p>
                  </a:txBody>
                  <a:tcPr/>
                </a:tc>
                <a:extLst>
                  <a:ext uri="{0D108BD9-81ED-4DB2-BD59-A6C34878D82A}">
                    <a16:rowId xmlns:a16="http://schemas.microsoft.com/office/drawing/2014/main" val="3191397493"/>
                  </a:ext>
                </a:extLst>
              </a:tr>
              <a:tr h="751386">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Allocated on stack</a:t>
                      </a:r>
                    </a:p>
                  </a:txBody>
                  <a:tcPr/>
                </a:tc>
                <a:tc>
                  <a:txBody>
                    <a:bodyPr/>
                    <a:lstStyle/>
                    <a:p>
                      <a:pPr marL="0" algn="l" defTabSz="914400" rtl="0" eaLnBrk="1" latinLnBrk="0" hangingPunct="1"/>
                      <a:r>
                        <a:rPr lang="en-GB" sz="1800" b="0" u="none" strike="noStrike" kern="1200" baseline="0" dirty="0">
                          <a:solidFill>
                            <a:schemeClr val="dk1"/>
                          </a:solidFill>
                          <a:latin typeface="Trebuchet MS" panose="020B0603020202020204" pitchFamily="34" charset="0"/>
                          <a:ea typeface="+mn-ea"/>
                          <a:cs typeface="+mn-cs"/>
                        </a:rPr>
                        <a:t>Allocated on heap using the new</a:t>
                      </a:r>
                    </a:p>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keyword</a:t>
                      </a:r>
                    </a:p>
                  </a:txBody>
                  <a:tcPr/>
                </a:tc>
                <a:extLst>
                  <a:ext uri="{0D108BD9-81ED-4DB2-BD59-A6C34878D82A}">
                    <a16:rowId xmlns:a16="http://schemas.microsoft.com/office/drawing/2014/main" val="3773736885"/>
                  </a:ext>
                </a:extLst>
              </a:tr>
              <a:tr h="751386">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Assigned as copies</a:t>
                      </a:r>
                    </a:p>
                  </a:txBody>
                  <a:tcPr/>
                </a:tc>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Assigned as references</a:t>
                      </a:r>
                    </a:p>
                    <a:p>
                      <a:pPr marL="0" algn="l" defTabSz="914400" rtl="0" eaLnBrk="1" latinLnBrk="0" hangingPunct="1"/>
                      <a:endParaRPr lang="en-US" sz="1800" b="0" u="none" strike="noStrike" kern="1200" baseline="0" dirty="0">
                        <a:solidFill>
                          <a:schemeClr val="dk1"/>
                        </a:solidFill>
                        <a:latin typeface="Trebuchet MS" panose="020B0603020202020204" pitchFamily="34" charset="0"/>
                        <a:ea typeface="+mn-ea"/>
                        <a:cs typeface="+mn-cs"/>
                      </a:endParaRPr>
                    </a:p>
                  </a:txBody>
                  <a:tcPr/>
                </a:tc>
                <a:extLst>
                  <a:ext uri="{0D108BD9-81ED-4DB2-BD59-A6C34878D82A}">
                    <a16:rowId xmlns:a16="http://schemas.microsoft.com/office/drawing/2014/main" val="3758522620"/>
                  </a:ext>
                </a:extLst>
              </a:tr>
              <a:tr h="435327">
                <a:tc>
                  <a:txBody>
                    <a:bodyPr/>
                    <a:lstStyle/>
                    <a:p>
                      <a:pPr marL="0" algn="l" defTabSz="914400" rtl="0" eaLnBrk="1" latinLnBrk="0" hangingPunct="1"/>
                      <a:r>
                        <a:rPr lang="en-GB" sz="1800" b="0" u="none" strike="noStrike" kern="1200" baseline="0" dirty="0">
                          <a:solidFill>
                            <a:schemeClr val="dk1"/>
                          </a:solidFill>
                          <a:latin typeface="Trebuchet MS" panose="020B0603020202020204" pitchFamily="34" charset="0"/>
                          <a:ea typeface="+mn-ea"/>
                          <a:cs typeface="+mn-cs"/>
                        </a:rPr>
                        <a:t>Default </a:t>
                      </a:r>
                      <a:r>
                        <a:rPr lang="en-GB" sz="1800" b="0" u="none" strike="noStrike" kern="1200" baseline="0" dirty="0" err="1">
                          <a:solidFill>
                            <a:schemeClr val="dk1"/>
                          </a:solidFill>
                          <a:latin typeface="Trebuchet MS" panose="020B0603020202020204" pitchFamily="34" charset="0"/>
                          <a:ea typeface="+mn-ea"/>
                          <a:cs typeface="+mn-cs"/>
                        </a:rPr>
                        <a:t>behavior</a:t>
                      </a:r>
                      <a:r>
                        <a:rPr lang="en-GB" sz="1800" b="0" u="none" strike="noStrike" kern="1200" baseline="0" dirty="0">
                          <a:solidFill>
                            <a:schemeClr val="dk1"/>
                          </a:solidFill>
                          <a:latin typeface="Trebuchet MS" panose="020B0603020202020204" pitchFamily="34" charset="0"/>
                          <a:ea typeface="+mn-ea"/>
                          <a:cs typeface="+mn-cs"/>
                        </a:rPr>
                        <a:t> is pass by value</a:t>
                      </a:r>
                      <a:endParaRPr lang="en-US" sz="1800" b="0" u="none" strike="noStrike" kern="1200" baseline="0" dirty="0">
                        <a:solidFill>
                          <a:schemeClr val="dk1"/>
                        </a:solidFill>
                        <a:latin typeface="Trebuchet MS" panose="020B0603020202020204" pitchFamily="34" charset="0"/>
                        <a:ea typeface="+mn-ea"/>
                        <a:cs typeface="+mn-cs"/>
                      </a:endParaRPr>
                    </a:p>
                  </a:txBody>
                  <a:tcPr/>
                </a:tc>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Passed by reference</a:t>
                      </a:r>
                    </a:p>
                  </a:txBody>
                  <a:tcPr/>
                </a:tc>
                <a:extLst>
                  <a:ext uri="{0D108BD9-81ED-4DB2-BD59-A6C34878D82A}">
                    <a16:rowId xmlns:a16="http://schemas.microsoft.com/office/drawing/2014/main" val="3390081933"/>
                  </a:ext>
                </a:extLst>
              </a:tr>
              <a:tr h="751386">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 and != compare values</a:t>
                      </a:r>
                    </a:p>
                  </a:txBody>
                  <a:tcPr/>
                </a:tc>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 and != compare the references,</a:t>
                      </a:r>
                    </a:p>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not the values</a:t>
                      </a:r>
                    </a:p>
                  </a:txBody>
                  <a:tcPr/>
                </a:tc>
                <a:extLst>
                  <a:ext uri="{0D108BD9-81ED-4DB2-BD59-A6C34878D82A}">
                    <a16:rowId xmlns:a16="http://schemas.microsoft.com/office/drawing/2014/main" val="228213453"/>
                  </a:ext>
                </a:extLst>
              </a:tr>
              <a:tr h="435327">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simple types, </a:t>
                      </a:r>
                      <a:r>
                        <a:rPr lang="en-US" sz="1800" b="0" u="none" strike="noStrike" kern="1200" baseline="0" dirty="0" err="1">
                          <a:solidFill>
                            <a:schemeClr val="dk1"/>
                          </a:solidFill>
                          <a:latin typeface="Trebuchet MS" panose="020B0603020202020204" pitchFamily="34" charset="0"/>
                          <a:ea typeface="+mn-ea"/>
                          <a:cs typeface="+mn-cs"/>
                        </a:rPr>
                        <a:t>structs</a:t>
                      </a:r>
                      <a:r>
                        <a:rPr lang="en-US" sz="1800" b="0" u="none" strike="noStrike" kern="1200" baseline="0" dirty="0">
                          <a:solidFill>
                            <a:schemeClr val="dk1"/>
                          </a:solidFill>
                          <a:latin typeface="Trebuchet MS" panose="020B0603020202020204" pitchFamily="34" charset="0"/>
                          <a:ea typeface="+mn-ea"/>
                          <a:cs typeface="+mn-cs"/>
                        </a:rPr>
                        <a:t>, </a:t>
                      </a:r>
                      <a:r>
                        <a:rPr lang="en-US" sz="1800" b="0" u="none" strike="noStrike" kern="1200" baseline="0" dirty="0" err="1">
                          <a:solidFill>
                            <a:schemeClr val="dk1"/>
                          </a:solidFill>
                          <a:latin typeface="Trebuchet MS" panose="020B0603020202020204" pitchFamily="34" charset="0"/>
                          <a:ea typeface="+mn-ea"/>
                          <a:cs typeface="+mn-cs"/>
                        </a:rPr>
                        <a:t>enums</a:t>
                      </a:r>
                      <a:endParaRPr lang="en-US" sz="1800" b="0" u="none" strike="noStrike" kern="1200" baseline="0" dirty="0">
                        <a:solidFill>
                          <a:schemeClr val="dk1"/>
                        </a:solidFill>
                        <a:latin typeface="Trebuchet MS" panose="020B0603020202020204" pitchFamily="34" charset="0"/>
                        <a:ea typeface="+mn-ea"/>
                        <a:cs typeface="+mn-cs"/>
                      </a:endParaRPr>
                    </a:p>
                  </a:txBody>
                  <a:tcPr/>
                </a:tc>
                <a:tc>
                  <a:txBody>
                    <a:bodyPr/>
                    <a:lstStyle/>
                    <a:p>
                      <a:pPr marL="0" algn="l" defTabSz="914400" rtl="0" eaLnBrk="1" latinLnBrk="0" hangingPunct="1"/>
                      <a:r>
                        <a:rPr lang="en-US" sz="1800" b="0" u="none" strike="noStrike" kern="1200" baseline="0" dirty="0">
                          <a:solidFill>
                            <a:schemeClr val="dk1"/>
                          </a:solidFill>
                          <a:latin typeface="Trebuchet MS" panose="020B0603020202020204" pitchFamily="34" charset="0"/>
                          <a:ea typeface="+mn-ea"/>
                          <a:cs typeface="+mn-cs"/>
                        </a:rPr>
                        <a:t>classes</a:t>
                      </a:r>
                    </a:p>
                  </a:txBody>
                  <a:tcPr/>
                </a:tc>
                <a:extLst>
                  <a:ext uri="{0D108BD9-81ED-4DB2-BD59-A6C34878D82A}">
                    <a16:rowId xmlns:a16="http://schemas.microsoft.com/office/drawing/2014/main" val="507823328"/>
                  </a:ext>
                </a:extLst>
              </a:tr>
            </a:tbl>
          </a:graphicData>
        </a:graphic>
      </p:graphicFrame>
    </p:spTree>
    <p:extLst>
      <p:ext uri="{BB962C8B-B14F-4D97-AF65-F5344CB8AC3E}">
        <p14:creationId xmlns:p14="http://schemas.microsoft.com/office/powerpoint/2010/main" val="2514753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AEE2-4B28-409E-A888-4F3679E73FA4}"/>
              </a:ext>
            </a:extLst>
          </p:cNvPr>
          <p:cNvSpPr>
            <a:spLocks noGrp="1"/>
          </p:cNvSpPr>
          <p:nvPr>
            <p:ph type="title"/>
          </p:nvPr>
        </p:nvSpPr>
        <p:spPr/>
        <p:txBody>
          <a:bodyPr/>
          <a:lstStyle/>
          <a:p>
            <a:r>
              <a:rPr lang="en-US" dirty="0"/>
              <a:t>Operators</a:t>
            </a:r>
            <a:endParaRPr lang="en-IN" dirty="0"/>
          </a:p>
        </p:txBody>
      </p:sp>
      <p:sp>
        <p:nvSpPr>
          <p:cNvPr id="3" name="Content Placeholder 2">
            <a:extLst>
              <a:ext uri="{FF2B5EF4-FFF2-40B4-BE49-F238E27FC236}">
                <a16:creationId xmlns:a16="http://schemas.microsoft.com/office/drawing/2014/main" id="{A857ED78-1346-453D-AF66-FA60F5BF7D5F}"/>
              </a:ext>
            </a:extLst>
          </p:cNvPr>
          <p:cNvSpPr>
            <a:spLocks noGrp="1"/>
          </p:cNvSpPr>
          <p:nvPr>
            <p:ph idx="1"/>
          </p:nvPr>
        </p:nvSpPr>
        <p:spPr/>
        <p:txBody>
          <a:bodyPr>
            <a:normAutofit/>
          </a:bodyPr>
          <a:lstStyle/>
          <a:p>
            <a:r>
              <a:rPr lang="en-US" dirty="0"/>
              <a:t>Operator is symbol to perform operations.</a:t>
            </a:r>
          </a:p>
          <a:p>
            <a:pPr lvl="1"/>
            <a:r>
              <a:rPr lang="en-US" dirty="0"/>
              <a:t>Ex: +,-,*,/,== etc.</a:t>
            </a:r>
          </a:p>
          <a:p>
            <a:r>
              <a:rPr lang="en-US" b="1" dirty="0"/>
              <a:t>Types of Operators:</a:t>
            </a:r>
          </a:p>
          <a:p>
            <a:pPr>
              <a:buFont typeface="Wingdings" panose="05000000000000000000" pitchFamily="2" charset="2"/>
              <a:buChar char="Ø"/>
            </a:pPr>
            <a:r>
              <a:rPr lang="en-US" dirty="0"/>
              <a:t>Arithmetical Operators</a:t>
            </a:r>
          </a:p>
          <a:p>
            <a:pPr>
              <a:buFont typeface="Wingdings" panose="05000000000000000000" pitchFamily="2" charset="2"/>
              <a:buChar char="Ø"/>
            </a:pPr>
            <a:r>
              <a:rPr lang="en-US" dirty="0"/>
              <a:t>Assignment Operators</a:t>
            </a:r>
          </a:p>
          <a:p>
            <a:pPr>
              <a:buFont typeface="Wingdings" panose="05000000000000000000" pitchFamily="2" charset="2"/>
              <a:buChar char="Ø"/>
            </a:pPr>
            <a:r>
              <a:rPr lang="en-US" dirty="0"/>
              <a:t>Increment and Decrement Operators</a:t>
            </a:r>
          </a:p>
          <a:p>
            <a:pPr>
              <a:buFont typeface="Wingdings" panose="05000000000000000000" pitchFamily="2" charset="2"/>
              <a:buChar char="Ø"/>
            </a:pPr>
            <a:r>
              <a:rPr lang="en-US" dirty="0"/>
              <a:t>Comparison Operators</a:t>
            </a:r>
          </a:p>
          <a:p>
            <a:pPr>
              <a:buFont typeface="Wingdings" panose="05000000000000000000" pitchFamily="2" charset="2"/>
              <a:buChar char="Ø"/>
            </a:pPr>
            <a:r>
              <a:rPr lang="en-US" dirty="0"/>
              <a:t>Logical Operators</a:t>
            </a:r>
          </a:p>
          <a:p>
            <a:pPr>
              <a:buFont typeface="Wingdings" panose="05000000000000000000" pitchFamily="2" charset="2"/>
              <a:buChar char="Ø"/>
            </a:pPr>
            <a:r>
              <a:rPr lang="en-US" dirty="0"/>
              <a:t>Concatenation operators</a:t>
            </a:r>
          </a:p>
          <a:p>
            <a:pPr>
              <a:buFont typeface="Wingdings" panose="05000000000000000000" pitchFamily="2" charset="2"/>
              <a:buChar char="Ø"/>
            </a:pPr>
            <a:r>
              <a:rPr lang="en-US" dirty="0"/>
              <a:t>Ternary Operators</a:t>
            </a:r>
          </a:p>
          <a:p>
            <a:pPr lvl="1"/>
            <a:endParaRPr lang="en-US" dirty="0"/>
          </a:p>
          <a:p>
            <a:pPr lvl="1"/>
            <a:endParaRPr lang="en-IN" dirty="0"/>
          </a:p>
        </p:txBody>
      </p:sp>
    </p:spTree>
    <p:extLst>
      <p:ext uri="{BB962C8B-B14F-4D97-AF65-F5344CB8AC3E}">
        <p14:creationId xmlns:p14="http://schemas.microsoft.com/office/powerpoint/2010/main" val="1580638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C164-8D12-40C7-B28F-A4203069576D}"/>
              </a:ext>
            </a:extLst>
          </p:cNvPr>
          <p:cNvSpPr>
            <a:spLocks noGrp="1"/>
          </p:cNvSpPr>
          <p:nvPr>
            <p:ph type="title"/>
          </p:nvPr>
        </p:nvSpPr>
        <p:spPr/>
        <p:txBody>
          <a:bodyPr>
            <a:normAutofit fontScale="90000"/>
          </a:bodyPr>
          <a:lstStyle/>
          <a:p>
            <a:br>
              <a:rPr lang="en-US" dirty="0"/>
            </a:br>
            <a:r>
              <a:rPr lang="en-US" dirty="0"/>
              <a:t>Arithmetical Operators</a:t>
            </a:r>
            <a:br>
              <a:rPr lang="en-US" dirty="0"/>
            </a:br>
            <a:endParaRPr lang="en-IN" dirty="0"/>
          </a:p>
        </p:txBody>
      </p:sp>
      <p:sp>
        <p:nvSpPr>
          <p:cNvPr id="3" name="Content Placeholder 2">
            <a:extLst>
              <a:ext uri="{FF2B5EF4-FFF2-40B4-BE49-F238E27FC236}">
                <a16:creationId xmlns:a16="http://schemas.microsoft.com/office/drawing/2014/main" id="{5E8E62FE-8421-4F41-BC0A-15EB57E9428A}"/>
              </a:ext>
            </a:extLst>
          </p:cNvPr>
          <p:cNvSpPr>
            <a:spLocks noGrp="1"/>
          </p:cNvSpPr>
          <p:nvPr>
            <p:ph idx="1"/>
          </p:nvPr>
        </p:nvSpPr>
        <p:spPr>
          <a:xfrm>
            <a:off x="726724" y="1253330"/>
            <a:ext cx="11039452" cy="5120575"/>
          </a:xfrm>
        </p:spPr>
        <p:txBody>
          <a:bodyPr/>
          <a:lstStyle/>
          <a:p>
            <a:r>
              <a:rPr lang="en-US" dirty="0"/>
              <a:t>Used to perform arithmetical operations on Numbers.</a:t>
            </a:r>
          </a:p>
          <a:p>
            <a:r>
              <a:rPr lang="en-US" dirty="0"/>
              <a:t>List of operators</a:t>
            </a:r>
          </a:p>
          <a:p>
            <a:endParaRPr lang="en-IN" dirty="0"/>
          </a:p>
        </p:txBody>
      </p:sp>
      <p:graphicFrame>
        <p:nvGraphicFramePr>
          <p:cNvPr id="6" name="Table 5">
            <a:extLst>
              <a:ext uri="{FF2B5EF4-FFF2-40B4-BE49-F238E27FC236}">
                <a16:creationId xmlns:a16="http://schemas.microsoft.com/office/drawing/2014/main" id="{C39C4E5A-C76B-4106-BDE4-92BA7C792FA6}"/>
              </a:ext>
            </a:extLst>
          </p:cNvPr>
          <p:cNvGraphicFramePr>
            <a:graphicFrameLocks noGrp="1"/>
          </p:cNvGraphicFramePr>
          <p:nvPr>
            <p:extLst>
              <p:ext uri="{D42A27DB-BD31-4B8C-83A1-F6EECF244321}">
                <p14:modId xmlns:p14="http://schemas.microsoft.com/office/powerpoint/2010/main" val="442248880"/>
              </p:ext>
            </p:extLst>
          </p:nvPr>
        </p:nvGraphicFramePr>
        <p:xfrm>
          <a:off x="637225" y="2412702"/>
          <a:ext cx="8128000" cy="2286000"/>
        </p:xfrm>
        <a:graphic>
          <a:graphicData uri="http://schemas.openxmlformats.org/drawingml/2006/table">
            <a:tbl>
              <a:tblPr firstRow="1" bandRow="1">
                <a:tableStyleId>{BC89EF96-8CEA-46FF-86C4-4CE0E7609802}</a:tableStyleId>
              </a:tblPr>
              <a:tblGrid>
                <a:gridCol w="4064000">
                  <a:extLst>
                    <a:ext uri="{9D8B030D-6E8A-4147-A177-3AD203B41FA5}">
                      <a16:colId xmlns:a16="http://schemas.microsoft.com/office/drawing/2014/main" val="460060350"/>
                    </a:ext>
                  </a:extLst>
                </a:gridCol>
                <a:gridCol w="4064000">
                  <a:extLst>
                    <a:ext uri="{9D8B030D-6E8A-4147-A177-3AD203B41FA5}">
                      <a16:colId xmlns:a16="http://schemas.microsoft.com/office/drawing/2014/main" val="3981270907"/>
                    </a:ext>
                  </a:extLst>
                </a:gridCol>
              </a:tblGrid>
              <a:tr h="227211">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IN" sz="2400" kern="1200" dirty="0">
                          <a:solidFill>
                            <a:schemeClr val="bg1">
                              <a:lumMod val="50000"/>
                            </a:schemeClr>
                          </a:solidFill>
                          <a:latin typeface="Trebuchet MS" panose="020B0603020202020204" pitchFamily="34" charset="0"/>
                          <a:ea typeface="+mn-ea"/>
                          <a:cs typeface="+mn-cs"/>
                        </a:rPr>
                        <a:t>Addition</a:t>
                      </a:r>
                    </a:p>
                  </a:txBody>
                  <a:tcPr/>
                </a:tc>
                <a:extLst>
                  <a:ext uri="{0D108BD9-81ED-4DB2-BD59-A6C34878D82A}">
                    <a16:rowId xmlns:a16="http://schemas.microsoft.com/office/drawing/2014/main" val="3490019236"/>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IN" sz="2400" kern="1200" dirty="0">
                          <a:solidFill>
                            <a:schemeClr val="bg1">
                              <a:lumMod val="50000"/>
                            </a:schemeClr>
                          </a:solidFill>
                          <a:latin typeface="Trebuchet MS" panose="020B0603020202020204" pitchFamily="34" charset="0"/>
                          <a:ea typeface="+mn-ea"/>
                          <a:cs typeface="+mn-cs"/>
                        </a:rPr>
                        <a:t>Subtraction</a:t>
                      </a:r>
                    </a:p>
                  </a:txBody>
                  <a:tcPr/>
                </a:tc>
                <a:extLst>
                  <a:ext uri="{0D108BD9-81ED-4DB2-BD59-A6C34878D82A}">
                    <a16:rowId xmlns:a16="http://schemas.microsoft.com/office/drawing/2014/main" val="3130715270"/>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IN" sz="2400" kern="1200" dirty="0">
                          <a:solidFill>
                            <a:schemeClr val="bg1">
                              <a:lumMod val="50000"/>
                            </a:schemeClr>
                          </a:solidFill>
                          <a:latin typeface="Trebuchet MS" panose="020B0603020202020204" pitchFamily="34" charset="0"/>
                          <a:ea typeface="+mn-ea"/>
                          <a:cs typeface="+mn-cs"/>
                        </a:rPr>
                        <a:t>Multiplication</a:t>
                      </a:r>
                    </a:p>
                  </a:txBody>
                  <a:tcPr/>
                </a:tc>
                <a:extLst>
                  <a:ext uri="{0D108BD9-81ED-4DB2-BD59-A6C34878D82A}">
                    <a16:rowId xmlns:a16="http://schemas.microsoft.com/office/drawing/2014/main" val="399345258"/>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IN" sz="2400" kern="1200" dirty="0">
                          <a:solidFill>
                            <a:schemeClr val="bg1">
                              <a:lumMod val="50000"/>
                            </a:schemeClr>
                          </a:solidFill>
                          <a:latin typeface="Trebuchet MS" panose="020B0603020202020204" pitchFamily="34" charset="0"/>
                          <a:ea typeface="+mn-ea"/>
                          <a:cs typeface="+mn-cs"/>
                        </a:rPr>
                        <a:t>Division</a:t>
                      </a:r>
                    </a:p>
                  </a:txBody>
                  <a:tcPr/>
                </a:tc>
                <a:extLst>
                  <a:ext uri="{0D108BD9-81ED-4DB2-BD59-A6C34878D82A}">
                    <a16:rowId xmlns:a16="http://schemas.microsoft.com/office/drawing/2014/main" val="60519245"/>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IN" sz="2400" kern="1200" dirty="0">
                          <a:solidFill>
                            <a:schemeClr val="bg1">
                              <a:lumMod val="50000"/>
                            </a:schemeClr>
                          </a:solidFill>
                          <a:latin typeface="Trebuchet MS" panose="020B0603020202020204" pitchFamily="34" charset="0"/>
                          <a:ea typeface="+mn-ea"/>
                          <a:cs typeface="+mn-cs"/>
                        </a:rPr>
                        <a:t>Remainder</a:t>
                      </a:r>
                    </a:p>
                  </a:txBody>
                  <a:tcPr/>
                </a:tc>
                <a:extLst>
                  <a:ext uri="{0D108BD9-81ED-4DB2-BD59-A6C34878D82A}">
                    <a16:rowId xmlns:a16="http://schemas.microsoft.com/office/drawing/2014/main" val="193613447"/>
                  </a:ext>
                </a:extLst>
              </a:tr>
            </a:tbl>
          </a:graphicData>
        </a:graphic>
      </p:graphicFrame>
    </p:spTree>
    <p:extLst>
      <p:ext uri="{BB962C8B-B14F-4D97-AF65-F5344CB8AC3E}">
        <p14:creationId xmlns:p14="http://schemas.microsoft.com/office/powerpoint/2010/main" val="1632655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832CD-6540-4C37-8526-F1CAA99E06E5}"/>
              </a:ext>
            </a:extLst>
          </p:cNvPr>
          <p:cNvSpPr>
            <a:spLocks noGrp="1"/>
          </p:cNvSpPr>
          <p:nvPr>
            <p:ph type="title"/>
          </p:nvPr>
        </p:nvSpPr>
        <p:spPr/>
        <p:txBody>
          <a:bodyPr>
            <a:normAutofit fontScale="90000"/>
          </a:bodyPr>
          <a:lstStyle/>
          <a:p>
            <a:br>
              <a:rPr lang="en-US" dirty="0"/>
            </a:br>
            <a:r>
              <a:rPr lang="en-US" dirty="0"/>
              <a:t>Assignment Operators</a:t>
            </a:r>
            <a:br>
              <a:rPr lang="en-US" dirty="0"/>
            </a:br>
            <a:endParaRPr lang="en-IN" dirty="0"/>
          </a:p>
        </p:txBody>
      </p:sp>
      <p:sp>
        <p:nvSpPr>
          <p:cNvPr id="3" name="Content Placeholder 2">
            <a:extLst>
              <a:ext uri="{FF2B5EF4-FFF2-40B4-BE49-F238E27FC236}">
                <a16:creationId xmlns:a16="http://schemas.microsoft.com/office/drawing/2014/main" id="{41EC3E5B-DD46-426B-BD39-88E59CFFE867}"/>
              </a:ext>
            </a:extLst>
          </p:cNvPr>
          <p:cNvSpPr>
            <a:spLocks noGrp="1"/>
          </p:cNvSpPr>
          <p:nvPr>
            <p:ph idx="1"/>
          </p:nvPr>
        </p:nvSpPr>
        <p:spPr/>
        <p:txBody>
          <a:bodyPr/>
          <a:lstStyle/>
          <a:p>
            <a:r>
              <a:rPr lang="en-US" dirty="0"/>
              <a:t>Used to perform arithmetical calculations on numbers.</a:t>
            </a:r>
          </a:p>
          <a:p>
            <a:r>
              <a:rPr lang="en-US" dirty="0"/>
              <a:t>List of Operators:</a:t>
            </a:r>
            <a:endParaRPr lang="en-IN" dirty="0"/>
          </a:p>
          <a:p>
            <a:endParaRPr lang="en-US" dirty="0"/>
          </a:p>
        </p:txBody>
      </p:sp>
      <p:graphicFrame>
        <p:nvGraphicFramePr>
          <p:cNvPr id="9" name="Table 8">
            <a:extLst>
              <a:ext uri="{FF2B5EF4-FFF2-40B4-BE49-F238E27FC236}">
                <a16:creationId xmlns:a16="http://schemas.microsoft.com/office/drawing/2014/main" id="{A396A1F9-2BF3-4127-A7B0-776E9173F4D6}"/>
              </a:ext>
            </a:extLst>
          </p:cNvPr>
          <p:cNvGraphicFramePr>
            <a:graphicFrameLocks noGrp="1"/>
          </p:cNvGraphicFramePr>
          <p:nvPr>
            <p:extLst>
              <p:ext uri="{D42A27DB-BD31-4B8C-83A1-F6EECF244321}">
                <p14:modId xmlns:p14="http://schemas.microsoft.com/office/powerpoint/2010/main" val="2428932703"/>
              </p:ext>
            </p:extLst>
          </p:nvPr>
        </p:nvGraphicFramePr>
        <p:xfrm>
          <a:off x="1412697" y="2450167"/>
          <a:ext cx="8128000" cy="2523744"/>
        </p:xfrm>
        <a:graphic>
          <a:graphicData uri="http://schemas.openxmlformats.org/drawingml/2006/table">
            <a:tbl>
              <a:tblPr firstRow="1" bandRow="1">
                <a:tableStyleId>{BC89EF96-8CEA-46FF-86C4-4CE0E7609802}</a:tableStyleId>
              </a:tblPr>
              <a:tblGrid>
                <a:gridCol w="4064000">
                  <a:extLst>
                    <a:ext uri="{9D8B030D-6E8A-4147-A177-3AD203B41FA5}">
                      <a16:colId xmlns:a16="http://schemas.microsoft.com/office/drawing/2014/main" val="953779288"/>
                    </a:ext>
                  </a:extLst>
                </a:gridCol>
                <a:gridCol w="4064000">
                  <a:extLst>
                    <a:ext uri="{9D8B030D-6E8A-4147-A177-3AD203B41FA5}">
                      <a16:colId xmlns:a16="http://schemas.microsoft.com/office/drawing/2014/main" val="1108681470"/>
                    </a:ext>
                  </a:extLst>
                </a:gridCol>
              </a:tblGrid>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Assign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3075817376"/>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Add &amp; assign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783389160"/>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Subtract &amp; assign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098687330"/>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Multiply &amp; assign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797734320"/>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Divide &amp; assign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2961989622"/>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Remainder &amp; assign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3122008938"/>
                  </a:ext>
                </a:extLst>
              </a:tr>
            </a:tbl>
          </a:graphicData>
        </a:graphic>
      </p:graphicFrame>
    </p:spTree>
    <p:extLst>
      <p:ext uri="{BB962C8B-B14F-4D97-AF65-F5344CB8AC3E}">
        <p14:creationId xmlns:p14="http://schemas.microsoft.com/office/powerpoint/2010/main" val="4203754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4FE68-0150-4BFD-9280-E26934C242A9}"/>
              </a:ext>
            </a:extLst>
          </p:cNvPr>
          <p:cNvSpPr>
            <a:spLocks noGrp="1"/>
          </p:cNvSpPr>
          <p:nvPr>
            <p:ph type="title"/>
          </p:nvPr>
        </p:nvSpPr>
        <p:spPr/>
        <p:txBody>
          <a:bodyPr>
            <a:normAutofit fontScale="90000"/>
          </a:bodyPr>
          <a:lstStyle/>
          <a:p>
            <a:br>
              <a:rPr lang="en-US" dirty="0"/>
            </a:br>
            <a:r>
              <a:rPr lang="en-US" dirty="0"/>
              <a:t>Increment and Decrement Operators</a:t>
            </a:r>
            <a:br>
              <a:rPr lang="en-US" dirty="0"/>
            </a:br>
            <a:endParaRPr lang="en-IN" dirty="0"/>
          </a:p>
        </p:txBody>
      </p:sp>
      <p:graphicFrame>
        <p:nvGraphicFramePr>
          <p:cNvPr id="7" name="Content Placeholder 6">
            <a:extLst>
              <a:ext uri="{FF2B5EF4-FFF2-40B4-BE49-F238E27FC236}">
                <a16:creationId xmlns:a16="http://schemas.microsoft.com/office/drawing/2014/main" id="{1A06DC45-1645-4C04-9172-A14C0723F0AE}"/>
              </a:ext>
            </a:extLst>
          </p:cNvPr>
          <p:cNvGraphicFramePr>
            <a:graphicFrameLocks noGrp="1"/>
          </p:cNvGraphicFramePr>
          <p:nvPr>
            <p:ph idx="1"/>
            <p:extLst>
              <p:ext uri="{D42A27DB-BD31-4B8C-83A1-F6EECF244321}">
                <p14:modId xmlns:p14="http://schemas.microsoft.com/office/powerpoint/2010/main" val="1788826221"/>
              </p:ext>
            </p:extLst>
          </p:nvPr>
        </p:nvGraphicFramePr>
        <p:xfrm>
          <a:off x="727075" y="1250576"/>
          <a:ext cx="11039476" cy="1889760"/>
        </p:xfrm>
        <a:graphic>
          <a:graphicData uri="http://schemas.openxmlformats.org/drawingml/2006/table">
            <a:tbl>
              <a:tblPr firstRow="1" bandRow="1">
                <a:tableStyleId>{BC89EF96-8CEA-46FF-86C4-4CE0E7609802}</a:tableStyleId>
              </a:tblPr>
              <a:tblGrid>
                <a:gridCol w="5519738">
                  <a:extLst>
                    <a:ext uri="{9D8B030D-6E8A-4147-A177-3AD203B41FA5}">
                      <a16:colId xmlns:a16="http://schemas.microsoft.com/office/drawing/2014/main" val="3443709846"/>
                    </a:ext>
                  </a:extLst>
                </a:gridCol>
                <a:gridCol w="5519738">
                  <a:extLst>
                    <a:ext uri="{9D8B030D-6E8A-4147-A177-3AD203B41FA5}">
                      <a16:colId xmlns:a16="http://schemas.microsoft.com/office/drawing/2014/main" val="3109408481"/>
                    </a:ext>
                  </a:extLst>
                </a:gridCol>
              </a:tblGrid>
              <a:tr h="372802">
                <a:tc>
                  <a:txBody>
                    <a:bodyPr/>
                    <a:lstStyle/>
                    <a:p>
                      <a:pPr algn="ctr"/>
                      <a:r>
                        <a:rPr lang="en-US" sz="2500" kern="1200" dirty="0">
                          <a:solidFill>
                            <a:schemeClr val="bg1">
                              <a:lumMod val="50000"/>
                            </a:schemeClr>
                          </a:solidFill>
                          <a:latin typeface="Trebuchet MS" panose="020B0603020202020204" pitchFamily="34" charset="0"/>
                          <a:ea typeface="+mj-ea"/>
                          <a:cs typeface="+mj-cs"/>
                        </a:rPr>
                        <a:t>n++</a:t>
                      </a:r>
                      <a:endParaRPr lang="en-IN" sz="2500" kern="1200" dirty="0">
                        <a:solidFill>
                          <a:schemeClr val="bg1">
                            <a:lumMod val="50000"/>
                          </a:schemeClr>
                        </a:solidFill>
                        <a:latin typeface="Trebuchet MS" panose="020B0603020202020204" pitchFamily="34" charset="0"/>
                        <a:ea typeface="+mj-ea"/>
                        <a:cs typeface="+mj-cs"/>
                      </a:endParaRPr>
                    </a:p>
                  </a:txBody>
                  <a:tcPr/>
                </a:tc>
                <a:tc>
                  <a:txBody>
                    <a:bodyPr/>
                    <a:lstStyle/>
                    <a:p>
                      <a:pPr algn="ctr"/>
                      <a:r>
                        <a:rPr lang="en-US" sz="2500" kern="1200" dirty="0">
                          <a:solidFill>
                            <a:schemeClr val="bg1">
                              <a:lumMod val="50000"/>
                            </a:schemeClr>
                          </a:solidFill>
                          <a:latin typeface="Trebuchet MS" panose="020B0603020202020204" pitchFamily="34" charset="0"/>
                          <a:ea typeface="+mj-ea"/>
                          <a:cs typeface="+mj-cs"/>
                        </a:rPr>
                        <a:t>Post Increment</a:t>
                      </a:r>
                      <a:endParaRPr lang="en-IN" sz="25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273826992"/>
                  </a:ext>
                </a:extLst>
              </a:tr>
              <a:tr h="370840">
                <a:tc>
                  <a:txBody>
                    <a:bodyPr/>
                    <a:lstStyle/>
                    <a:p>
                      <a:pPr algn="ctr"/>
                      <a:r>
                        <a:rPr lang="en-US" sz="2500" kern="1200" dirty="0">
                          <a:solidFill>
                            <a:schemeClr val="bg1">
                              <a:lumMod val="50000"/>
                            </a:schemeClr>
                          </a:solidFill>
                          <a:latin typeface="Trebuchet MS" panose="020B0603020202020204" pitchFamily="34" charset="0"/>
                          <a:ea typeface="+mj-ea"/>
                          <a:cs typeface="+mj-cs"/>
                        </a:rPr>
                        <a:t>++n</a:t>
                      </a:r>
                      <a:endParaRPr lang="en-IN" sz="2500" kern="1200" dirty="0">
                        <a:solidFill>
                          <a:schemeClr val="bg1">
                            <a:lumMod val="50000"/>
                          </a:schemeClr>
                        </a:solidFill>
                        <a:latin typeface="Trebuchet MS" panose="020B0603020202020204" pitchFamily="34" charset="0"/>
                        <a:ea typeface="+mj-ea"/>
                        <a:cs typeface="+mj-cs"/>
                      </a:endParaRPr>
                    </a:p>
                  </a:txBody>
                  <a:tcPr/>
                </a:tc>
                <a:tc>
                  <a:txBody>
                    <a:bodyPr/>
                    <a:lstStyle/>
                    <a:p>
                      <a:pPr algn="ctr"/>
                      <a:r>
                        <a:rPr lang="en-US" sz="2500" kern="1200" dirty="0">
                          <a:solidFill>
                            <a:schemeClr val="bg1">
                              <a:lumMod val="50000"/>
                            </a:schemeClr>
                          </a:solidFill>
                          <a:latin typeface="Trebuchet MS" panose="020B0603020202020204" pitchFamily="34" charset="0"/>
                          <a:ea typeface="+mj-ea"/>
                          <a:cs typeface="+mj-cs"/>
                        </a:rPr>
                        <a:t>Pre-Increment</a:t>
                      </a:r>
                      <a:endParaRPr lang="en-IN" sz="25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2429578921"/>
                  </a:ext>
                </a:extLst>
              </a:tr>
              <a:tr h="370840">
                <a:tc>
                  <a:txBody>
                    <a:bodyPr/>
                    <a:lstStyle/>
                    <a:p>
                      <a:pPr algn="ctr"/>
                      <a:r>
                        <a:rPr lang="en-US" sz="2500" kern="1200" dirty="0">
                          <a:solidFill>
                            <a:schemeClr val="bg1">
                              <a:lumMod val="50000"/>
                            </a:schemeClr>
                          </a:solidFill>
                          <a:latin typeface="Trebuchet MS" panose="020B0603020202020204" pitchFamily="34" charset="0"/>
                          <a:ea typeface="+mj-ea"/>
                          <a:cs typeface="+mj-cs"/>
                        </a:rPr>
                        <a:t>n--</a:t>
                      </a:r>
                      <a:endParaRPr lang="en-IN" sz="2500" kern="1200" dirty="0">
                        <a:solidFill>
                          <a:schemeClr val="bg1">
                            <a:lumMod val="50000"/>
                          </a:schemeClr>
                        </a:solidFill>
                        <a:latin typeface="Trebuchet MS" panose="020B0603020202020204" pitchFamily="34" charset="0"/>
                        <a:ea typeface="+mj-ea"/>
                        <a:cs typeface="+mj-cs"/>
                      </a:endParaRPr>
                    </a:p>
                  </a:txBody>
                  <a:tcPr/>
                </a:tc>
                <a:tc>
                  <a:txBody>
                    <a:bodyPr/>
                    <a:lstStyle/>
                    <a:p>
                      <a:pPr algn="ctr"/>
                      <a:r>
                        <a:rPr lang="en-US" sz="2500" kern="1200" dirty="0">
                          <a:solidFill>
                            <a:schemeClr val="bg1">
                              <a:lumMod val="50000"/>
                            </a:schemeClr>
                          </a:solidFill>
                          <a:latin typeface="Trebuchet MS" panose="020B0603020202020204" pitchFamily="34" charset="0"/>
                          <a:ea typeface="+mj-ea"/>
                          <a:cs typeface="+mj-cs"/>
                        </a:rPr>
                        <a:t>Post-Decrement</a:t>
                      </a:r>
                      <a:endParaRPr lang="en-IN" sz="25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2749136656"/>
                  </a:ext>
                </a:extLst>
              </a:tr>
              <a:tr h="370840">
                <a:tc>
                  <a:txBody>
                    <a:bodyPr/>
                    <a:lstStyle/>
                    <a:p>
                      <a:pPr algn="ctr"/>
                      <a:r>
                        <a:rPr lang="en-US" sz="2500" kern="1200" dirty="0">
                          <a:solidFill>
                            <a:schemeClr val="bg1">
                              <a:lumMod val="50000"/>
                            </a:schemeClr>
                          </a:solidFill>
                          <a:latin typeface="Trebuchet MS" panose="020B0603020202020204" pitchFamily="34" charset="0"/>
                          <a:ea typeface="+mj-ea"/>
                          <a:cs typeface="+mj-cs"/>
                        </a:rPr>
                        <a:t>--n</a:t>
                      </a:r>
                      <a:endParaRPr lang="en-IN" sz="2500" kern="1200" dirty="0">
                        <a:solidFill>
                          <a:schemeClr val="bg1">
                            <a:lumMod val="50000"/>
                          </a:schemeClr>
                        </a:solidFill>
                        <a:latin typeface="Trebuchet MS" panose="020B0603020202020204" pitchFamily="34" charset="0"/>
                        <a:ea typeface="+mj-ea"/>
                        <a:cs typeface="+mj-cs"/>
                      </a:endParaRPr>
                    </a:p>
                  </a:txBody>
                  <a:tcPr/>
                </a:tc>
                <a:tc>
                  <a:txBody>
                    <a:bodyPr/>
                    <a:lstStyle/>
                    <a:p>
                      <a:pPr algn="ctr"/>
                      <a:r>
                        <a:rPr lang="en-US" sz="2500" kern="1200" dirty="0">
                          <a:solidFill>
                            <a:schemeClr val="bg1">
                              <a:lumMod val="50000"/>
                            </a:schemeClr>
                          </a:solidFill>
                          <a:latin typeface="Trebuchet MS" panose="020B0603020202020204" pitchFamily="34" charset="0"/>
                          <a:ea typeface="+mj-ea"/>
                          <a:cs typeface="+mj-cs"/>
                        </a:rPr>
                        <a:t>Pre-decrement</a:t>
                      </a:r>
                      <a:endParaRPr lang="en-IN" sz="25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647317381"/>
                  </a:ext>
                </a:extLst>
              </a:tr>
            </a:tbl>
          </a:graphicData>
        </a:graphic>
      </p:graphicFrame>
    </p:spTree>
    <p:extLst>
      <p:ext uri="{BB962C8B-B14F-4D97-AF65-F5344CB8AC3E}">
        <p14:creationId xmlns:p14="http://schemas.microsoft.com/office/powerpoint/2010/main" val="959308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832CD-6540-4C37-8526-F1CAA99E06E5}"/>
              </a:ext>
            </a:extLst>
          </p:cNvPr>
          <p:cNvSpPr>
            <a:spLocks noGrp="1"/>
          </p:cNvSpPr>
          <p:nvPr>
            <p:ph type="title"/>
          </p:nvPr>
        </p:nvSpPr>
        <p:spPr/>
        <p:txBody>
          <a:bodyPr>
            <a:normAutofit fontScale="90000"/>
          </a:bodyPr>
          <a:lstStyle/>
          <a:p>
            <a:br>
              <a:rPr lang="en-US" dirty="0"/>
            </a:br>
            <a:r>
              <a:rPr lang="en-US" dirty="0"/>
              <a:t>Comparison Operators</a:t>
            </a:r>
            <a:br>
              <a:rPr lang="en-US" dirty="0"/>
            </a:br>
            <a:endParaRPr lang="en-IN" dirty="0"/>
          </a:p>
        </p:txBody>
      </p:sp>
      <p:sp>
        <p:nvSpPr>
          <p:cNvPr id="3" name="Content Placeholder 2">
            <a:extLst>
              <a:ext uri="{FF2B5EF4-FFF2-40B4-BE49-F238E27FC236}">
                <a16:creationId xmlns:a16="http://schemas.microsoft.com/office/drawing/2014/main" id="{41EC3E5B-DD46-426B-BD39-88E59CFFE867}"/>
              </a:ext>
            </a:extLst>
          </p:cNvPr>
          <p:cNvSpPr>
            <a:spLocks noGrp="1"/>
          </p:cNvSpPr>
          <p:nvPr>
            <p:ph idx="1"/>
          </p:nvPr>
        </p:nvSpPr>
        <p:spPr/>
        <p:txBody>
          <a:bodyPr/>
          <a:lstStyle/>
          <a:p>
            <a:r>
              <a:rPr lang="en-US" dirty="0"/>
              <a:t>Used to compare 2 values and return true / false, based on condition.</a:t>
            </a:r>
          </a:p>
          <a:p>
            <a:r>
              <a:rPr lang="en-US" dirty="0"/>
              <a:t>List of Operators:</a:t>
            </a:r>
            <a:endParaRPr lang="en-IN" dirty="0"/>
          </a:p>
          <a:p>
            <a:endParaRPr lang="en-US" dirty="0"/>
          </a:p>
        </p:txBody>
      </p:sp>
      <p:graphicFrame>
        <p:nvGraphicFramePr>
          <p:cNvPr id="9" name="Table 8">
            <a:extLst>
              <a:ext uri="{FF2B5EF4-FFF2-40B4-BE49-F238E27FC236}">
                <a16:creationId xmlns:a16="http://schemas.microsoft.com/office/drawing/2014/main" id="{A396A1F9-2BF3-4127-A7B0-776E9173F4D6}"/>
              </a:ext>
            </a:extLst>
          </p:cNvPr>
          <p:cNvGraphicFramePr>
            <a:graphicFrameLocks noGrp="1"/>
          </p:cNvGraphicFramePr>
          <p:nvPr>
            <p:extLst>
              <p:ext uri="{D42A27DB-BD31-4B8C-83A1-F6EECF244321}">
                <p14:modId xmlns:p14="http://schemas.microsoft.com/office/powerpoint/2010/main" val="818111687"/>
              </p:ext>
            </p:extLst>
          </p:nvPr>
        </p:nvGraphicFramePr>
        <p:xfrm>
          <a:off x="1412697" y="2450167"/>
          <a:ext cx="8128000" cy="2523744"/>
        </p:xfrm>
        <a:graphic>
          <a:graphicData uri="http://schemas.openxmlformats.org/drawingml/2006/table">
            <a:tbl>
              <a:tblPr firstRow="1" bandRow="1">
                <a:tableStyleId>{BC89EF96-8CEA-46FF-86C4-4CE0E7609802}</a:tableStyleId>
              </a:tblPr>
              <a:tblGrid>
                <a:gridCol w="4064000">
                  <a:extLst>
                    <a:ext uri="{9D8B030D-6E8A-4147-A177-3AD203B41FA5}">
                      <a16:colId xmlns:a16="http://schemas.microsoft.com/office/drawing/2014/main" val="953779288"/>
                    </a:ext>
                  </a:extLst>
                </a:gridCol>
                <a:gridCol w="4064000">
                  <a:extLst>
                    <a:ext uri="{9D8B030D-6E8A-4147-A177-3AD203B41FA5}">
                      <a16:colId xmlns:a16="http://schemas.microsoft.com/office/drawing/2014/main" val="1108681470"/>
                    </a:ext>
                  </a:extLst>
                </a:gridCol>
              </a:tblGrid>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Equal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3075817376"/>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Not equal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783389160"/>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&lt;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Less than </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098687330"/>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&gt;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Greater than</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797734320"/>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&lt;=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Less than equal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2961989622"/>
                  </a:ext>
                </a:extLst>
              </a:tr>
              <a:tr h="370840">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&gt;=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marL="0" indent="0" algn="ctr" defTabSz="914400" rtl="0" eaLnBrk="1" latinLnBrk="0" hangingPunct="1">
                        <a:lnSpc>
                          <a:spcPct val="90000"/>
                        </a:lnSpc>
                        <a:spcBef>
                          <a:spcPts val="1000"/>
                        </a:spcBef>
                        <a:buFont typeface="Arial" panose="020B0604020202020204" pitchFamily="34" charset="0"/>
                        <a:buNone/>
                      </a:pPr>
                      <a:r>
                        <a:rPr lang="en-US" sz="2400" kern="1200" dirty="0">
                          <a:solidFill>
                            <a:schemeClr val="bg1">
                              <a:lumMod val="50000"/>
                            </a:schemeClr>
                          </a:solidFill>
                          <a:latin typeface="Trebuchet MS" panose="020B0603020202020204" pitchFamily="34" charset="0"/>
                          <a:ea typeface="+mn-ea"/>
                          <a:cs typeface="+mn-cs"/>
                        </a:rPr>
                        <a:t>Greater than equal to</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3122008938"/>
                  </a:ext>
                </a:extLst>
              </a:tr>
            </a:tbl>
          </a:graphicData>
        </a:graphic>
      </p:graphicFrame>
    </p:spTree>
    <p:extLst>
      <p:ext uri="{BB962C8B-B14F-4D97-AF65-F5344CB8AC3E}">
        <p14:creationId xmlns:p14="http://schemas.microsoft.com/office/powerpoint/2010/main" val="1537684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832CD-6540-4C37-8526-F1CAA99E06E5}"/>
              </a:ext>
            </a:extLst>
          </p:cNvPr>
          <p:cNvSpPr>
            <a:spLocks noGrp="1"/>
          </p:cNvSpPr>
          <p:nvPr>
            <p:ph type="title"/>
          </p:nvPr>
        </p:nvSpPr>
        <p:spPr/>
        <p:txBody>
          <a:bodyPr>
            <a:normAutofit fontScale="90000"/>
          </a:bodyPr>
          <a:lstStyle/>
          <a:p>
            <a:br>
              <a:rPr lang="en-US" dirty="0"/>
            </a:br>
            <a:r>
              <a:rPr lang="en-US" dirty="0"/>
              <a:t>Logical Operators</a:t>
            </a:r>
            <a:br>
              <a:rPr lang="en-US" dirty="0"/>
            </a:br>
            <a:endParaRPr lang="en-IN" dirty="0"/>
          </a:p>
        </p:txBody>
      </p:sp>
      <p:sp>
        <p:nvSpPr>
          <p:cNvPr id="3" name="Content Placeholder 2">
            <a:extLst>
              <a:ext uri="{FF2B5EF4-FFF2-40B4-BE49-F238E27FC236}">
                <a16:creationId xmlns:a16="http://schemas.microsoft.com/office/drawing/2014/main" id="{41EC3E5B-DD46-426B-BD39-88E59CFFE867}"/>
              </a:ext>
            </a:extLst>
          </p:cNvPr>
          <p:cNvSpPr>
            <a:spLocks noGrp="1"/>
          </p:cNvSpPr>
          <p:nvPr>
            <p:ph idx="1"/>
          </p:nvPr>
        </p:nvSpPr>
        <p:spPr/>
        <p:txBody>
          <a:bodyPr/>
          <a:lstStyle/>
          <a:p>
            <a:r>
              <a:rPr lang="en-US" dirty="0"/>
              <a:t>Check both operands(Boolean) and returns true/false </a:t>
            </a:r>
          </a:p>
          <a:p>
            <a:r>
              <a:rPr lang="en-US" dirty="0"/>
              <a:t>List of Operators:</a:t>
            </a:r>
            <a:endParaRPr lang="en-IN" dirty="0"/>
          </a:p>
          <a:p>
            <a:endParaRPr lang="en-US" dirty="0"/>
          </a:p>
        </p:txBody>
      </p:sp>
      <p:graphicFrame>
        <p:nvGraphicFramePr>
          <p:cNvPr id="8" name="Table 7">
            <a:extLst>
              <a:ext uri="{FF2B5EF4-FFF2-40B4-BE49-F238E27FC236}">
                <a16:creationId xmlns:a16="http://schemas.microsoft.com/office/drawing/2014/main" id="{93D57DC3-4257-4FFF-AA28-10AB3C9E4953}"/>
              </a:ext>
            </a:extLst>
          </p:cNvPr>
          <p:cNvGraphicFramePr>
            <a:graphicFrameLocks noGrp="1"/>
          </p:cNvGraphicFramePr>
          <p:nvPr>
            <p:extLst>
              <p:ext uri="{D42A27DB-BD31-4B8C-83A1-F6EECF244321}">
                <p14:modId xmlns:p14="http://schemas.microsoft.com/office/powerpoint/2010/main" val="1347040674"/>
              </p:ext>
            </p:extLst>
          </p:nvPr>
        </p:nvGraphicFramePr>
        <p:xfrm>
          <a:off x="637225" y="2412702"/>
          <a:ext cx="8128000" cy="2651760"/>
        </p:xfrm>
        <a:graphic>
          <a:graphicData uri="http://schemas.openxmlformats.org/drawingml/2006/table">
            <a:tbl>
              <a:tblPr firstRow="1" bandRow="1">
                <a:tableStyleId>{BC89EF96-8CEA-46FF-86C4-4CE0E7609802}</a:tableStyleId>
              </a:tblPr>
              <a:tblGrid>
                <a:gridCol w="4064000">
                  <a:extLst>
                    <a:ext uri="{9D8B030D-6E8A-4147-A177-3AD203B41FA5}">
                      <a16:colId xmlns:a16="http://schemas.microsoft.com/office/drawing/2014/main" val="460060350"/>
                    </a:ext>
                  </a:extLst>
                </a:gridCol>
                <a:gridCol w="4064000">
                  <a:extLst>
                    <a:ext uri="{9D8B030D-6E8A-4147-A177-3AD203B41FA5}">
                      <a16:colId xmlns:a16="http://schemas.microsoft.com/office/drawing/2014/main" val="3981270907"/>
                    </a:ext>
                  </a:extLst>
                </a:gridCol>
              </a:tblGrid>
              <a:tr h="227211">
                <a:tc>
                  <a:txBody>
                    <a:bodyPr/>
                    <a:lstStyle/>
                    <a:p>
                      <a:pPr algn="ctr"/>
                      <a:r>
                        <a:rPr lang="en-US" sz="2400" kern="1200" dirty="0">
                          <a:solidFill>
                            <a:schemeClr val="bg1">
                              <a:lumMod val="50000"/>
                            </a:schemeClr>
                          </a:solidFill>
                          <a:latin typeface="Trebuchet MS" panose="020B0603020202020204" pitchFamily="34" charset="0"/>
                          <a:ea typeface="+mn-ea"/>
                          <a:cs typeface="+mn-cs"/>
                        </a:rPr>
                        <a:t>&amp;&amp;</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IN" sz="2400" kern="1200" dirty="0">
                          <a:solidFill>
                            <a:schemeClr val="bg1">
                              <a:lumMod val="50000"/>
                            </a:schemeClr>
                          </a:solidFill>
                          <a:latin typeface="Trebuchet MS" panose="020B0603020202020204" pitchFamily="34" charset="0"/>
                          <a:ea typeface="+mn-ea"/>
                          <a:cs typeface="+mn-cs"/>
                        </a:rPr>
                        <a:t>AND</a:t>
                      </a:r>
                    </a:p>
                  </a:txBody>
                  <a:tcPr/>
                </a:tc>
                <a:extLst>
                  <a:ext uri="{0D108BD9-81ED-4DB2-BD59-A6C34878D82A}">
                    <a16:rowId xmlns:a16="http://schemas.microsoft.com/office/drawing/2014/main" val="3490019236"/>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US" sz="2400" kern="1200" dirty="0">
                          <a:solidFill>
                            <a:schemeClr val="bg1">
                              <a:lumMod val="50000"/>
                            </a:schemeClr>
                          </a:solidFill>
                          <a:latin typeface="Trebuchet MS" panose="020B0603020202020204" pitchFamily="34" charset="0"/>
                          <a:ea typeface="+mn-ea"/>
                          <a:cs typeface="+mn-cs"/>
                        </a:rPr>
                        <a:t>O</a:t>
                      </a:r>
                      <a:r>
                        <a:rPr lang="en-IN" sz="2400" kern="1200" dirty="0">
                          <a:solidFill>
                            <a:schemeClr val="bg1">
                              <a:lumMod val="50000"/>
                            </a:schemeClr>
                          </a:solidFill>
                          <a:latin typeface="Trebuchet MS" panose="020B0603020202020204" pitchFamily="34" charset="0"/>
                          <a:ea typeface="+mn-ea"/>
                          <a:cs typeface="+mn-cs"/>
                        </a:rPr>
                        <a:t>R</a:t>
                      </a:r>
                    </a:p>
                  </a:txBody>
                  <a:tcPr/>
                </a:tc>
                <a:extLst>
                  <a:ext uri="{0D108BD9-81ED-4DB2-BD59-A6C34878D82A}">
                    <a16:rowId xmlns:a16="http://schemas.microsoft.com/office/drawing/2014/main" val="3130715270"/>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US" sz="2400" kern="1200" dirty="0">
                          <a:solidFill>
                            <a:schemeClr val="bg1">
                              <a:lumMod val="50000"/>
                            </a:schemeClr>
                          </a:solidFill>
                          <a:latin typeface="Trebuchet MS" panose="020B0603020202020204" pitchFamily="34" charset="0"/>
                          <a:ea typeface="+mn-ea"/>
                          <a:cs typeface="+mn-cs"/>
                        </a:rPr>
                        <a:t>X</a:t>
                      </a:r>
                      <a:r>
                        <a:rPr lang="en-IN" sz="2400" kern="1200" dirty="0">
                          <a:solidFill>
                            <a:schemeClr val="bg1">
                              <a:lumMod val="50000"/>
                            </a:schemeClr>
                          </a:solidFill>
                          <a:latin typeface="Trebuchet MS" panose="020B0603020202020204" pitchFamily="34" charset="0"/>
                          <a:ea typeface="+mn-ea"/>
                          <a:cs typeface="+mn-cs"/>
                        </a:rPr>
                        <a:t>OR(Exclusive OR)</a:t>
                      </a:r>
                    </a:p>
                  </a:txBody>
                  <a:tcPr/>
                </a:tc>
                <a:extLst>
                  <a:ext uri="{0D108BD9-81ED-4DB2-BD59-A6C34878D82A}">
                    <a16:rowId xmlns:a16="http://schemas.microsoft.com/office/drawing/2014/main" val="399345258"/>
                  </a:ext>
                </a:extLst>
              </a:tr>
              <a:tr h="370840">
                <a:tc>
                  <a:txBody>
                    <a:bodyPr/>
                    <a:lstStyle/>
                    <a:p>
                      <a:pPr algn="ctr"/>
                      <a:r>
                        <a:rPr lang="en-US" sz="2400" kern="1200" dirty="0">
                          <a:solidFill>
                            <a:schemeClr val="bg1">
                              <a:lumMod val="50000"/>
                            </a:schemeClr>
                          </a:solidFill>
                          <a:latin typeface="Trebuchet MS" panose="020B0603020202020204" pitchFamily="34" charset="0"/>
                          <a:ea typeface="+mn-ea"/>
                          <a:cs typeface="+mn-cs"/>
                        </a:rPr>
                        <a:t>!</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pPr algn="ctr"/>
                      <a:r>
                        <a:rPr lang="en-US" sz="2400" kern="1200" dirty="0">
                          <a:solidFill>
                            <a:schemeClr val="bg1">
                              <a:lumMod val="50000"/>
                            </a:schemeClr>
                          </a:solidFill>
                          <a:latin typeface="Trebuchet MS" panose="020B0603020202020204" pitchFamily="34" charset="0"/>
                          <a:ea typeface="+mn-ea"/>
                          <a:cs typeface="+mn-cs"/>
                        </a:rPr>
                        <a:t>N</a:t>
                      </a:r>
                      <a:r>
                        <a:rPr lang="en-IN" sz="2400" kern="1200" dirty="0">
                          <a:solidFill>
                            <a:schemeClr val="bg1">
                              <a:lumMod val="50000"/>
                            </a:schemeClr>
                          </a:solidFill>
                          <a:latin typeface="Trebuchet MS" panose="020B0603020202020204" pitchFamily="34" charset="0"/>
                          <a:ea typeface="+mn-ea"/>
                          <a:cs typeface="+mn-cs"/>
                        </a:rPr>
                        <a:t>egation (True becomes false &amp; false becomes true)</a:t>
                      </a:r>
                    </a:p>
                  </a:txBody>
                  <a:tcPr/>
                </a:tc>
                <a:extLst>
                  <a:ext uri="{0D108BD9-81ED-4DB2-BD59-A6C34878D82A}">
                    <a16:rowId xmlns:a16="http://schemas.microsoft.com/office/drawing/2014/main" val="60519245"/>
                  </a:ext>
                </a:extLst>
              </a:tr>
              <a:tr h="370840">
                <a:tc gridSpan="2">
                  <a:txBody>
                    <a:bodyPr/>
                    <a:lstStyle/>
                    <a:p>
                      <a:pPr algn="ctr"/>
                      <a:endParaRPr lang="en-IN" sz="2400" kern="1200" dirty="0">
                        <a:solidFill>
                          <a:schemeClr val="bg1">
                            <a:lumMod val="50000"/>
                          </a:schemeClr>
                        </a:solidFill>
                        <a:latin typeface="Trebuchet MS" panose="020B0603020202020204" pitchFamily="34" charset="0"/>
                        <a:ea typeface="+mn-ea"/>
                        <a:cs typeface="+mn-cs"/>
                      </a:endParaRPr>
                    </a:p>
                  </a:txBody>
                  <a:tcPr>
                    <a:lnL w="12700" cmpd="sng">
                      <a:noFill/>
                    </a:lnL>
                    <a:lnR w="12700" cmpd="sng">
                      <a:noFill/>
                    </a:lnR>
                    <a:lnB w="12700" cmpd="sng">
                      <a:noFill/>
                    </a:lnB>
                  </a:tcPr>
                </a:tc>
                <a:tc hMerge="1">
                  <a:txBody>
                    <a:bodyPr/>
                    <a:lstStyle/>
                    <a:p>
                      <a:pPr algn="ct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193613447"/>
                  </a:ext>
                </a:extLst>
              </a:tr>
            </a:tbl>
          </a:graphicData>
        </a:graphic>
      </p:graphicFrame>
    </p:spTree>
    <p:extLst>
      <p:ext uri="{BB962C8B-B14F-4D97-AF65-F5344CB8AC3E}">
        <p14:creationId xmlns:p14="http://schemas.microsoft.com/office/powerpoint/2010/main" val="3278068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1C58-A90B-4FDF-9023-E9A68D343EB6}"/>
              </a:ext>
            </a:extLst>
          </p:cNvPr>
          <p:cNvSpPr>
            <a:spLocks noGrp="1"/>
          </p:cNvSpPr>
          <p:nvPr>
            <p:ph type="title"/>
          </p:nvPr>
        </p:nvSpPr>
        <p:spPr/>
        <p:txBody>
          <a:bodyPr/>
          <a:lstStyle/>
          <a:p>
            <a:r>
              <a:rPr lang="en-US" dirty="0"/>
              <a:t>Concatenation Operator</a:t>
            </a:r>
            <a:endParaRPr lang="en-IN" dirty="0"/>
          </a:p>
        </p:txBody>
      </p:sp>
      <p:sp>
        <p:nvSpPr>
          <p:cNvPr id="3" name="Content Placeholder 2">
            <a:extLst>
              <a:ext uri="{FF2B5EF4-FFF2-40B4-BE49-F238E27FC236}">
                <a16:creationId xmlns:a16="http://schemas.microsoft.com/office/drawing/2014/main" id="{5C05B902-7943-4944-B2B1-124D295F96E2}"/>
              </a:ext>
            </a:extLst>
          </p:cNvPr>
          <p:cNvSpPr>
            <a:spLocks noGrp="1"/>
          </p:cNvSpPr>
          <p:nvPr>
            <p:ph idx="1"/>
          </p:nvPr>
        </p:nvSpPr>
        <p:spPr/>
        <p:txBody>
          <a:bodyPr/>
          <a:lstStyle/>
          <a:p>
            <a:r>
              <a:rPr lang="en-US" dirty="0"/>
              <a:t>Attaches second operand string at the end of first operand string and returns the combined string.</a:t>
            </a:r>
          </a:p>
          <a:p>
            <a:pPr marL="0" indent="0">
              <a:buNone/>
            </a:pPr>
            <a:endParaRPr lang="en-US" dirty="0"/>
          </a:p>
          <a:p>
            <a:r>
              <a:rPr lang="en-US" dirty="0"/>
              <a:t>+                “Hello”+ “World” returns “HelloWorld” (as string). </a:t>
            </a:r>
          </a:p>
          <a:p>
            <a:endParaRPr lang="en-US" dirty="0"/>
          </a:p>
          <a:p>
            <a:endParaRPr lang="en-IN" dirty="0"/>
          </a:p>
        </p:txBody>
      </p:sp>
      <p:graphicFrame>
        <p:nvGraphicFramePr>
          <p:cNvPr id="6" name="Table 5">
            <a:extLst>
              <a:ext uri="{FF2B5EF4-FFF2-40B4-BE49-F238E27FC236}">
                <a16:creationId xmlns:a16="http://schemas.microsoft.com/office/drawing/2014/main" id="{36217BB9-ECF4-4AF4-9413-0CB814084F82}"/>
              </a:ext>
            </a:extLst>
          </p:cNvPr>
          <p:cNvGraphicFramePr>
            <a:graphicFrameLocks noGrp="1"/>
          </p:cNvGraphicFramePr>
          <p:nvPr>
            <p:extLst>
              <p:ext uri="{D42A27DB-BD31-4B8C-83A1-F6EECF244321}">
                <p14:modId xmlns:p14="http://schemas.microsoft.com/office/powerpoint/2010/main" val="1044632878"/>
              </p:ext>
            </p:extLst>
          </p:nvPr>
        </p:nvGraphicFramePr>
        <p:xfrm>
          <a:off x="1412697" y="3674007"/>
          <a:ext cx="8128000" cy="1371600"/>
        </p:xfrm>
        <a:graphic>
          <a:graphicData uri="http://schemas.openxmlformats.org/drawingml/2006/table">
            <a:tbl>
              <a:tblPr firstRow="1" bandRow="1">
                <a:tableStyleId>{BC89EF96-8CEA-46FF-86C4-4CE0E7609802}</a:tableStyleId>
              </a:tblPr>
              <a:tblGrid>
                <a:gridCol w="4064000">
                  <a:extLst>
                    <a:ext uri="{9D8B030D-6E8A-4147-A177-3AD203B41FA5}">
                      <a16:colId xmlns:a16="http://schemas.microsoft.com/office/drawing/2014/main" val="1533226345"/>
                    </a:ext>
                  </a:extLst>
                </a:gridCol>
                <a:gridCol w="4064000">
                  <a:extLst>
                    <a:ext uri="{9D8B030D-6E8A-4147-A177-3AD203B41FA5}">
                      <a16:colId xmlns:a16="http://schemas.microsoft.com/office/drawing/2014/main" val="3397016803"/>
                    </a:ext>
                  </a:extLst>
                </a:gridCol>
              </a:tblGrid>
              <a:tr h="370840">
                <a:tc>
                  <a:txBody>
                    <a:bodyPr/>
                    <a:lstStyle/>
                    <a:p>
                      <a:r>
                        <a:rPr lang="en-US" sz="2400" kern="1200" dirty="0">
                          <a:solidFill>
                            <a:schemeClr val="bg1">
                              <a:lumMod val="50000"/>
                            </a:schemeClr>
                          </a:solidFill>
                          <a:latin typeface="Trebuchet MS" panose="020B0603020202020204" pitchFamily="34" charset="0"/>
                          <a:ea typeface="+mn-ea"/>
                          <a:cs typeface="+mn-cs"/>
                        </a:rPr>
                        <a:t>String + String</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r>
                        <a:rPr lang="en-US" sz="2400" kern="1200" dirty="0">
                          <a:solidFill>
                            <a:schemeClr val="bg1">
                              <a:lumMod val="50000"/>
                            </a:schemeClr>
                          </a:solidFill>
                          <a:latin typeface="Trebuchet MS" panose="020B0603020202020204" pitchFamily="34" charset="0"/>
                          <a:ea typeface="+mn-ea"/>
                          <a:cs typeface="+mn-cs"/>
                        </a:rPr>
                        <a:t>Returns String</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746913496"/>
                  </a:ext>
                </a:extLst>
              </a:tr>
              <a:tr h="370840">
                <a:tc>
                  <a:txBody>
                    <a:bodyPr/>
                    <a:lstStyle/>
                    <a:p>
                      <a:r>
                        <a:rPr lang="en-US" sz="2400" kern="1200" dirty="0">
                          <a:solidFill>
                            <a:schemeClr val="bg1">
                              <a:lumMod val="50000"/>
                            </a:schemeClr>
                          </a:solidFill>
                          <a:latin typeface="Trebuchet MS" panose="020B0603020202020204" pitchFamily="34" charset="0"/>
                          <a:ea typeface="+mn-ea"/>
                          <a:cs typeface="+mn-cs"/>
                        </a:rPr>
                        <a:t>String + Number</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r>
                        <a:rPr lang="en-US" sz="2400" kern="1200" dirty="0">
                          <a:solidFill>
                            <a:schemeClr val="bg1">
                              <a:lumMod val="50000"/>
                            </a:schemeClr>
                          </a:solidFill>
                          <a:latin typeface="Trebuchet MS" panose="020B0603020202020204" pitchFamily="34" charset="0"/>
                          <a:ea typeface="+mn-ea"/>
                          <a:cs typeface="+mn-cs"/>
                        </a:rPr>
                        <a:t>Returns String</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3097041801"/>
                  </a:ext>
                </a:extLst>
              </a:tr>
              <a:tr h="370840">
                <a:tc>
                  <a:txBody>
                    <a:bodyPr/>
                    <a:lstStyle/>
                    <a:p>
                      <a:r>
                        <a:rPr lang="en-US" sz="2400" kern="1200" dirty="0">
                          <a:solidFill>
                            <a:schemeClr val="bg1">
                              <a:lumMod val="50000"/>
                            </a:schemeClr>
                          </a:solidFill>
                          <a:latin typeface="Trebuchet MS" panose="020B0603020202020204" pitchFamily="34" charset="0"/>
                          <a:ea typeface="+mn-ea"/>
                          <a:cs typeface="+mn-cs"/>
                        </a:rPr>
                        <a:t>Number+ String</a:t>
                      </a:r>
                      <a:endParaRPr lang="en-IN" sz="2400" kern="1200" dirty="0">
                        <a:solidFill>
                          <a:schemeClr val="bg1">
                            <a:lumMod val="50000"/>
                          </a:schemeClr>
                        </a:solidFill>
                        <a:latin typeface="Trebuchet MS" panose="020B0603020202020204" pitchFamily="34" charset="0"/>
                        <a:ea typeface="+mn-ea"/>
                        <a:cs typeface="+mn-cs"/>
                      </a:endParaRPr>
                    </a:p>
                  </a:txBody>
                  <a:tcPr/>
                </a:tc>
                <a:tc>
                  <a:txBody>
                    <a:bodyPr/>
                    <a:lstStyle/>
                    <a:p>
                      <a:r>
                        <a:rPr lang="en-US" sz="2400" kern="1200" dirty="0">
                          <a:solidFill>
                            <a:schemeClr val="bg1">
                              <a:lumMod val="50000"/>
                            </a:schemeClr>
                          </a:solidFill>
                          <a:latin typeface="Trebuchet MS" panose="020B0603020202020204" pitchFamily="34" charset="0"/>
                          <a:ea typeface="+mn-ea"/>
                          <a:cs typeface="+mn-cs"/>
                        </a:rPr>
                        <a:t>Returns String</a:t>
                      </a:r>
                      <a:endParaRPr lang="en-IN" sz="2400" kern="1200" dirty="0">
                        <a:solidFill>
                          <a:schemeClr val="bg1">
                            <a:lumMod val="50000"/>
                          </a:schemeClr>
                        </a:solidFill>
                        <a:latin typeface="Trebuchet MS" panose="020B0603020202020204" pitchFamily="34" charset="0"/>
                        <a:ea typeface="+mn-ea"/>
                        <a:cs typeface="+mn-cs"/>
                      </a:endParaRPr>
                    </a:p>
                  </a:txBody>
                  <a:tcPr/>
                </a:tc>
                <a:extLst>
                  <a:ext uri="{0D108BD9-81ED-4DB2-BD59-A6C34878D82A}">
                    <a16:rowId xmlns:a16="http://schemas.microsoft.com/office/drawing/2014/main" val="3837160774"/>
                  </a:ext>
                </a:extLst>
              </a:tr>
            </a:tbl>
          </a:graphicData>
        </a:graphic>
      </p:graphicFrame>
    </p:spTree>
    <p:extLst>
      <p:ext uri="{BB962C8B-B14F-4D97-AF65-F5344CB8AC3E}">
        <p14:creationId xmlns:p14="http://schemas.microsoft.com/office/powerpoint/2010/main" val="4160704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1C58-A90B-4FDF-9023-E9A68D343EB6}"/>
              </a:ext>
            </a:extLst>
          </p:cNvPr>
          <p:cNvSpPr>
            <a:spLocks noGrp="1"/>
          </p:cNvSpPr>
          <p:nvPr>
            <p:ph type="title"/>
          </p:nvPr>
        </p:nvSpPr>
        <p:spPr/>
        <p:txBody>
          <a:bodyPr/>
          <a:lstStyle/>
          <a:p>
            <a:r>
              <a:rPr lang="en-US" dirty="0"/>
              <a:t>Ternary  Operator</a:t>
            </a:r>
            <a:endParaRPr lang="en-IN" dirty="0"/>
          </a:p>
        </p:txBody>
      </p:sp>
      <p:sp>
        <p:nvSpPr>
          <p:cNvPr id="3" name="Content Placeholder 2">
            <a:extLst>
              <a:ext uri="{FF2B5EF4-FFF2-40B4-BE49-F238E27FC236}">
                <a16:creationId xmlns:a16="http://schemas.microsoft.com/office/drawing/2014/main" id="{5C05B902-7943-4944-B2B1-124D295F96E2}"/>
              </a:ext>
            </a:extLst>
          </p:cNvPr>
          <p:cNvSpPr>
            <a:spLocks noGrp="1"/>
          </p:cNvSpPr>
          <p:nvPr>
            <p:ph idx="1"/>
          </p:nvPr>
        </p:nvSpPr>
        <p:spPr/>
        <p:txBody>
          <a:bodyPr/>
          <a:lstStyle/>
          <a:p>
            <a:r>
              <a:rPr lang="en-US" dirty="0"/>
              <a:t>It evaluates the given Boolean value;</a:t>
            </a:r>
          </a:p>
          <a:p>
            <a:r>
              <a:rPr lang="en-US" dirty="0"/>
              <a:t>Returns first expression (consequent) if true;</a:t>
            </a:r>
          </a:p>
          <a:p>
            <a:r>
              <a:rPr lang="en-US" dirty="0"/>
              <a:t>Returns second expression(alternative) if false.</a:t>
            </a:r>
          </a:p>
          <a:p>
            <a:endParaRPr lang="en-US" dirty="0"/>
          </a:p>
          <a:p>
            <a:pPr marL="0" indent="0">
              <a:buNone/>
            </a:pPr>
            <a:r>
              <a:rPr lang="en-US" dirty="0"/>
              <a:t>  ?:            (condition)? (consequent): (alternative) </a:t>
            </a:r>
            <a:endParaRPr lang="en-IN" dirty="0"/>
          </a:p>
        </p:txBody>
      </p:sp>
    </p:spTree>
    <p:extLst>
      <p:ext uri="{BB962C8B-B14F-4D97-AF65-F5344CB8AC3E}">
        <p14:creationId xmlns:p14="http://schemas.microsoft.com/office/powerpoint/2010/main" val="1681170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1C58-A90B-4FDF-9023-E9A68D343EB6}"/>
              </a:ext>
            </a:extLst>
          </p:cNvPr>
          <p:cNvSpPr>
            <a:spLocks noGrp="1"/>
          </p:cNvSpPr>
          <p:nvPr>
            <p:ph type="title"/>
          </p:nvPr>
        </p:nvSpPr>
        <p:spPr/>
        <p:txBody>
          <a:bodyPr/>
          <a:lstStyle/>
          <a:p>
            <a:r>
              <a:rPr lang="en-US" dirty="0"/>
              <a:t>Operator Precedence		 </a:t>
            </a:r>
            <a:endParaRPr lang="en-IN" dirty="0"/>
          </a:p>
        </p:txBody>
      </p:sp>
      <p:sp>
        <p:nvSpPr>
          <p:cNvPr id="7" name="Content Placeholder 6">
            <a:extLst>
              <a:ext uri="{FF2B5EF4-FFF2-40B4-BE49-F238E27FC236}">
                <a16:creationId xmlns:a16="http://schemas.microsoft.com/office/drawing/2014/main" id="{0726E7D5-6C76-42F3-A791-805CDFF76F08}"/>
              </a:ext>
            </a:extLst>
          </p:cNvPr>
          <p:cNvSpPr>
            <a:spLocks noGrp="1"/>
          </p:cNvSpPr>
          <p:nvPr>
            <p:ph idx="1"/>
          </p:nvPr>
        </p:nvSpPr>
        <p:spPr>
          <a:xfrm>
            <a:off x="726724" y="1253331"/>
            <a:ext cx="10595700" cy="1436081"/>
          </a:xfrm>
        </p:spPr>
        <p:txBody>
          <a:bodyPr/>
          <a:lstStyle/>
          <a:p>
            <a:r>
              <a:rPr lang="en-US" dirty="0"/>
              <a:t>Operators are evaluated based on the order of precedence.</a:t>
            </a:r>
          </a:p>
          <a:p>
            <a:r>
              <a:rPr lang="en-US" dirty="0"/>
              <a:t>Highest precedence appear at the top of the table.</a:t>
            </a:r>
          </a:p>
          <a:p>
            <a:endParaRPr lang="en-IN" dirty="0"/>
          </a:p>
        </p:txBody>
      </p:sp>
      <p:graphicFrame>
        <p:nvGraphicFramePr>
          <p:cNvPr id="8" name="Content Placeholder 5">
            <a:extLst>
              <a:ext uri="{FF2B5EF4-FFF2-40B4-BE49-F238E27FC236}">
                <a16:creationId xmlns:a16="http://schemas.microsoft.com/office/drawing/2014/main" id="{C76A0B2E-8E8A-474F-9C3F-9F212358686B}"/>
              </a:ext>
            </a:extLst>
          </p:cNvPr>
          <p:cNvGraphicFramePr>
            <a:graphicFrameLocks/>
          </p:cNvGraphicFramePr>
          <p:nvPr>
            <p:extLst>
              <p:ext uri="{D42A27DB-BD31-4B8C-83A1-F6EECF244321}">
                <p14:modId xmlns:p14="http://schemas.microsoft.com/office/powerpoint/2010/main" val="2969742925"/>
              </p:ext>
            </p:extLst>
          </p:nvPr>
        </p:nvGraphicFramePr>
        <p:xfrm>
          <a:off x="726724" y="2176272"/>
          <a:ext cx="6101303" cy="4681728"/>
        </p:xfrm>
        <a:graphic>
          <a:graphicData uri="http://schemas.openxmlformats.org/drawingml/2006/table">
            <a:tbl>
              <a:tblPr firstRow="1" bandRow="1">
                <a:tableStyleId>{5C22544A-7EE6-4342-B048-85BDC9FD1C3A}</a:tableStyleId>
              </a:tblPr>
              <a:tblGrid>
                <a:gridCol w="2377163">
                  <a:extLst>
                    <a:ext uri="{9D8B030D-6E8A-4147-A177-3AD203B41FA5}">
                      <a16:colId xmlns:a16="http://schemas.microsoft.com/office/drawing/2014/main" val="2029991667"/>
                    </a:ext>
                  </a:extLst>
                </a:gridCol>
                <a:gridCol w="3724140">
                  <a:extLst>
                    <a:ext uri="{9D8B030D-6E8A-4147-A177-3AD203B41FA5}">
                      <a16:colId xmlns:a16="http://schemas.microsoft.com/office/drawing/2014/main" val="2997483933"/>
                    </a:ext>
                  </a:extLst>
                </a:gridCol>
              </a:tblGrid>
              <a:tr h="431996">
                <a:tc>
                  <a:txBody>
                    <a:bodyPr/>
                    <a:lstStyle/>
                    <a:p>
                      <a:pPr algn="ctr" defTabSz="914400" rtl="0" eaLnBrk="1" latinLnBrk="0" hangingPunct="1">
                        <a:lnSpc>
                          <a:spcPct val="90000"/>
                        </a:lnSpc>
                        <a:spcBef>
                          <a:spcPct val="0"/>
                        </a:spcBef>
                        <a:buNone/>
                      </a:pPr>
                      <a:r>
                        <a:rPr lang="en-US" sz="2800" kern="1200" dirty="0">
                          <a:solidFill>
                            <a:schemeClr val="bg1"/>
                          </a:solidFill>
                          <a:latin typeface="Trebuchet MS" panose="020B0603020202020204" pitchFamily="34" charset="0"/>
                          <a:ea typeface="+mj-ea"/>
                          <a:cs typeface="+mj-cs"/>
                        </a:rPr>
                        <a:t>Category</a:t>
                      </a:r>
                      <a:endParaRPr lang="en-IN" sz="2800" kern="1200" dirty="0">
                        <a:solidFill>
                          <a:schemeClr val="bg1"/>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800" kern="1200" dirty="0">
                          <a:solidFill>
                            <a:schemeClr val="bg1"/>
                          </a:solidFill>
                          <a:latin typeface="Trebuchet MS" panose="020B0603020202020204" pitchFamily="34" charset="0"/>
                          <a:ea typeface="+mj-ea"/>
                          <a:cs typeface="+mj-cs"/>
                        </a:rPr>
                        <a:t> Operator</a:t>
                      </a:r>
                      <a:endParaRPr lang="en-IN" sz="2800" kern="1200" dirty="0">
                        <a:solidFill>
                          <a:schemeClr val="bg1"/>
                        </a:solidFill>
                        <a:latin typeface="Trebuchet MS" panose="020B0603020202020204" pitchFamily="34" charset="0"/>
                        <a:ea typeface="+mj-ea"/>
                        <a:cs typeface="+mj-cs"/>
                      </a:endParaRPr>
                    </a:p>
                  </a:txBody>
                  <a:tcPr/>
                </a:tc>
                <a:extLst>
                  <a:ext uri="{0D108BD9-81ED-4DB2-BD59-A6C34878D82A}">
                    <a16:rowId xmlns:a16="http://schemas.microsoft.com/office/drawing/2014/main" val="2113353483"/>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Postfix</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 [] ++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1869920605"/>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Unary</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 -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3708750262"/>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Multiplicative</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 /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1025524999"/>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Additive</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3091715608"/>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Relational</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&lt; &lt;=  &gt;  &gt;=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3423876008"/>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Equality</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1117183190"/>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Logical AND</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&amp;&amp;</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3225997040"/>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Logical OR</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681484081"/>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Conditional</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4235227276"/>
                  </a:ext>
                </a:extLst>
              </a:tr>
              <a:tr h="382150">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Assignment</a:t>
                      </a:r>
                      <a:endParaRPr lang="en-IN" sz="2400" kern="1200" dirty="0">
                        <a:solidFill>
                          <a:schemeClr val="bg1">
                            <a:lumMod val="50000"/>
                          </a:schemeClr>
                        </a:solidFill>
                        <a:latin typeface="Trebuchet MS" panose="020B0603020202020204" pitchFamily="34" charset="0"/>
                        <a:ea typeface="+mj-ea"/>
                        <a:cs typeface="+mj-cs"/>
                      </a:endParaRPr>
                    </a:p>
                  </a:txBody>
                  <a:tcPr/>
                </a:tc>
                <a:tc>
                  <a:txBody>
                    <a:bodyPr/>
                    <a:lstStyle/>
                    <a:p>
                      <a:pPr algn="l" defTabSz="914400" rtl="0" eaLnBrk="1" latinLnBrk="0" hangingPunct="1">
                        <a:lnSpc>
                          <a:spcPct val="90000"/>
                        </a:lnSpc>
                        <a:spcBef>
                          <a:spcPct val="0"/>
                        </a:spcBef>
                        <a:buNone/>
                      </a:pPr>
                      <a:r>
                        <a:rPr lang="en-US" sz="2400" kern="1200" dirty="0">
                          <a:solidFill>
                            <a:schemeClr val="bg1">
                              <a:lumMod val="50000"/>
                            </a:schemeClr>
                          </a:solidFill>
                          <a:latin typeface="Trebuchet MS" panose="020B0603020202020204" pitchFamily="34" charset="0"/>
                          <a:ea typeface="+mj-ea"/>
                          <a:cs typeface="+mj-cs"/>
                        </a:rPr>
                        <a:t>= += -= *= /= %=</a:t>
                      </a:r>
                      <a:endParaRPr lang="en-IN" sz="2400" kern="1200" dirty="0">
                        <a:solidFill>
                          <a:schemeClr val="bg1">
                            <a:lumMod val="50000"/>
                          </a:schemeClr>
                        </a:solidFill>
                        <a:latin typeface="Trebuchet MS" panose="020B0603020202020204" pitchFamily="34" charset="0"/>
                        <a:ea typeface="+mj-ea"/>
                        <a:cs typeface="+mj-cs"/>
                      </a:endParaRPr>
                    </a:p>
                  </a:txBody>
                  <a:tcPr/>
                </a:tc>
                <a:extLst>
                  <a:ext uri="{0D108BD9-81ED-4DB2-BD59-A6C34878D82A}">
                    <a16:rowId xmlns:a16="http://schemas.microsoft.com/office/drawing/2014/main" val="4028939871"/>
                  </a:ext>
                </a:extLst>
              </a:tr>
            </a:tbl>
          </a:graphicData>
        </a:graphic>
      </p:graphicFrame>
    </p:spTree>
    <p:extLst>
      <p:ext uri="{BB962C8B-B14F-4D97-AF65-F5344CB8AC3E}">
        <p14:creationId xmlns:p14="http://schemas.microsoft.com/office/powerpoint/2010/main" val="2755240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972F6-81D9-4C38-A982-3795D95D8DBF}"/>
              </a:ext>
            </a:extLst>
          </p:cNvPr>
          <p:cNvSpPr>
            <a:spLocks noGrp="1"/>
          </p:cNvSpPr>
          <p:nvPr>
            <p:ph type="title"/>
          </p:nvPr>
        </p:nvSpPr>
        <p:spPr/>
        <p:txBody>
          <a:bodyPr/>
          <a:lstStyle/>
          <a:p>
            <a:r>
              <a:rPr lang="en-US" dirty="0"/>
              <a:t>Control Statements</a:t>
            </a:r>
            <a:endParaRPr lang="en-IN" dirty="0"/>
          </a:p>
        </p:txBody>
      </p:sp>
      <p:sp>
        <p:nvSpPr>
          <p:cNvPr id="3" name="Content Placeholder 2">
            <a:extLst>
              <a:ext uri="{FF2B5EF4-FFF2-40B4-BE49-F238E27FC236}">
                <a16:creationId xmlns:a16="http://schemas.microsoft.com/office/drawing/2014/main" id="{3337C076-9079-48E9-BF66-0D26E42B0FFB}"/>
              </a:ext>
            </a:extLst>
          </p:cNvPr>
          <p:cNvSpPr>
            <a:spLocks noGrp="1"/>
          </p:cNvSpPr>
          <p:nvPr>
            <p:ph idx="1"/>
          </p:nvPr>
        </p:nvSpPr>
        <p:spPr/>
        <p:txBody>
          <a:bodyPr/>
          <a:lstStyle/>
          <a:p>
            <a:r>
              <a:rPr lang="en-US" dirty="0"/>
              <a:t>Control statements are used to control the program execution flow.</a:t>
            </a:r>
          </a:p>
          <a:p>
            <a:r>
              <a:rPr lang="en-US" dirty="0"/>
              <a:t>Used to make execution flow “jump forward” or “jump backward”.</a:t>
            </a:r>
          </a:p>
        </p:txBody>
      </p:sp>
    </p:spTree>
    <p:extLst>
      <p:ext uri="{BB962C8B-B14F-4D97-AF65-F5344CB8AC3E}">
        <p14:creationId xmlns:p14="http://schemas.microsoft.com/office/powerpoint/2010/main" val="1380270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AC2C5-0349-4CA7-9D82-DB472AB46464}"/>
              </a:ext>
            </a:extLst>
          </p:cNvPr>
          <p:cNvSpPr>
            <a:spLocks noGrp="1"/>
          </p:cNvSpPr>
          <p:nvPr>
            <p:ph type="title"/>
          </p:nvPr>
        </p:nvSpPr>
        <p:spPr/>
        <p:txBody>
          <a:bodyPr/>
          <a:lstStyle/>
          <a:p>
            <a:r>
              <a:rPr lang="en-US" dirty="0"/>
              <a:t>Control Statements</a:t>
            </a:r>
            <a:endParaRPr lang="en-IN" dirty="0"/>
          </a:p>
        </p:txBody>
      </p:sp>
      <p:sp>
        <p:nvSpPr>
          <p:cNvPr id="3" name="Content Placeholder 2">
            <a:extLst>
              <a:ext uri="{FF2B5EF4-FFF2-40B4-BE49-F238E27FC236}">
                <a16:creationId xmlns:a16="http://schemas.microsoft.com/office/drawing/2014/main" id="{42022490-3590-4A0D-A591-CE2CA66CC101}"/>
              </a:ext>
            </a:extLst>
          </p:cNvPr>
          <p:cNvSpPr>
            <a:spLocks noGrp="1"/>
          </p:cNvSpPr>
          <p:nvPr>
            <p:ph idx="1"/>
          </p:nvPr>
        </p:nvSpPr>
        <p:spPr/>
        <p:txBody>
          <a:bodyPr>
            <a:normAutofit/>
          </a:bodyPr>
          <a:lstStyle/>
          <a:p>
            <a:r>
              <a:rPr lang="en-US" dirty="0"/>
              <a:t>Classification of Control Statements:</a:t>
            </a:r>
          </a:p>
          <a:p>
            <a:pPr>
              <a:buFont typeface="Wingdings" panose="05000000000000000000" pitchFamily="2" charset="2"/>
              <a:buChar char="Ø"/>
            </a:pPr>
            <a:r>
              <a:rPr lang="en-US" dirty="0"/>
              <a:t>Conditional Control Statements:</a:t>
            </a:r>
          </a:p>
          <a:p>
            <a:pPr lvl="1"/>
            <a:r>
              <a:rPr lang="en-US" dirty="0"/>
              <a:t>If</a:t>
            </a:r>
          </a:p>
          <a:p>
            <a:pPr lvl="1"/>
            <a:r>
              <a:rPr lang="en-US" dirty="0"/>
              <a:t>Switch-case</a:t>
            </a:r>
          </a:p>
          <a:p>
            <a:pPr>
              <a:buFont typeface="Wingdings" panose="05000000000000000000" pitchFamily="2" charset="2"/>
              <a:buChar char="Ø"/>
            </a:pPr>
            <a:r>
              <a:rPr lang="en-US" dirty="0"/>
              <a:t>Looping Control Statements:</a:t>
            </a:r>
          </a:p>
          <a:p>
            <a:pPr lvl="1"/>
            <a:r>
              <a:rPr lang="en-US" dirty="0"/>
              <a:t>While</a:t>
            </a:r>
          </a:p>
          <a:p>
            <a:pPr lvl="1"/>
            <a:r>
              <a:rPr lang="en-US" dirty="0"/>
              <a:t>Do-while</a:t>
            </a:r>
          </a:p>
          <a:p>
            <a:pPr lvl="1"/>
            <a:r>
              <a:rPr lang="en-US" dirty="0"/>
              <a:t>For</a:t>
            </a:r>
          </a:p>
          <a:p>
            <a:pPr>
              <a:buFont typeface="Wingdings" panose="05000000000000000000" pitchFamily="2" charset="2"/>
              <a:buChar char="Ø"/>
            </a:pPr>
            <a:r>
              <a:rPr lang="en-US" dirty="0"/>
              <a:t>Jumping Control Statements:</a:t>
            </a:r>
          </a:p>
          <a:p>
            <a:pPr lvl="1"/>
            <a:r>
              <a:rPr lang="en-US" dirty="0"/>
              <a:t>Break</a:t>
            </a:r>
          </a:p>
          <a:p>
            <a:pPr lvl="1"/>
            <a:r>
              <a:rPr lang="en-US" dirty="0"/>
              <a:t>Continue</a:t>
            </a:r>
          </a:p>
          <a:p>
            <a:endParaRPr lang="en-IN" dirty="0"/>
          </a:p>
        </p:txBody>
      </p:sp>
    </p:spTree>
    <p:extLst>
      <p:ext uri="{BB962C8B-B14F-4D97-AF65-F5344CB8AC3E}">
        <p14:creationId xmlns:p14="http://schemas.microsoft.com/office/powerpoint/2010/main" val="931910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D29BA-33A8-49C6-AAF3-198A1A81A00C}"/>
              </a:ext>
            </a:extLst>
          </p:cNvPr>
          <p:cNvSpPr>
            <a:spLocks noGrp="1"/>
          </p:cNvSpPr>
          <p:nvPr>
            <p:ph type="title"/>
          </p:nvPr>
        </p:nvSpPr>
        <p:spPr/>
        <p:txBody>
          <a:bodyPr/>
          <a:lstStyle/>
          <a:p>
            <a:r>
              <a:rPr lang="en-US" dirty="0"/>
              <a:t>If Statement</a:t>
            </a:r>
            <a:endParaRPr lang="en-IN" dirty="0"/>
          </a:p>
        </p:txBody>
      </p:sp>
      <p:pic>
        <p:nvPicPr>
          <p:cNvPr id="2050" name="Picture 2" descr="if statement in C Programming - Programtopia">
            <a:extLst>
              <a:ext uri="{FF2B5EF4-FFF2-40B4-BE49-F238E27FC236}">
                <a16:creationId xmlns:a16="http://schemas.microsoft.com/office/drawing/2014/main" id="{43A64093-CC60-4FA4-95F6-4FC8ABE441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1881" y="1526988"/>
            <a:ext cx="5571772" cy="457797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3D39220-FBA7-457C-9B77-4AF27C510F33}"/>
              </a:ext>
            </a:extLst>
          </p:cNvPr>
          <p:cNvSpPr/>
          <p:nvPr/>
        </p:nvSpPr>
        <p:spPr>
          <a:xfrm>
            <a:off x="1573306" y="5150224"/>
            <a:ext cx="5540188" cy="9412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76715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8B57-4351-44BB-87B2-E51B45511BA3}"/>
              </a:ext>
            </a:extLst>
          </p:cNvPr>
          <p:cNvSpPr>
            <a:spLocks noGrp="1"/>
          </p:cNvSpPr>
          <p:nvPr>
            <p:ph type="title"/>
          </p:nvPr>
        </p:nvSpPr>
        <p:spPr/>
        <p:txBody>
          <a:bodyPr/>
          <a:lstStyle/>
          <a:p>
            <a:r>
              <a:rPr lang="en-US" dirty="0"/>
              <a:t>If–else Statement</a:t>
            </a:r>
            <a:endParaRPr lang="en-IN" dirty="0"/>
          </a:p>
        </p:txBody>
      </p:sp>
      <p:sp>
        <p:nvSpPr>
          <p:cNvPr id="4" name="Rectangle 3">
            <a:extLst>
              <a:ext uri="{FF2B5EF4-FFF2-40B4-BE49-F238E27FC236}">
                <a16:creationId xmlns:a16="http://schemas.microsoft.com/office/drawing/2014/main" id="{D717E103-DC2E-4A27-B075-DB43FA81E45A}"/>
              </a:ext>
            </a:extLst>
          </p:cNvPr>
          <p:cNvSpPr/>
          <p:nvPr/>
        </p:nvSpPr>
        <p:spPr>
          <a:xfrm>
            <a:off x="6096000" y="5275216"/>
            <a:ext cx="1902468" cy="658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38" name="Picture 14" descr="C - If..else, Nested If..else and else..if Statement with example">
            <a:extLst>
              <a:ext uri="{FF2B5EF4-FFF2-40B4-BE49-F238E27FC236}">
                <a16:creationId xmlns:a16="http://schemas.microsoft.com/office/drawing/2014/main" id="{55E68CFC-491C-49CB-A3CB-EF0F67E1E7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1070" y="1270490"/>
            <a:ext cx="5178706" cy="517870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37656D86-6912-42F7-B3AE-D65F7A720947}"/>
              </a:ext>
            </a:extLst>
          </p:cNvPr>
          <p:cNvSpPr/>
          <p:nvPr/>
        </p:nvSpPr>
        <p:spPr>
          <a:xfrm>
            <a:off x="3455894" y="4464423"/>
            <a:ext cx="1748118" cy="376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32FAFF07-11CD-434E-A1B4-5332A8E68C7B}"/>
              </a:ext>
            </a:extLst>
          </p:cNvPr>
          <p:cNvSpPr/>
          <p:nvPr/>
        </p:nvSpPr>
        <p:spPr>
          <a:xfrm>
            <a:off x="5299116" y="4450976"/>
            <a:ext cx="1748118" cy="376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3706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1227A-63E1-42D5-A0D7-C84B865EB24E}"/>
              </a:ext>
            </a:extLst>
          </p:cNvPr>
          <p:cNvSpPr>
            <a:spLocks noGrp="1"/>
          </p:cNvSpPr>
          <p:nvPr>
            <p:ph type="title"/>
          </p:nvPr>
        </p:nvSpPr>
        <p:spPr/>
        <p:txBody>
          <a:bodyPr/>
          <a:lstStyle/>
          <a:p>
            <a:r>
              <a:rPr lang="en-US" dirty="0"/>
              <a:t>If-else if statement</a:t>
            </a:r>
            <a:endParaRPr lang="en-IN" dirty="0"/>
          </a:p>
        </p:txBody>
      </p:sp>
      <p:pic>
        <p:nvPicPr>
          <p:cNvPr id="3074" name="Picture 2" descr="Chapter 4: The if/else (if) statement and Nested statements">
            <a:extLst>
              <a:ext uri="{FF2B5EF4-FFF2-40B4-BE49-F238E27FC236}">
                <a16:creationId xmlns:a16="http://schemas.microsoft.com/office/drawing/2014/main" id="{82A26605-7148-4772-B5A4-8FED7119A0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2076" y="1237944"/>
            <a:ext cx="4095042" cy="5556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610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A014-DE00-4ED5-87B2-4642EA99387D}"/>
              </a:ext>
            </a:extLst>
          </p:cNvPr>
          <p:cNvSpPr>
            <a:spLocks noGrp="1"/>
          </p:cNvSpPr>
          <p:nvPr>
            <p:ph type="title"/>
          </p:nvPr>
        </p:nvSpPr>
        <p:spPr/>
        <p:txBody>
          <a:bodyPr/>
          <a:lstStyle/>
          <a:p>
            <a:r>
              <a:rPr lang="en-US" dirty="0"/>
              <a:t>While Loop</a:t>
            </a:r>
            <a:endParaRPr lang="en-IN" dirty="0"/>
          </a:p>
        </p:txBody>
      </p:sp>
      <p:pic>
        <p:nvPicPr>
          <p:cNvPr id="4098" name="Picture 2" descr="C - while loop in C programming with example">
            <a:extLst>
              <a:ext uri="{FF2B5EF4-FFF2-40B4-BE49-F238E27FC236}">
                <a16:creationId xmlns:a16="http://schemas.microsoft.com/office/drawing/2014/main" id="{3C509949-C9B1-4ACA-80EF-902C132A3F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4518" y="1686579"/>
            <a:ext cx="4748400" cy="4748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130AC08-66B5-47A7-9978-209872E87CFA}"/>
              </a:ext>
            </a:extLst>
          </p:cNvPr>
          <p:cNvSpPr/>
          <p:nvPr/>
        </p:nvSpPr>
        <p:spPr>
          <a:xfrm>
            <a:off x="1627094" y="2877670"/>
            <a:ext cx="1748118" cy="376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1745DBF8-4342-41C9-AE10-D0F2C5A243DF}"/>
              </a:ext>
            </a:extLst>
          </p:cNvPr>
          <p:cNvSpPr/>
          <p:nvPr/>
        </p:nvSpPr>
        <p:spPr>
          <a:xfrm>
            <a:off x="3448377" y="2877670"/>
            <a:ext cx="1748118" cy="376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09030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C59E3-34E5-471E-9B54-6F6EA372168A}"/>
              </a:ext>
            </a:extLst>
          </p:cNvPr>
          <p:cNvSpPr>
            <a:spLocks noGrp="1"/>
          </p:cNvSpPr>
          <p:nvPr>
            <p:ph type="title"/>
          </p:nvPr>
        </p:nvSpPr>
        <p:spPr/>
        <p:txBody>
          <a:bodyPr/>
          <a:lstStyle/>
          <a:p>
            <a:r>
              <a:rPr lang="en-US" dirty="0"/>
              <a:t>Do-While Loop</a:t>
            </a:r>
            <a:endParaRPr lang="en-IN" dirty="0"/>
          </a:p>
        </p:txBody>
      </p:sp>
      <p:pic>
        <p:nvPicPr>
          <p:cNvPr id="5122" name="Picture 2" descr="C - do while loop in C programming with example">
            <a:extLst>
              <a:ext uri="{FF2B5EF4-FFF2-40B4-BE49-F238E27FC236}">
                <a16:creationId xmlns:a16="http://schemas.microsoft.com/office/drawing/2014/main" id="{12069131-6668-496E-A3F8-537737E4E85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66600" y="1215932"/>
            <a:ext cx="4923212" cy="492321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4143893-00C8-408A-A78E-D7AC98019F76}"/>
              </a:ext>
            </a:extLst>
          </p:cNvPr>
          <p:cNvSpPr/>
          <p:nvPr/>
        </p:nvSpPr>
        <p:spPr>
          <a:xfrm>
            <a:off x="1452282" y="2595281"/>
            <a:ext cx="1748118" cy="376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0E24C52-DD1F-4DB6-BFAA-D450614E530D}"/>
              </a:ext>
            </a:extLst>
          </p:cNvPr>
          <p:cNvSpPr/>
          <p:nvPr/>
        </p:nvSpPr>
        <p:spPr>
          <a:xfrm>
            <a:off x="3282875" y="2622174"/>
            <a:ext cx="1302571" cy="376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6670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1634F-4AFD-4103-8BF9-AACCDD78FD8A}"/>
              </a:ext>
            </a:extLst>
          </p:cNvPr>
          <p:cNvSpPr>
            <a:spLocks noGrp="1"/>
          </p:cNvSpPr>
          <p:nvPr>
            <p:ph type="title"/>
          </p:nvPr>
        </p:nvSpPr>
        <p:spPr>
          <a:xfrm>
            <a:off x="353565" y="278160"/>
            <a:ext cx="9438716" cy="797605"/>
          </a:xfrm>
        </p:spPr>
        <p:txBody>
          <a:bodyPr/>
          <a:lstStyle/>
          <a:p>
            <a:r>
              <a:rPr lang="en-US" dirty="0"/>
              <a:t>For Loop</a:t>
            </a:r>
            <a:endParaRPr lang="en-IN" dirty="0"/>
          </a:p>
        </p:txBody>
      </p:sp>
      <p:pic>
        <p:nvPicPr>
          <p:cNvPr id="6148" name="Picture 4" descr="C# for loop - Programiz">
            <a:extLst>
              <a:ext uri="{FF2B5EF4-FFF2-40B4-BE49-F238E27FC236}">
                <a16:creationId xmlns:a16="http://schemas.microsoft.com/office/drawing/2014/main" id="{603424BE-148E-4230-826D-1FE69AAFC6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4779" y="1250575"/>
            <a:ext cx="4973668" cy="544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395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536-5109-40CD-8A39-8B4E354C83B4}"/>
              </a:ext>
            </a:extLst>
          </p:cNvPr>
          <p:cNvSpPr>
            <a:spLocks noGrp="1"/>
          </p:cNvSpPr>
          <p:nvPr>
            <p:ph type="title"/>
          </p:nvPr>
        </p:nvSpPr>
        <p:spPr/>
        <p:txBody>
          <a:bodyPr/>
          <a:lstStyle/>
          <a:p>
            <a:r>
              <a:rPr lang="en-GB" dirty="0"/>
              <a:t>Boxing and Unboxing</a:t>
            </a:r>
            <a:endParaRPr lang="en-IN" dirty="0"/>
          </a:p>
        </p:txBody>
      </p:sp>
      <p:sp>
        <p:nvSpPr>
          <p:cNvPr id="3" name="Content Placeholder 2">
            <a:extLst>
              <a:ext uri="{FF2B5EF4-FFF2-40B4-BE49-F238E27FC236}">
                <a16:creationId xmlns:a16="http://schemas.microsoft.com/office/drawing/2014/main" id="{3728A349-1651-4245-8299-3DD484FA4397}"/>
              </a:ext>
            </a:extLst>
          </p:cNvPr>
          <p:cNvSpPr>
            <a:spLocks noGrp="1"/>
          </p:cNvSpPr>
          <p:nvPr>
            <p:ph idx="1"/>
          </p:nvPr>
        </p:nvSpPr>
        <p:spPr>
          <a:xfrm>
            <a:off x="726725" y="1279835"/>
            <a:ext cx="10999110" cy="4999941"/>
          </a:xfrm>
        </p:spPr>
        <p:txBody>
          <a:bodyPr>
            <a:normAutofit/>
          </a:bodyPr>
          <a:lstStyle/>
          <a:p>
            <a:r>
              <a:rPr lang="en-US" dirty="0"/>
              <a:t>Boxing and unboxing enable value types to be treated as objects.</a:t>
            </a:r>
          </a:p>
          <a:p>
            <a:r>
              <a:rPr lang="en-US" dirty="0"/>
              <a:t> Value types, including both struct types and built-in types, such as int, can be converted to and from the type object.</a:t>
            </a:r>
          </a:p>
          <a:p>
            <a:r>
              <a:rPr lang="en-US" dirty="0"/>
              <a:t>Boxing is implicit conversion</a:t>
            </a:r>
          </a:p>
          <a:p>
            <a:r>
              <a:rPr lang="en-IN" dirty="0"/>
              <a:t>Boxing Example:</a:t>
            </a:r>
          </a:p>
          <a:p>
            <a:pPr lvl="1"/>
            <a:r>
              <a:rPr lang="en-US" dirty="0"/>
              <a:t>int number = 2000;</a:t>
            </a:r>
          </a:p>
          <a:p>
            <a:pPr lvl="1"/>
            <a:r>
              <a:rPr lang="en-US" dirty="0"/>
              <a:t>object obj = number;</a:t>
            </a:r>
          </a:p>
          <a:p>
            <a:r>
              <a:rPr lang="en-US" dirty="0"/>
              <a:t>Now both the integer variable and the object variable exist on the stack, but the value of the object resides on the heap.</a:t>
            </a:r>
          </a:p>
          <a:p>
            <a:r>
              <a:rPr lang="en-US" dirty="0"/>
              <a:t>Unboxing Conversions</a:t>
            </a:r>
          </a:p>
          <a:p>
            <a:pPr lvl="1"/>
            <a:r>
              <a:rPr lang="en-US" dirty="0"/>
              <a:t>int </a:t>
            </a:r>
            <a:r>
              <a:rPr lang="en-US" dirty="0" err="1"/>
              <a:t>anothernumber</a:t>
            </a:r>
            <a:r>
              <a:rPr lang="en-US" dirty="0"/>
              <a:t> = (int)obj;</a:t>
            </a:r>
          </a:p>
          <a:p>
            <a:endParaRPr lang="en-IN" dirty="0"/>
          </a:p>
        </p:txBody>
      </p:sp>
    </p:spTree>
    <p:extLst>
      <p:ext uri="{BB962C8B-B14F-4D97-AF65-F5344CB8AC3E}">
        <p14:creationId xmlns:p14="http://schemas.microsoft.com/office/powerpoint/2010/main" val="35874128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7D07D-7EB3-47DC-85B7-32A072FEB7F0}"/>
              </a:ext>
            </a:extLst>
          </p:cNvPr>
          <p:cNvSpPr>
            <a:spLocks noGrp="1"/>
          </p:cNvSpPr>
          <p:nvPr>
            <p:ph type="title"/>
          </p:nvPr>
        </p:nvSpPr>
        <p:spPr/>
        <p:txBody>
          <a:bodyPr/>
          <a:lstStyle/>
          <a:p>
            <a:r>
              <a:rPr lang="en-US" dirty="0"/>
              <a:t>Arrays</a:t>
            </a:r>
            <a:endParaRPr lang="en-IN" dirty="0"/>
          </a:p>
        </p:txBody>
      </p:sp>
      <p:sp>
        <p:nvSpPr>
          <p:cNvPr id="3" name="Content Placeholder 2">
            <a:extLst>
              <a:ext uri="{FF2B5EF4-FFF2-40B4-BE49-F238E27FC236}">
                <a16:creationId xmlns:a16="http://schemas.microsoft.com/office/drawing/2014/main" id="{B9BF212A-7B53-422D-9870-CE5F05C0EC13}"/>
              </a:ext>
            </a:extLst>
          </p:cNvPr>
          <p:cNvSpPr>
            <a:spLocks noGrp="1"/>
          </p:cNvSpPr>
          <p:nvPr>
            <p:ph idx="1"/>
          </p:nvPr>
        </p:nvSpPr>
        <p:spPr>
          <a:xfrm>
            <a:off x="726724" y="1279835"/>
            <a:ext cx="11187370" cy="4905812"/>
          </a:xfrm>
        </p:spPr>
        <p:txBody>
          <a:bodyPr>
            <a:normAutofit/>
          </a:bodyPr>
          <a:lstStyle/>
          <a:p>
            <a:r>
              <a:rPr lang="en-IN" dirty="0"/>
              <a:t>An array is a data structure that contains a number of variables called the elements of the array</a:t>
            </a:r>
          </a:p>
          <a:p>
            <a:r>
              <a:rPr lang="en-IN" dirty="0"/>
              <a:t>C# arrays are zero indexed; that is, the array indexes start at zero. </a:t>
            </a:r>
          </a:p>
          <a:p>
            <a:r>
              <a:rPr lang="en-IN" dirty="0"/>
              <a:t>All of the array elements must be of the same type, which is called the element type of the array. </a:t>
            </a:r>
          </a:p>
          <a:p>
            <a:r>
              <a:rPr lang="en-IN" dirty="0"/>
              <a:t>Array elements can be of any type, including an array type. </a:t>
            </a:r>
          </a:p>
          <a:p>
            <a:r>
              <a:rPr lang="en-IN" dirty="0"/>
              <a:t>An array can be a single-dimensional array, a multidimensional array or a Jagged Array (Array of Arrays).</a:t>
            </a:r>
          </a:p>
          <a:p>
            <a:r>
              <a:rPr lang="en-IN" dirty="0"/>
              <a:t>Array types are reference type derived from the abstract base type </a:t>
            </a:r>
            <a:r>
              <a:rPr lang="en-IN" dirty="0" err="1"/>
              <a:t>System.Array</a:t>
            </a:r>
            <a:r>
              <a:rPr lang="en-IN" dirty="0"/>
              <a:t>.</a:t>
            </a:r>
          </a:p>
          <a:p>
            <a:endParaRPr lang="en-IN" dirty="0"/>
          </a:p>
        </p:txBody>
      </p:sp>
    </p:spTree>
    <p:extLst>
      <p:ext uri="{BB962C8B-B14F-4D97-AF65-F5344CB8AC3E}">
        <p14:creationId xmlns:p14="http://schemas.microsoft.com/office/powerpoint/2010/main" val="29891915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50EFF-8AF6-4262-AAB5-9E769274B54A}"/>
              </a:ext>
            </a:extLst>
          </p:cNvPr>
          <p:cNvSpPr>
            <a:spLocks noGrp="1"/>
          </p:cNvSpPr>
          <p:nvPr>
            <p:ph type="title"/>
          </p:nvPr>
        </p:nvSpPr>
        <p:spPr/>
        <p:txBody>
          <a:bodyPr/>
          <a:lstStyle/>
          <a:p>
            <a:r>
              <a:rPr lang="en-US" dirty="0"/>
              <a:t>Single and Multi Dimensional Array</a:t>
            </a:r>
            <a:endParaRPr lang="en-IN" dirty="0"/>
          </a:p>
        </p:txBody>
      </p:sp>
      <p:sp>
        <p:nvSpPr>
          <p:cNvPr id="3" name="Content Placeholder 2">
            <a:extLst>
              <a:ext uri="{FF2B5EF4-FFF2-40B4-BE49-F238E27FC236}">
                <a16:creationId xmlns:a16="http://schemas.microsoft.com/office/drawing/2014/main" id="{6BC6753A-9FC1-40D4-940B-C846E8534AB9}"/>
              </a:ext>
            </a:extLst>
          </p:cNvPr>
          <p:cNvSpPr>
            <a:spLocks noGrp="1"/>
          </p:cNvSpPr>
          <p:nvPr>
            <p:ph idx="1"/>
          </p:nvPr>
        </p:nvSpPr>
        <p:spPr/>
        <p:txBody>
          <a:bodyPr>
            <a:normAutofit/>
          </a:bodyPr>
          <a:lstStyle/>
          <a:p>
            <a:r>
              <a:rPr lang="en-IN" dirty="0"/>
              <a:t>Single Dimensional Array</a:t>
            </a:r>
          </a:p>
          <a:p>
            <a:endParaRPr lang="en-IN" dirty="0"/>
          </a:p>
          <a:p>
            <a:pPr lvl="1"/>
            <a:r>
              <a:rPr lang="en-IN" dirty="0"/>
              <a:t>int[] array1 = new int[5];</a:t>
            </a:r>
          </a:p>
          <a:p>
            <a:pPr lvl="1"/>
            <a:r>
              <a:rPr lang="en-IN" dirty="0"/>
              <a:t>string[] </a:t>
            </a:r>
            <a:r>
              <a:rPr lang="en-IN" dirty="0" err="1"/>
              <a:t>stringArray</a:t>
            </a:r>
            <a:r>
              <a:rPr lang="en-IN" dirty="0"/>
              <a:t> = new string[6]; </a:t>
            </a:r>
          </a:p>
          <a:p>
            <a:pPr lvl="1"/>
            <a:r>
              <a:rPr lang="en-IN" dirty="0"/>
              <a:t>int[] array2 = new int[] { 1, 3, 5, 7, 9 }; </a:t>
            </a:r>
          </a:p>
          <a:p>
            <a:pPr lvl="1"/>
            <a:r>
              <a:rPr lang="en-IN" dirty="0"/>
              <a:t>int[] array3 = { 1, 2, 3, 4, 5, 6 }; </a:t>
            </a:r>
          </a:p>
          <a:p>
            <a:r>
              <a:rPr lang="en-IN" dirty="0"/>
              <a:t>Multi Dimensional Array</a:t>
            </a:r>
          </a:p>
          <a:p>
            <a:pPr lvl="1"/>
            <a:r>
              <a:rPr lang="en-IN" dirty="0"/>
              <a:t>int[,] multiDimensionalArray1 = new int[2, 3]; </a:t>
            </a:r>
          </a:p>
          <a:p>
            <a:pPr lvl="1"/>
            <a:r>
              <a:rPr lang="en-IN" dirty="0"/>
              <a:t>int[,] multiDimensionalArray2 = { { 1, 2, 3 }, { 4, 5, 6 } }; </a:t>
            </a:r>
          </a:p>
          <a:p>
            <a:pPr lvl="1"/>
            <a:endParaRPr lang="en-IN" dirty="0"/>
          </a:p>
        </p:txBody>
      </p:sp>
    </p:spTree>
    <p:extLst>
      <p:ext uri="{BB962C8B-B14F-4D97-AF65-F5344CB8AC3E}">
        <p14:creationId xmlns:p14="http://schemas.microsoft.com/office/powerpoint/2010/main" val="10363232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11F6-EFF5-4563-A003-2CE14D306B53}"/>
              </a:ext>
            </a:extLst>
          </p:cNvPr>
          <p:cNvSpPr>
            <a:spLocks noGrp="1"/>
          </p:cNvSpPr>
          <p:nvPr>
            <p:ph type="title"/>
          </p:nvPr>
        </p:nvSpPr>
        <p:spPr/>
        <p:txBody>
          <a:bodyPr/>
          <a:lstStyle/>
          <a:p>
            <a:r>
              <a:rPr lang="en-US" dirty="0"/>
              <a:t>Jagged Array	</a:t>
            </a:r>
            <a:endParaRPr lang="en-IN" dirty="0"/>
          </a:p>
        </p:txBody>
      </p:sp>
      <p:sp>
        <p:nvSpPr>
          <p:cNvPr id="3" name="Content Placeholder 2">
            <a:extLst>
              <a:ext uri="{FF2B5EF4-FFF2-40B4-BE49-F238E27FC236}">
                <a16:creationId xmlns:a16="http://schemas.microsoft.com/office/drawing/2014/main" id="{9F8E52E3-F6D4-4947-82BF-4AE0B96E3439}"/>
              </a:ext>
            </a:extLst>
          </p:cNvPr>
          <p:cNvSpPr>
            <a:spLocks noGrp="1"/>
          </p:cNvSpPr>
          <p:nvPr>
            <p:ph idx="1"/>
          </p:nvPr>
        </p:nvSpPr>
        <p:spPr/>
        <p:txBody>
          <a:bodyPr>
            <a:normAutofit lnSpcReduction="10000"/>
          </a:bodyPr>
          <a:lstStyle/>
          <a:p>
            <a:r>
              <a:rPr lang="en-IN" dirty="0"/>
              <a:t>Jagged array is an array whose elements are arrays. </a:t>
            </a:r>
          </a:p>
          <a:p>
            <a:r>
              <a:rPr lang="en-IN" dirty="0"/>
              <a:t>The elements of a jagged array can be of different dimensions and sizes. </a:t>
            </a:r>
          </a:p>
          <a:p>
            <a:r>
              <a:rPr lang="en-IN" dirty="0"/>
              <a:t>A jagged array is sometimes called an "array of arrays." </a:t>
            </a:r>
          </a:p>
          <a:p>
            <a:r>
              <a:rPr lang="en-IN" dirty="0"/>
              <a:t>The following is a declaration of a single-dimensional array that has three elements, each of which is a single-dimensional array of integers:</a:t>
            </a:r>
          </a:p>
          <a:p>
            <a:pPr marL="1056651" lvl="3" indent="0" algn="just">
              <a:lnSpc>
                <a:spcPct val="150000"/>
              </a:lnSpc>
              <a:buNone/>
              <a:defRPr/>
            </a:pPr>
            <a:r>
              <a:rPr lang="en-IN" dirty="0"/>
              <a:t>int[][] </a:t>
            </a:r>
            <a:r>
              <a:rPr lang="en-IN" dirty="0" err="1"/>
              <a:t>jaggedArray</a:t>
            </a:r>
            <a:r>
              <a:rPr lang="en-IN" dirty="0"/>
              <a:t> = new int[2][]; </a:t>
            </a:r>
          </a:p>
          <a:p>
            <a:pPr marL="1056651" lvl="3" indent="0" algn="just">
              <a:lnSpc>
                <a:spcPct val="150000"/>
              </a:lnSpc>
              <a:buNone/>
              <a:defRPr/>
            </a:pPr>
            <a:r>
              <a:rPr lang="en-IN" dirty="0" err="1"/>
              <a:t>jaggedArray</a:t>
            </a:r>
            <a:r>
              <a:rPr lang="en-IN" dirty="0"/>
              <a:t>[0] = new int[5]; </a:t>
            </a:r>
          </a:p>
          <a:p>
            <a:pPr marL="1056651" lvl="3" indent="0" algn="just">
              <a:lnSpc>
                <a:spcPct val="150000"/>
              </a:lnSpc>
              <a:buNone/>
              <a:defRPr/>
            </a:pPr>
            <a:r>
              <a:rPr lang="en-IN" dirty="0" err="1"/>
              <a:t>jaggedArray</a:t>
            </a:r>
            <a:r>
              <a:rPr lang="en-IN" dirty="0"/>
              <a:t>[1] = new int[4]; </a:t>
            </a:r>
          </a:p>
          <a:p>
            <a:pPr marL="1056651" lvl="3" indent="0" algn="just">
              <a:lnSpc>
                <a:spcPct val="150000"/>
              </a:lnSpc>
              <a:buNone/>
              <a:defRPr/>
            </a:pPr>
            <a:r>
              <a:rPr lang="en-IN" dirty="0" err="1"/>
              <a:t>jaggedArray</a:t>
            </a:r>
            <a:r>
              <a:rPr lang="en-IN" dirty="0"/>
              <a:t>[2] = new int[2];</a:t>
            </a:r>
          </a:p>
          <a:p>
            <a:r>
              <a:rPr lang="en-IN" dirty="0"/>
              <a:t>Each of the elements is a single-dimensional array of integers</a:t>
            </a:r>
          </a:p>
          <a:p>
            <a:endParaRPr lang="en-IN" dirty="0"/>
          </a:p>
        </p:txBody>
      </p:sp>
    </p:spTree>
    <p:extLst>
      <p:ext uri="{BB962C8B-B14F-4D97-AF65-F5344CB8AC3E}">
        <p14:creationId xmlns:p14="http://schemas.microsoft.com/office/powerpoint/2010/main" val="3310143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8817-D28A-4B3B-90D8-80A89CA77DE6}"/>
              </a:ext>
            </a:extLst>
          </p:cNvPr>
          <p:cNvSpPr>
            <a:spLocks noGrp="1"/>
          </p:cNvSpPr>
          <p:nvPr>
            <p:ph type="title"/>
          </p:nvPr>
        </p:nvSpPr>
        <p:spPr/>
        <p:txBody>
          <a:bodyPr/>
          <a:lstStyle/>
          <a:p>
            <a:r>
              <a:rPr lang="en-US" dirty="0"/>
              <a:t>Jagged Array	</a:t>
            </a:r>
            <a:endParaRPr lang="en-IN" dirty="0"/>
          </a:p>
        </p:txBody>
      </p:sp>
      <p:sp>
        <p:nvSpPr>
          <p:cNvPr id="3" name="Content Placeholder 2">
            <a:extLst>
              <a:ext uri="{FF2B5EF4-FFF2-40B4-BE49-F238E27FC236}">
                <a16:creationId xmlns:a16="http://schemas.microsoft.com/office/drawing/2014/main" id="{EB7A2C99-A90A-4603-A669-EB1D616ECC35}"/>
              </a:ext>
            </a:extLst>
          </p:cNvPr>
          <p:cNvSpPr>
            <a:spLocks noGrp="1"/>
          </p:cNvSpPr>
          <p:nvPr>
            <p:ph idx="1"/>
          </p:nvPr>
        </p:nvSpPr>
        <p:spPr/>
        <p:txBody>
          <a:bodyPr/>
          <a:lstStyle/>
          <a:p>
            <a:r>
              <a:rPr lang="en-IN" dirty="0"/>
              <a:t>The first element is an array of 5 integers, the second is an array of 4 integers, and the third is an array of 2 integers. </a:t>
            </a:r>
          </a:p>
          <a:p>
            <a:r>
              <a:rPr lang="en-IN" dirty="0"/>
              <a:t> It is also possible to use initializers to fill the array elements with values, in which case you do not need the array size. For example:</a:t>
            </a:r>
          </a:p>
          <a:p>
            <a:pPr marL="704436" lvl="2" indent="0" algn="just">
              <a:lnSpc>
                <a:spcPct val="150000"/>
              </a:lnSpc>
              <a:buNone/>
              <a:defRPr/>
            </a:pPr>
            <a:r>
              <a:rPr lang="en-IN" sz="1600" dirty="0" err="1"/>
              <a:t>jaggedArray</a:t>
            </a:r>
            <a:r>
              <a:rPr lang="en-IN" sz="1600" dirty="0"/>
              <a:t>[0] = new int[] { 1, 3, 5, 7, 9 }; </a:t>
            </a:r>
          </a:p>
          <a:p>
            <a:pPr marL="704436" lvl="2" indent="0" algn="just">
              <a:lnSpc>
                <a:spcPct val="150000"/>
              </a:lnSpc>
              <a:buNone/>
              <a:defRPr/>
            </a:pPr>
            <a:r>
              <a:rPr lang="en-IN" sz="1600" dirty="0" err="1"/>
              <a:t>jaggedArray</a:t>
            </a:r>
            <a:r>
              <a:rPr lang="en-IN" sz="1600" dirty="0"/>
              <a:t>[1] = new int[] { 0, 2, 4, 6 }; </a:t>
            </a:r>
          </a:p>
          <a:p>
            <a:pPr marL="704436" lvl="2" indent="0" algn="just">
              <a:lnSpc>
                <a:spcPct val="150000"/>
              </a:lnSpc>
              <a:buNone/>
              <a:defRPr/>
            </a:pPr>
            <a:r>
              <a:rPr lang="en-IN" sz="1600" dirty="0" err="1"/>
              <a:t>jaggedArray</a:t>
            </a:r>
            <a:r>
              <a:rPr lang="en-IN" sz="1600" dirty="0"/>
              <a:t>[2] = new int[] { 11, 22 }; </a:t>
            </a:r>
          </a:p>
          <a:p>
            <a:endParaRPr lang="en-IN" dirty="0"/>
          </a:p>
        </p:txBody>
      </p:sp>
    </p:spTree>
    <p:extLst>
      <p:ext uri="{BB962C8B-B14F-4D97-AF65-F5344CB8AC3E}">
        <p14:creationId xmlns:p14="http://schemas.microsoft.com/office/powerpoint/2010/main" val="24962039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F2E9C-8211-4958-9E28-BE532F9E5BA0}"/>
              </a:ext>
            </a:extLst>
          </p:cNvPr>
          <p:cNvSpPr>
            <a:spLocks noGrp="1"/>
          </p:cNvSpPr>
          <p:nvPr>
            <p:ph type="title"/>
          </p:nvPr>
        </p:nvSpPr>
        <p:spPr/>
        <p:txBody>
          <a:bodyPr/>
          <a:lstStyle/>
          <a:p>
            <a:r>
              <a:rPr lang="en-IN" dirty="0"/>
              <a:t>Implicitly Typed Local variables-var</a:t>
            </a:r>
          </a:p>
        </p:txBody>
      </p:sp>
      <p:sp>
        <p:nvSpPr>
          <p:cNvPr id="3" name="Content Placeholder 2">
            <a:extLst>
              <a:ext uri="{FF2B5EF4-FFF2-40B4-BE49-F238E27FC236}">
                <a16:creationId xmlns:a16="http://schemas.microsoft.com/office/drawing/2014/main" id="{64540F25-A3D1-4C12-8557-4DB447602DEB}"/>
              </a:ext>
            </a:extLst>
          </p:cNvPr>
          <p:cNvSpPr>
            <a:spLocks noGrp="1"/>
          </p:cNvSpPr>
          <p:nvPr>
            <p:ph idx="1"/>
          </p:nvPr>
        </p:nvSpPr>
        <p:spPr/>
        <p:txBody>
          <a:bodyPr>
            <a:normAutofit lnSpcReduction="10000"/>
          </a:bodyPr>
          <a:lstStyle/>
          <a:p>
            <a:r>
              <a:rPr lang="en-US" dirty="0"/>
              <a:t>Local variables can be declared without giving an explicit type. </a:t>
            </a:r>
          </a:p>
          <a:p>
            <a:r>
              <a:rPr lang="en-IN" dirty="0"/>
              <a:t>The var </a:t>
            </a:r>
            <a:r>
              <a:rPr lang="en-US" dirty="0"/>
              <a:t>keyword instructs the compiler to infer the type of the variable from the expression on the right side of the initialization statement.</a:t>
            </a:r>
          </a:p>
          <a:p>
            <a:r>
              <a:rPr lang="en-US" dirty="0"/>
              <a:t> The inferred type may be a built-in type, an anonymous type, a user-defined type, or a type defined in the .NET class library.</a:t>
            </a:r>
          </a:p>
          <a:p>
            <a:pPr marL="457200" lvl="1" indent="0">
              <a:buNone/>
            </a:pPr>
            <a:r>
              <a:rPr lang="en-US" dirty="0"/>
              <a:t>// i is compiled as an int</a:t>
            </a:r>
          </a:p>
          <a:p>
            <a:pPr marL="457200" lvl="1" indent="0">
              <a:buNone/>
            </a:pPr>
            <a:r>
              <a:rPr lang="en-US" dirty="0"/>
              <a:t>var i = 5;</a:t>
            </a:r>
          </a:p>
          <a:p>
            <a:pPr marL="457200" lvl="1" indent="0">
              <a:buNone/>
            </a:pPr>
            <a:endParaRPr lang="en-US" dirty="0"/>
          </a:p>
          <a:p>
            <a:pPr marL="457200" lvl="1" indent="0">
              <a:buNone/>
            </a:pPr>
            <a:r>
              <a:rPr lang="en-US" dirty="0"/>
              <a:t>// s is compiled as a string</a:t>
            </a:r>
          </a:p>
          <a:p>
            <a:pPr marL="457200" lvl="1" indent="0">
              <a:buNone/>
            </a:pPr>
            <a:r>
              <a:rPr lang="en-US" dirty="0"/>
              <a:t>var s = "Hello";</a:t>
            </a:r>
          </a:p>
          <a:p>
            <a:pPr marL="457200" lvl="1" indent="0">
              <a:buNone/>
            </a:pPr>
            <a:endParaRPr lang="en-US" dirty="0"/>
          </a:p>
          <a:p>
            <a:pPr marL="457200" lvl="1" indent="0">
              <a:buNone/>
            </a:pPr>
            <a:r>
              <a:rPr lang="en-US" dirty="0"/>
              <a:t>// a is compiled as int[]</a:t>
            </a:r>
          </a:p>
          <a:p>
            <a:pPr marL="457200" lvl="1" indent="0">
              <a:buNone/>
            </a:pPr>
            <a:r>
              <a:rPr lang="en-US" dirty="0"/>
              <a:t>var a = new[] { 0, 1, 2 };</a:t>
            </a:r>
            <a:endParaRPr lang="en-IN" dirty="0"/>
          </a:p>
        </p:txBody>
      </p:sp>
    </p:spTree>
    <p:extLst>
      <p:ext uri="{BB962C8B-B14F-4D97-AF65-F5344CB8AC3E}">
        <p14:creationId xmlns:p14="http://schemas.microsoft.com/office/powerpoint/2010/main" val="349554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A7EE-5417-4E3B-A2E8-0FBFA59EEF3B}"/>
              </a:ext>
            </a:extLst>
          </p:cNvPr>
          <p:cNvSpPr>
            <a:spLocks noGrp="1"/>
          </p:cNvSpPr>
          <p:nvPr>
            <p:ph type="title"/>
          </p:nvPr>
        </p:nvSpPr>
        <p:spPr/>
        <p:txBody>
          <a:bodyPr/>
          <a:lstStyle/>
          <a:p>
            <a:r>
              <a:rPr lang="en-IN" dirty="0"/>
              <a:t>Implicitly Typed Local variables-var</a:t>
            </a:r>
          </a:p>
        </p:txBody>
      </p:sp>
      <p:sp>
        <p:nvSpPr>
          <p:cNvPr id="3" name="Content Placeholder 2">
            <a:extLst>
              <a:ext uri="{FF2B5EF4-FFF2-40B4-BE49-F238E27FC236}">
                <a16:creationId xmlns:a16="http://schemas.microsoft.com/office/drawing/2014/main" id="{06D268CF-2FB8-4B7C-B2D9-7805FA6F18F0}"/>
              </a:ext>
            </a:extLst>
          </p:cNvPr>
          <p:cNvSpPr>
            <a:spLocks noGrp="1"/>
          </p:cNvSpPr>
          <p:nvPr>
            <p:ph idx="1"/>
          </p:nvPr>
        </p:nvSpPr>
        <p:spPr/>
        <p:txBody>
          <a:bodyPr>
            <a:normAutofit/>
          </a:bodyPr>
          <a:lstStyle/>
          <a:p>
            <a:r>
              <a:rPr lang="en-US" dirty="0"/>
              <a:t>The following restrictions apply to implicitly-typed variable declarations:</a:t>
            </a:r>
          </a:p>
          <a:p>
            <a:r>
              <a:rPr lang="en-US" dirty="0"/>
              <a:t>var can only be used when a local variable is declared and initialized in the same statement; the variable cannot be initialized to null, or to a method group or an anonymous function.</a:t>
            </a:r>
          </a:p>
          <a:p>
            <a:r>
              <a:rPr lang="en-US" dirty="0"/>
              <a:t>var cannot be used on fields at class scope.</a:t>
            </a:r>
          </a:p>
          <a:p>
            <a:r>
              <a:rPr lang="en-US" dirty="0"/>
              <a:t> Variables declared by using var cannot be used in the initialization expression. In other words, this expression is legal: int i = (i = 20); but this expression produces a compile-time error: var i = (i = 20);</a:t>
            </a:r>
            <a:endParaRPr lang="en-IN" dirty="0"/>
          </a:p>
        </p:txBody>
      </p:sp>
    </p:spTree>
    <p:extLst>
      <p:ext uri="{BB962C8B-B14F-4D97-AF65-F5344CB8AC3E}">
        <p14:creationId xmlns:p14="http://schemas.microsoft.com/office/powerpoint/2010/main" val="2064018899"/>
      </p:ext>
    </p:extLst>
  </p:cSld>
  <p:clrMapOvr>
    <a:masterClrMapping/>
  </p:clrMapOvr>
</p:sld>
</file>

<file path=ppt/theme/theme1.xml><?xml version="1.0" encoding="utf-8"?>
<a:theme xmlns:a="http://schemas.openxmlformats.org/drawingml/2006/main" name="2018">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id="{B0E980CD-A54D-4681-878C-2746A87DC6E5}" vid="{62E40539-E070-47D4-8381-3EBCC8F4FC45}"/>
    </a:ext>
  </a:extLst>
</a:theme>
</file>

<file path=docProps/app.xml><?xml version="1.0" encoding="utf-8"?>
<Properties xmlns="http://schemas.openxmlformats.org/officeDocument/2006/extended-properties" xmlns:vt="http://schemas.openxmlformats.org/officeDocument/2006/docPropsVTypes">
  <Template>2018</Template>
  <TotalTime>1490</TotalTime>
  <Words>2594</Words>
  <Application>Microsoft Office PowerPoint</Application>
  <PresentationFormat>Widescreen</PresentationFormat>
  <Paragraphs>455</Paragraphs>
  <Slides>50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Calibri Light</vt:lpstr>
      <vt:lpstr>Segoe UI</vt:lpstr>
      <vt:lpstr>Trebuchet MS</vt:lpstr>
      <vt:lpstr>Verdana</vt:lpstr>
      <vt:lpstr>Wingdings</vt:lpstr>
      <vt:lpstr>2018</vt:lpstr>
      <vt:lpstr>.NET</vt:lpstr>
      <vt:lpstr>Contents:</vt:lpstr>
      <vt:lpstr>What is .NET?</vt:lpstr>
      <vt:lpstr>Why .NET</vt:lpstr>
      <vt:lpstr>Introduction to .NET Framework  </vt:lpstr>
      <vt:lpstr>Component of .NET Framework </vt:lpstr>
      <vt:lpstr>CLR-Common language Runtime </vt:lpstr>
      <vt:lpstr>CLS-Common Language Specification </vt:lpstr>
      <vt:lpstr>FCL-Framework Class Library </vt:lpstr>
      <vt:lpstr>Introduction to C# Programming</vt:lpstr>
      <vt:lpstr>C# Features</vt:lpstr>
      <vt:lpstr>C# Program Compilation and Execution</vt:lpstr>
      <vt:lpstr>Dynamic Link Library (DLL)</vt:lpstr>
      <vt:lpstr>Assembly</vt:lpstr>
      <vt:lpstr>Introducing OOP</vt:lpstr>
      <vt:lpstr>Object</vt:lpstr>
      <vt:lpstr>Class </vt:lpstr>
      <vt:lpstr>Methods</vt:lpstr>
      <vt:lpstr>Object and Class Association </vt:lpstr>
      <vt:lpstr>Class</vt:lpstr>
      <vt:lpstr>Data Types in C# </vt:lpstr>
      <vt:lpstr>Storage of Basic Types</vt:lpstr>
      <vt:lpstr>Data Types</vt:lpstr>
      <vt:lpstr>Value Type</vt:lpstr>
      <vt:lpstr>Reference Type</vt:lpstr>
      <vt:lpstr>Comparison between Data Types in C#</vt:lpstr>
      <vt:lpstr>Operators</vt:lpstr>
      <vt:lpstr> Arithmetical Operators </vt:lpstr>
      <vt:lpstr> Assignment Operators </vt:lpstr>
      <vt:lpstr> Increment and Decrement Operators </vt:lpstr>
      <vt:lpstr> Comparison Operators </vt:lpstr>
      <vt:lpstr> Logical Operators </vt:lpstr>
      <vt:lpstr>Concatenation Operator</vt:lpstr>
      <vt:lpstr>Ternary  Operator</vt:lpstr>
      <vt:lpstr>Operator Precedence   </vt:lpstr>
      <vt:lpstr>Control Statements</vt:lpstr>
      <vt:lpstr>Control Statements</vt:lpstr>
      <vt:lpstr>If Statement</vt:lpstr>
      <vt:lpstr>If–else Statement</vt:lpstr>
      <vt:lpstr>If-else if statement</vt:lpstr>
      <vt:lpstr>While Loop</vt:lpstr>
      <vt:lpstr>Do-While Loop</vt:lpstr>
      <vt:lpstr>For Loop</vt:lpstr>
      <vt:lpstr>Boxing and Unboxing</vt:lpstr>
      <vt:lpstr>Arrays</vt:lpstr>
      <vt:lpstr>Single and Multi Dimensional Array</vt:lpstr>
      <vt:lpstr>Jagged Array </vt:lpstr>
      <vt:lpstr>Jagged Array </vt:lpstr>
      <vt:lpstr>Implicitly Typed Local variables-var</vt:lpstr>
      <vt:lpstr>Implicitly Typed Local variables-var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Campaign</dc:title>
  <dc:creator>Manish Corriea</dc:creator>
  <cp:lastModifiedBy>Sunita Jain</cp:lastModifiedBy>
  <cp:revision>73</cp:revision>
  <dcterms:created xsi:type="dcterms:W3CDTF">2019-03-07T07:10:25Z</dcterms:created>
  <dcterms:modified xsi:type="dcterms:W3CDTF">2022-12-28T06:10:14Z</dcterms:modified>
</cp:coreProperties>
</file>